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Active NPS: Delhi -72 is the worst city; 45% of its Active drivers say Everest has become worse and 38% of its leavers would never return.
Hyderabad loses drivers hardest after exit: Inactive NPS -77, the worst, with 91% of leavers dissatisfied and 45% saying their new fleet is better.
Bangalore is the strongest market: Active NPS -26 and 45% satisfied overall (49% among Active drivers). Its leavers still sit at -70.
Kolkata is the smallest sample (39 responses, 30 Active), so read its row with care.
Satisfied = 4 or 5 on the 5-point satisfaction question, all drivers.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each of Everest’s 7 cities rate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scorecard, sorted by Active NPS (best first)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834640" y="1645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NPS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645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NPS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645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Satisfied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1645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saying Everest got worse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332720" y="1645920"/>
            <a:ext cx="1216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6072" y="2194560"/>
            <a:ext cx="2139696" cy="493776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19456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770632" y="2194560"/>
            <a:ext cx="1773936" cy="493776"/>
          </a:xfrm>
          <a:prstGeom prst="rect">
            <a:avLst/>
          </a:prstGeom>
          <a:solidFill>
            <a:srgbClr val="DDEFEC"/>
          </a:solidFill>
          <a:ln w="12700">
            <a:solidFill>
              <a:srgbClr val="DDEF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26080" y="2194560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99432" y="2194560"/>
            <a:ext cx="1773936" cy="493776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2194560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-70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28232" y="2194560"/>
            <a:ext cx="1591056" cy="493776"/>
          </a:xfrm>
          <a:prstGeom prst="rect">
            <a:avLst/>
          </a:prstGeom>
          <a:solidFill>
            <a:srgbClr val="DDEFEC"/>
          </a:solidFill>
          <a:ln w="12700">
            <a:solidFill>
              <a:srgbClr val="DDEF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0" y="219456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074152" y="2194560"/>
            <a:ext cx="2139696" cy="493776"/>
          </a:xfrm>
          <a:prstGeom prst="rect">
            <a:avLst/>
          </a:prstGeom>
          <a:solidFill>
            <a:srgbClr val="DDEFEC"/>
          </a:solidFill>
          <a:ln w="12700">
            <a:solidFill>
              <a:srgbClr val="DDEF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0" y="219456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0268712" y="2194560"/>
            <a:ext cx="1344168" cy="493776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424160" y="2194560"/>
            <a:ext cx="10332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76072" y="2743200"/>
            <a:ext cx="2139696" cy="493776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274320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770632" y="2743200"/>
            <a:ext cx="1773936" cy="493776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926080" y="2743200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-44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4599432" y="2743200"/>
            <a:ext cx="1773936" cy="493776"/>
          </a:xfrm>
          <a:prstGeom prst="rect">
            <a:avLst/>
          </a:prstGeom>
          <a:solidFill>
            <a:srgbClr val="F6D9D3"/>
          </a:solidFill>
          <a:ln w="12700">
            <a:solidFill>
              <a:srgbClr val="F6D9D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54880" y="2743200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4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-77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428232" y="2743200"/>
            <a:ext cx="1591056" cy="493776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83680" y="274320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8074152" y="2743200"/>
            <a:ext cx="2139696" cy="493776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0" y="274320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41%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10268712" y="2743200"/>
            <a:ext cx="1344168" cy="493776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424160" y="2743200"/>
            <a:ext cx="10332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76072" y="3291840"/>
            <a:ext cx="2139696" cy="493776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1520" y="329184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2770632" y="3291840"/>
            <a:ext cx="1773936" cy="493776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926080" y="3291840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-53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4599432" y="3291840"/>
            <a:ext cx="1773936" cy="493776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754880" y="3291840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-67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6428232" y="3291840"/>
            <a:ext cx="1591056" cy="493776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583680" y="329184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8074152" y="3291840"/>
            <a:ext cx="2139696" cy="493776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229600" y="329184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36%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10268712" y="3291840"/>
            <a:ext cx="1344168" cy="493776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424160" y="3291840"/>
            <a:ext cx="10332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76072" y="3840480"/>
            <a:ext cx="2139696" cy="493776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31520" y="384048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2770632" y="3840480"/>
            <a:ext cx="1773936" cy="493776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2926080" y="3840480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-53</a:t>
            </a:r>
            <a:endParaRPr lang="en-US" sz="2000" dirty="0"/>
          </a:p>
        </p:txBody>
      </p:sp>
      <p:sp>
        <p:nvSpPr>
          <p:cNvPr id="50" name="Shape 48"/>
          <p:cNvSpPr/>
          <p:nvPr/>
        </p:nvSpPr>
        <p:spPr>
          <a:xfrm>
            <a:off x="4599432" y="3840480"/>
            <a:ext cx="1773936" cy="493776"/>
          </a:xfrm>
          <a:prstGeom prst="rect">
            <a:avLst/>
          </a:prstGeom>
          <a:solidFill>
            <a:srgbClr val="DDEFEC"/>
          </a:solidFill>
          <a:ln w="12700">
            <a:solidFill>
              <a:srgbClr val="DDEFEC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754880" y="3840480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-46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>
            <a:off x="6428232" y="3840480"/>
            <a:ext cx="1591056" cy="493776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583680" y="384048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</a:t>
            </a:r>
            <a:endParaRPr lang="en-US" sz="2000" dirty="0"/>
          </a:p>
        </p:txBody>
      </p:sp>
      <p:sp>
        <p:nvSpPr>
          <p:cNvPr id="54" name="Shape 52"/>
          <p:cNvSpPr/>
          <p:nvPr/>
        </p:nvSpPr>
        <p:spPr>
          <a:xfrm>
            <a:off x="8074152" y="3840480"/>
            <a:ext cx="2139696" cy="493776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229600" y="384048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38%</a:t>
            </a:r>
            <a:endParaRPr lang="en-US" sz="2000" dirty="0"/>
          </a:p>
        </p:txBody>
      </p:sp>
      <p:sp>
        <p:nvSpPr>
          <p:cNvPr id="56" name="Shape 54"/>
          <p:cNvSpPr/>
          <p:nvPr/>
        </p:nvSpPr>
        <p:spPr>
          <a:xfrm>
            <a:off x="10268712" y="3840480"/>
            <a:ext cx="1344168" cy="493776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10424160" y="3840480"/>
            <a:ext cx="10332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576072" y="4389120"/>
            <a:ext cx="2139696" cy="493776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31520" y="438912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2770632" y="4389120"/>
            <a:ext cx="1773936" cy="493776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2926080" y="4389120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-54</a:t>
            </a:r>
            <a:endParaRPr lang="en-US" sz="2000" dirty="0"/>
          </a:p>
        </p:txBody>
      </p:sp>
      <p:sp>
        <p:nvSpPr>
          <p:cNvPr id="62" name="Shape 60"/>
          <p:cNvSpPr/>
          <p:nvPr/>
        </p:nvSpPr>
        <p:spPr>
          <a:xfrm>
            <a:off x="4599432" y="4389120"/>
            <a:ext cx="1773936" cy="493776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4754880" y="4389120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-60</a:t>
            </a:r>
            <a:endParaRPr lang="en-US" sz="2000" dirty="0"/>
          </a:p>
        </p:txBody>
      </p:sp>
      <p:sp>
        <p:nvSpPr>
          <p:cNvPr id="64" name="Shape 62"/>
          <p:cNvSpPr/>
          <p:nvPr/>
        </p:nvSpPr>
        <p:spPr>
          <a:xfrm>
            <a:off x="6428232" y="4389120"/>
            <a:ext cx="1591056" cy="493776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583680" y="438912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</a:t>
            </a:r>
            <a:endParaRPr lang="en-US" sz="2000" dirty="0"/>
          </a:p>
        </p:txBody>
      </p:sp>
      <p:sp>
        <p:nvSpPr>
          <p:cNvPr id="66" name="Shape 64"/>
          <p:cNvSpPr/>
          <p:nvPr/>
        </p:nvSpPr>
        <p:spPr>
          <a:xfrm>
            <a:off x="8074152" y="4389120"/>
            <a:ext cx="2139696" cy="493776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8229600" y="438912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38%</a:t>
            </a:r>
            <a:endParaRPr lang="en-US" sz="2000" dirty="0"/>
          </a:p>
        </p:txBody>
      </p:sp>
      <p:sp>
        <p:nvSpPr>
          <p:cNvPr id="68" name="Shape 66"/>
          <p:cNvSpPr/>
          <p:nvPr/>
        </p:nvSpPr>
        <p:spPr>
          <a:xfrm>
            <a:off x="10268712" y="4389120"/>
            <a:ext cx="1344168" cy="493776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10424160" y="4389120"/>
            <a:ext cx="10332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576072" y="4937760"/>
            <a:ext cx="2139696" cy="493776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731520" y="493776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Kolkata</a:t>
            </a:r>
            <a:endParaRPr lang="en-US" sz="1500" dirty="0"/>
          </a:p>
        </p:txBody>
      </p:sp>
      <p:sp>
        <p:nvSpPr>
          <p:cNvPr id="72" name="Shape 70"/>
          <p:cNvSpPr/>
          <p:nvPr/>
        </p:nvSpPr>
        <p:spPr>
          <a:xfrm>
            <a:off x="2770632" y="4937760"/>
            <a:ext cx="1773936" cy="493776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2926080" y="4937760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-67</a:t>
            </a:r>
            <a:endParaRPr lang="en-US" sz="2000" dirty="0"/>
          </a:p>
        </p:txBody>
      </p:sp>
      <p:sp>
        <p:nvSpPr>
          <p:cNvPr id="74" name="Shape 72"/>
          <p:cNvSpPr/>
          <p:nvPr/>
        </p:nvSpPr>
        <p:spPr>
          <a:xfrm>
            <a:off x="4599432" y="4937760"/>
            <a:ext cx="1773936" cy="493776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4754880" y="4937760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-56</a:t>
            </a:r>
            <a:endParaRPr lang="en-US" sz="2000" dirty="0"/>
          </a:p>
        </p:txBody>
      </p:sp>
      <p:sp>
        <p:nvSpPr>
          <p:cNvPr id="76" name="Shape 74"/>
          <p:cNvSpPr/>
          <p:nvPr/>
        </p:nvSpPr>
        <p:spPr>
          <a:xfrm>
            <a:off x="6428232" y="4937760"/>
            <a:ext cx="1591056" cy="493776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6583680" y="493776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31%</a:t>
            </a:r>
            <a:endParaRPr lang="en-US" sz="2000" dirty="0"/>
          </a:p>
        </p:txBody>
      </p:sp>
      <p:sp>
        <p:nvSpPr>
          <p:cNvPr id="78" name="Shape 76"/>
          <p:cNvSpPr/>
          <p:nvPr/>
        </p:nvSpPr>
        <p:spPr>
          <a:xfrm>
            <a:off x="8074152" y="4937760"/>
            <a:ext cx="2139696" cy="493776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8229600" y="493776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33%</a:t>
            </a:r>
            <a:endParaRPr lang="en-US" sz="2000" dirty="0"/>
          </a:p>
        </p:txBody>
      </p:sp>
      <p:sp>
        <p:nvSpPr>
          <p:cNvPr id="80" name="Shape 78"/>
          <p:cNvSpPr/>
          <p:nvPr/>
        </p:nvSpPr>
        <p:spPr>
          <a:xfrm>
            <a:off x="10268712" y="4937760"/>
            <a:ext cx="1344168" cy="493776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10424160" y="4937760"/>
            <a:ext cx="10332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576072" y="5486400"/>
            <a:ext cx="2139696" cy="493776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731520" y="548640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</a:t>
            </a:r>
            <a:endParaRPr lang="en-US" sz="1500" dirty="0"/>
          </a:p>
        </p:txBody>
      </p:sp>
      <p:sp>
        <p:nvSpPr>
          <p:cNvPr id="84" name="Shape 82"/>
          <p:cNvSpPr/>
          <p:nvPr/>
        </p:nvSpPr>
        <p:spPr>
          <a:xfrm>
            <a:off x="2770632" y="5486400"/>
            <a:ext cx="1773936" cy="493776"/>
          </a:xfrm>
          <a:prstGeom prst="rect">
            <a:avLst/>
          </a:prstGeom>
          <a:solidFill>
            <a:srgbClr val="F6D9D3"/>
          </a:solidFill>
          <a:ln w="12700">
            <a:solidFill>
              <a:srgbClr val="F6D9D3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2926080" y="5486400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4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-72</a:t>
            </a:r>
            <a:endParaRPr lang="en-US" sz="2000" dirty="0"/>
          </a:p>
        </p:txBody>
      </p:sp>
      <p:sp>
        <p:nvSpPr>
          <p:cNvPr id="86" name="Shape 84"/>
          <p:cNvSpPr/>
          <p:nvPr/>
        </p:nvSpPr>
        <p:spPr>
          <a:xfrm>
            <a:off x="4599432" y="5486400"/>
            <a:ext cx="1773936" cy="493776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4754880" y="5486400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-60</a:t>
            </a:r>
            <a:endParaRPr lang="en-US" sz="2000" dirty="0"/>
          </a:p>
        </p:txBody>
      </p:sp>
      <p:sp>
        <p:nvSpPr>
          <p:cNvPr id="88" name="Shape 86"/>
          <p:cNvSpPr/>
          <p:nvPr/>
        </p:nvSpPr>
        <p:spPr>
          <a:xfrm>
            <a:off x="6428232" y="5486400"/>
            <a:ext cx="1591056" cy="493776"/>
          </a:xfrm>
          <a:prstGeom prst="rect">
            <a:avLst/>
          </a:prstGeom>
          <a:solidFill>
            <a:srgbClr val="F6D9D3"/>
          </a:solidFill>
          <a:ln w="12700">
            <a:solidFill>
              <a:srgbClr val="F6D9D3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6583680" y="548640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4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19%</a:t>
            </a:r>
            <a:endParaRPr lang="en-US" sz="2000" dirty="0"/>
          </a:p>
        </p:txBody>
      </p:sp>
      <p:sp>
        <p:nvSpPr>
          <p:cNvPr id="90" name="Shape 88"/>
          <p:cNvSpPr/>
          <p:nvPr/>
        </p:nvSpPr>
        <p:spPr>
          <a:xfrm>
            <a:off x="8074152" y="5486400"/>
            <a:ext cx="2139696" cy="493776"/>
          </a:xfrm>
          <a:prstGeom prst="rect">
            <a:avLst/>
          </a:prstGeom>
          <a:solidFill>
            <a:srgbClr val="F6D9D3"/>
          </a:solidFill>
          <a:ln w="12700">
            <a:solidFill>
              <a:srgbClr val="F6D9D3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8229600" y="548640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4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</a:t>
            </a:r>
            <a:endParaRPr lang="en-US" sz="2000" dirty="0"/>
          </a:p>
        </p:txBody>
      </p:sp>
      <p:sp>
        <p:nvSpPr>
          <p:cNvPr id="92" name="Shape 90"/>
          <p:cNvSpPr/>
          <p:nvPr/>
        </p:nvSpPr>
        <p:spPr>
          <a:xfrm>
            <a:off x="10268712" y="5486400"/>
            <a:ext cx="1344168" cy="493776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10424160" y="5486400"/>
            <a:ext cx="10332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</a:t>
            </a:r>
            <a:endParaRPr lang="en-US" sz="1300" dirty="0"/>
          </a:p>
        </p:txBody>
      </p:sp>
      <p:sp>
        <p:nvSpPr>
          <p:cNvPr id="94" name="Text 92"/>
          <p:cNvSpPr txBox="1"/>
          <p:nvPr/>
        </p:nvSpPr>
        <p:spPr>
          <a:xfrm>
            <a:off x="548640" y="6172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marks the worst city in each column, green the best.</a:t>
            </a:r>
            <a:endParaRPr lang="en-US" sz="1100" dirty="0"/>
          </a:p>
        </p:txBody>
      </p:sp>
      <p:sp>
        <p:nvSpPr>
          <p:cNvPr id="95" name="Text 9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Partner Survey  ·  Baseline Wave  ·  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Everest Fleet Driver Survey: Baseline Wave</dc:title>
  <dc:subject>PptxGenJS Presentation</dc:subject>
  <dc:creator>PptxGenJS</dc:creator>
  <cp:lastModifiedBy>PptxGenJS</cp:lastModifiedBy>
  <cp:revision>1</cp:revision>
  <dcterms:created xsi:type="dcterms:W3CDTF">2026-09-24T07:29:15Z</dcterms:created>
  <dcterms:modified xsi:type="dcterms:W3CDTF">2026-09-24T07:29:15Z</dcterms:modified>
</cp:coreProperties>
</file>