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NPS</c:v>
                </c:pt>
              </c:strCache>
            </c:strRef>
          </c:tx>
          <c:spPr>
            <a:solidFill>
              <a:srgbClr val="D9432B"/>
            </a:solidFill>
            <a:effectLst/>
          </c:spPr>
          <c:invertIfNegative val="0"/>
          <c:dLbls>
            <c:numFmt formatCode="#,##0" sourceLinked="0"/>
            <c:txPr>
              <a:bodyPr/>
              <a:lstStyle/>
              <a:p>
                <a:pPr>
                  <a:defRPr b="1" i="0" strike="noStrike" sz="2200" u="none">
                    <a:solidFill>
                      <a:srgbClr val="18222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Inactive</c:v>
                  </c:pt>
                  <c:pt idx="1">
                    <c:v>Total</c:v>
                  </c:pt>
                  <c:pt idx="2">
                    <c:v>Active</c:v>
                  </c:pt>
                </c:lvl>
              </c:multiLvlStrCache>
            </c:multiLvlStrRef>
          </c:cat>
          <c:val>
            <c:numRef>
              <c:f>Sheet1!$B$2:$B$4</c:f>
              <c:numCache>
                <c:formatCode>General</c:formatCode>
                <c:ptCount val="3"/>
                <c:pt idx="0">
                  <c:v>-61</c:v>
                </c:pt>
                <c:pt idx="1">
                  <c:v>-56</c:v>
                </c:pt>
                <c:pt idx="2">
                  <c:v>-53</c:v>
                </c:pt>
              </c:numCache>
            </c:numRef>
          </c:val>
        </c:ser>
        <c:dLbls>
          <c:numFmt formatCode="#,##0" sourceLinked="0"/>
          <c:txPr>
            <a:bodyPr/>
            <a:lstStyle/>
            <a:p>
              <a:pPr>
                <a:defRPr b="1" i="0" strike="noStrike" sz="2200" u="none">
                  <a:solidFill>
                    <a:srgbClr val="18222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high"/>
        <c:spPr>
          <a:ln w="12700" cap="flat">
            <a:noFill/>
            <a:prstDash val="solid"/>
            <a:round/>
          </a:ln>
        </c:spPr>
        <c:txPr>
          <a:bodyPr/>
          <a:lstStyle/>
          <a:p>
            <a:pPr>
              <a:defRPr sz="1400" b="0" i="0" u="none" strike="noStrike">
                <a:solidFill>
                  <a:srgbClr val="56636E"/>
                </a:solidFill>
                <a:latin typeface="Calibri"/>
              </a:defRPr>
            </a:pPr>
            <a:endParaRPr lang="en-US"/>
          </a:p>
        </c:txPr>
        <c:crossAx val="2094734552"/>
        <c:crosses val="autoZero"/>
        <c:auto val="1"/>
        <c:lblAlgn val="ctr"/>
        <c:noMultiLvlLbl val="1"/>
      </c:catAx>
      <c:valAx>
        <c:axId val="2094734552"/>
        <c:scaling>
          <c:orientation val="minMax"/>
          <c:max val="0"/>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Dissatisfied</c:v>
                </c:pt>
              </c:strCache>
            </c:strRef>
          </c:tx>
          <c:spPr>
            <a:solidFill>
              <a:srgbClr val="D9432B"/>
            </a:solidFill>
            <a:effectLst/>
          </c:spPr>
          <c:invertIfNegative val="0"/>
          <c:dLbls>
            <c:numFmt formatCode="0&quot;%&quot;" sourceLinked="0"/>
            <c:txPr>
              <a:bodyPr/>
              <a:lstStyle/>
              <a:p>
                <a:pPr>
                  <a:defRPr b="1" i="0" strike="noStrike" sz="16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Active</c:v>
                  </c:pt>
                  <c:pt idx="1">
                    <c:v>Total</c:v>
                  </c:pt>
                  <c:pt idx="2">
                    <c:v>Inactive</c:v>
                  </c:pt>
                </c:lvl>
              </c:multiLvlStrCache>
            </c:multiLvlStrRef>
          </c:cat>
          <c:val>
            <c:numRef>
              <c:f>Sheet1!$B$2:$B$4</c:f>
              <c:numCache>
                <c:formatCode>General</c:formatCode>
                <c:ptCount val="3"/>
                <c:pt idx="0">
                  <c:v>71</c:v>
                </c:pt>
                <c:pt idx="1">
                  <c:v>74</c:v>
                </c:pt>
                <c:pt idx="2">
                  <c:v>80</c:v>
                </c:pt>
              </c:numCache>
            </c:numRef>
          </c:val>
        </c:ser>
        <c:ser>
          <c:idx val="1"/>
          <c:order val="1"/>
          <c:tx>
            <c:strRef>
              <c:f>Sheet1!$C$1</c:f>
              <c:strCache>
                <c:ptCount val="1"/>
                <c:pt idx="0">
                  <c:v>Satisfied</c:v>
                </c:pt>
              </c:strCache>
            </c:strRef>
          </c:tx>
          <c:spPr>
            <a:solidFill>
              <a:srgbClr val="1F7A70"/>
            </a:solidFill>
            <a:effectLst/>
          </c:spPr>
          <c:invertIfNegative val="0"/>
          <c:dLbls>
            <c:numFmt formatCode="0&quot;%&quot;" sourceLinked="0"/>
            <c:txPr>
              <a:bodyPr/>
              <a:lstStyle/>
              <a:p>
                <a:pPr>
                  <a:defRPr b="1" i="0" strike="noStrike" sz="16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Active</c:v>
                  </c:pt>
                  <c:pt idx="1">
                    <c:v>Total</c:v>
                  </c:pt>
                  <c:pt idx="2">
                    <c:v>Inactive</c:v>
                  </c:pt>
                </c:lvl>
              </c:multiLvlStrCache>
            </c:multiLvlStrRef>
          </c:cat>
          <c:val>
            <c:numRef>
              <c:f>Sheet1!$C$2:$C$4</c:f>
              <c:numCache>
                <c:formatCode>General</c:formatCode>
                <c:ptCount val="3"/>
                <c:pt idx="0">
                  <c:v>29</c:v>
                </c:pt>
                <c:pt idx="1">
                  <c:v>26</c:v>
                </c:pt>
                <c:pt idx="2">
                  <c:v>20</c:v>
                </c:pt>
              </c:numCache>
            </c:numRef>
          </c:val>
        </c:ser>
        <c:dLbls>
          <c:numFmt formatCode="0&quot;%&quot;" sourceLinked="0"/>
          <c:txPr>
            <a:bodyPr/>
            <a:lstStyle/>
            <a:p>
              <a:pPr>
                <a:defRPr b="1" i="0" strike="noStrike" sz="16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56636E"/>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6636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c:v>
                </c:pt>
              </c:strCache>
            </c:strRef>
          </c:tx>
          <c:spPr>
            <a:solidFill>
              <a:srgbClr val="D9432B"/>
            </a:solidFill>
            <a:effectLst/>
          </c:spPr>
          <c:invertIfNegative val="0"/>
          <c:dLbls>
            <c:numFmt formatCode="&quot;-&quot;0.0" sourceLinked="0"/>
            <c:txPr>
              <a:bodyPr/>
              <a:lstStyle/>
              <a:p>
                <a:pPr>
                  <a:defRPr b="1" i="0" strike="noStrike" sz="1800" u="none">
                    <a:solidFill>
                      <a:srgbClr val="1822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Vehicle Downtime</c:v>
                  </c:pt>
                  <c:pt idx="1">
                    <c:v>Support Resolution Gap</c:v>
                  </c:pt>
                  <c:pt idx="2">
                    <c:v>Onboarding Promise Gap</c:v>
                  </c:pt>
                  <c:pt idx="3">
                    <c:v>Staff Behaviour</c:v>
                  </c:pt>
                </c:lvl>
              </c:multiLvlStrCache>
            </c:multiLvlStrRef>
          </c:cat>
          <c:val>
            <c:numRef>
              <c:f>Sheet1!$B$2:$B$5</c:f>
              <c:numCache>
                <c:formatCode>General</c:formatCode>
                <c:ptCount val="4"/>
                <c:pt idx="0">
                  <c:v>0.3</c:v>
                </c:pt>
                <c:pt idx="1">
                  <c:v>1.3</c:v>
                </c:pt>
                <c:pt idx="2">
                  <c:v>1.5</c:v>
                </c:pt>
                <c:pt idx="3">
                  <c:v>1.7</c:v>
                </c:pt>
              </c:numCache>
            </c:numRef>
          </c:val>
        </c:ser>
        <c:dLbls>
          <c:numFmt formatCode="&quot;-&quot;0.0" sourceLinked="0"/>
          <c:txPr>
            <a:bodyPr/>
            <a:lstStyle/>
            <a:p>
              <a:pPr>
                <a:defRPr b="1" i="0" strike="noStrike" sz="1800" u="none">
                  <a:solidFill>
                    <a:srgbClr val="18222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8222B"/>
                </a:solidFill>
                <a:latin typeface="Calibri"/>
              </a:defRPr>
            </a:pPr>
            <a:endParaRPr lang="en-US"/>
          </a:p>
        </c:txPr>
        <c:crossAx val="2094734552"/>
        <c:crosses val="autoZero"/>
        <c:auto val="1"/>
        <c:lblAlgn val="ctr"/>
        <c:noMultiLvlLbl val="1"/>
      </c:catAx>
      <c:valAx>
        <c:axId val="2094734552"/>
        <c:scaling>
          <c:orientation val="minMax"/>
          <c:max val="2.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Volume</c:v>
                </c:pt>
              </c:strCache>
            </c:strRef>
          </c:tx>
          <c:spPr>
            <a:solidFill>
              <a:srgbClr val="9AA7B1"/>
            </a:solidFill>
            <a:effectLst/>
          </c:spPr>
          <c:invertIfNegative val="0"/>
          <c:dLbls>
            <c:numFmt formatCode="0&quot;%&quot;" sourceLinked="0"/>
            <c:txPr>
              <a:bodyPr/>
              <a:lstStyle/>
              <a:p>
                <a:pPr>
                  <a:defRPr b="1" i="0" strike="noStrike" sz="1800" u="none">
                    <a:solidFill>
                      <a:srgbClr val="1822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Vehicle Downtime</c:v>
                  </c:pt>
                  <c:pt idx="1">
                    <c:v>Support Resolution Gap</c:v>
                  </c:pt>
                  <c:pt idx="2">
                    <c:v>Onboarding Promise Gap</c:v>
                  </c:pt>
                  <c:pt idx="3">
                    <c:v>Staff Behaviour</c:v>
                  </c:pt>
                </c:lvl>
              </c:multiLvlStrCache>
            </c:multiLvlStrRef>
          </c:cat>
          <c:val>
            <c:numRef>
              <c:f>Sheet1!$B$2:$B$5</c:f>
              <c:numCache>
                <c:formatCode>General</c:formatCode>
                <c:ptCount val="4"/>
                <c:pt idx="0">
                  <c:v>51</c:v>
                </c:pt>
                <c:pt idx="1">
                  <c:v>29</c:v>
                </c:pt>
                <c:pt idx="2">
                  <c:v>35</c:v>
                </c:pt>
                <c:pt idx="3">
                  <c:v>32</c:v>
                </c:pt>
              </c:numCache>
            </c:numRef>
          </c:val>
        </c:ser>
        <c:dLbls>
          <c:numFmt formatCode="0&quot;%&quot;" sourceLinked="0"/>
          <c:txPr>
            <a:bodyPr/>
            <a:lstStyle/>
            <a:p>
              <a:pPr>
                <a:defRPr b="1" i="0" strike="noStrike" sz="1800" u="none">
                  <a:solidFill>
                    <a:srgbClr val="18222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Unconditional</c:v>
                </c:pt>
              </c:strCache>
            </c:strRef>
          </c:tx>
          <c:spPr>
            <a:solidFill>
              <a:srgbClr val="8A959E"/>
            </a:solidFill>
            <a:effectLst/>
          </c:spPr>
          <c:invertIfNegative val="0"/>
          <c:dLbls>
            <c:numFmt formatCode="0&quot;%&quot;;;;" sourceLinked="0"/>
            <c:txPr>
              <a:bodyPr/>
              <a:lstStyle/>
              <a:p>
                <a:pPr>
                  <a:defRPr b="1"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Sheet1!$A$2:$A$5</c:f>
              <c:multiLvlStrCache>
                <c:ptCount val="4"/>
                <c:lvl>
                  <c:pt idx="0">
                    <c:v>Yes, unconditionally</c:v>
                  </c:pt>
                  <c:pt idx="1">
                    <c:v>If pay improves</c:v>
                  </c:pt>
                  <c:pt idx="2">
                    <c:v>If management improves</c:v>
                  </c:pt>
                  <c:pt idx="3">
                    <c:v>Would not return</c:v>
                  </c:pt>
                </c:lvl>
              </c:multiLvlStrCache>
            </c:multiLvlStrRef>
          </c:cat>
          <c:val>
            <c:numRef>
              <c:f>Sheet1!$B$2:$B$5</c:f>
              <c:numCache>
                <c:formatCode>General</c:formatCode>
                <c:ptCount val="4"/>
                <c:pt idx="0">
                  <c:v>13</c:v>
                </c:pt>
                <c:pt idx="1">
                  <c:v>0</c:v>
                </c:pt>
                <c:pt idx="2">
                  <c:v>0</c:v>
                </c:pt>
                <c:pt idx="3">
                  <c:v>0</c:v>
                </c:pt>
              </c:numCache>
            </c:numRef>
          </c:val>
        </c:ser>
        <c:ser>
          <c:idx val="1"/>
          <c:order val="1"/>
          <c:tx>
            <c:strRef>
              <c:f>Sheet1!$C$1</c:f>
              <c:strCache>
                <c:ptCount val="1"/>
                <c:pt idx="0">
                  <c:v>Conditional</c:v>
                </c:pt>
              </c:strCache>
            </c:strRef>
          </c:tx>
          <c:spPr>
            <a:solidFill>
              <a:srgbClr val="1F7A70"/>
            </a:solidFill>
            <a:effectLst/>
          </c:spPr>
          <c:invertIfNegative val="0"/>
          <c:dLbls>
            <c:numFmt formatCode="0&quot;%&quot;;;;" sourceLinked="0"/>
            <c:txPr>
              <a:bodyPr/>
              <a:lstStyle/>
              <a:p>
                <a:pPr>
                  <a:defRPr b="1"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Sheet1!$A$2:$A$5</c:f>
              <c:multiLvlStrCache>
                <c:ptCount val="4"/>
                <c:lvl>
                  <c:pt idx="0">
                    <c:v>Yes, unconditionally</c:v>
                  </c:pt>
                  <c:pt idx="1">
                    <c:v>If pay improves</c:v>
                  </c:pt>
                  <c:pt idx="2">
                    <c:v>If management improves</c:v>
                  </c:pt>
                  <c:pt idx="3">
                    <c:v>Would not return</c:v>
                  </c:pt>
                </c:lvl>
              </c:multiLvlStrCache>
            </c:multiLvlStrRef>
          </c:cat>
          <c:val>
            <c:numRef>
              <c:f>Sheet1!$C$2:$C$5</c:f>
              <c:numCache>
                <c:formatCode>General</c:formatCode>
                <c:ptCount val="4"/>
                <c:pt idx="0">
                  <c:v>0</c:v>
                </c:pt>
                <c:pt idx="1">
                  <c:v>28</c:v>
                </c:pt>
                <c:pt idx="2">
                  <c:v>30</c:v>
                </c:pt>
                <c:pt idx="3">
                  <c:v>0</c:v>
                </c:pt>
              </c:numCache>
            </c:numRef>
          </c:val>
        </c:ser>
        <c:ser>
          <c:idx val="2"/>
          <c:order val="2"/>
          <c:tx>
            <c:strRef>
              <c:f>Sheet1!$D$1</c:f>
              <c:strCache>
                <c:ptCount val="1"/>
                <c:pt idx="0">
                  <c:v>No</c:v>
                </c:pt>
              </c:strCache>
            </c:strRef>
          </c:tx>
          <c:spPr>
            <a:solidFill>
              <a:srgbClr val="D9432B"/>
            </a:solidFill>
            <a:effectLst/>
          </c:spPr>
          <c:invertIfNegative val="0"/>
          <c:dLbls>
            <c:numFmt formatCode="0&quot;%&quot;;;;" sourceLinked="0"/>
            <c:txPr>
              <a:bodyPr/>
              <a:lstStyle/>
              <a:p>
                <a:pPr>
                  <a:defRPr b="1"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Sheet1!$A$2:$A$5</c:f>
              <c:multiLvlStrCache>
                <c:ptCount val="4"/>
                <c:lvl>
                  <c:pt idx="0">
                    <c:v>Yes, unconditionally</c:v>
                  </c:pt>
                  <c:pt idx="1">
                    <c:v>If pay improves</c:v>
                  </c:pt>
                  <c:pt idx="2">
                    <c:v>If management improves</c:v>
                  </c:pt>
                  <c:pt idx="3">
                    <c:v>Would not return</c:v>
                  </c:pt>
                </c:lvl>
              </c:multiLvlStrCache>
            </c:multiLvlStrRef>
          </c:cat>
          <c:val>
            <c:numRef>
              <c:f>Sheet1!$D$2:$D$5</c:f>
              <c:numCache>
                <c:formatCode>General</c:formatCode>
                <c:ptCount val="4"/>
                <c:pt idx="0">
                  <c:v>0</c:v>
                </c:pt>
                <c:pt idx="1">
                  <c:v>0</c:v>
                </c:pt>
                <c:pt idx="2">
                  <c:v>0</c:v>
                </c:pt>
                <c:pt idx="3">
                  <c:v>30</c:v>
                </c:pt>
              </c:numCache>
            </c:numRef>
          </c:val>
        </c:ser>
        <c:dLbls>
          <c:numFmt formatCode="0&quot;%&quot;;;;" sourceLinked="0"/>
          <c:txPr>
            <a:bodyPr/>
            <a:lstStyle/>
            <a:p>
              <a:pPr>
                <a:defRPr b="1" i="0" strike="noStrike" sz="15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8222B"/>
                </a:solidFill>
                <a:latin typeface="Calibri"/>
              </a:defRPr>
            </a:pPr>
            <a:endParaRPr lang="en-US"/>
          </a:p>
        </c:txPr>
        <c:crossAx val="2094734552"/>
        <c:crosses val="autoZero"/>
        <c:auto val="1"/>
        <c:lblAlgn val="ctr"/>
        <c:noMultiLvlLbl val="1"/>
      </c:catAx>
      <c:valAx>
        <c:axId val="2094734552"/>
        <c:scaling>
          <c:orientation val="minMax"/>
          <c:max val="3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873 responses: 595 Active, 278 Inactive, across Delhi, Mumbai, Bangalore, Kolkata, Chennai, Hyderabad and Pune. Final locked counts from the Summary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NPS -56 overall (Active -53, Inactive -61). Satisfaction 26% overall, 29% Active, 20% Inactive. The gap between current and former drivers is small: this is one story, not two.
2. Reality vs Expectations averages 2.2 out of 5 (46% of Active drivers give it a 1). It has the strongest link to Recommend (r=0.61) and Trust &amp; Honesty r=0.60 with Recommend score, the two strongest of nine attributes. Vehicle condition or garage delays is cited by 51% of Active drivers, but Garage &amp; Repair has the second-weakest correlation (r=0.46).
3. Active drivers who cite staff behaviour as a biggest problem score 1.7 points lower on Recommend (0-10) than those who don't.
4. 58% of Inactive drivers name a condition for returning: management (30%) or pay (28%). Only 13% would return unconditionally.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NPS: Total -56, Active -53, Inactive -61. Satisfaction (4-5 on a 5-point scale): Total 26%, Active 29%, Inactive 20%. Dissatisfied (1-3): Total 74%, Active 71%, Inactive 80%. Across all 873 drivers: 654 Detractors, 51 Passives, 168 Promoters. Drivers who have already left are only modestly more negative than drivers still on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NPS: Delhi -72 is the worst city; 45% of its Active drivers say Everest has become worse and 38% of its leavers would never return.
Hyderabad loses drivers hardest after exit: Inactive NPS -77, the worst, with 91% of leavers dissatisfied and 45% saying their new fleet is better.
Bangalore is the strongest market: Active NPS -26 and 45% satisfied overall (49% among Active drivers). Its leavers still sit at -70.
Kolkata is the smallest sample (39 responses, 30 Active), so read its row with care.
Satisfied = 4 or 5 on the 5-point satisfaction question, all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Averages are on a 1-5 scale. 'Gave it a 1' is the share of Active drivers giving the lowest possible score.
Only the app reaches 3.0. Garage &amp; repair speed is the lowest-rated attribute (2.1) and has the highest share of 1s in the survey (52%).
Inactive drivers rate every attribute lower except Garage &amp; repair (2.1 both), and the biggest drop after leaving is Reality vs expectations (2.2 to 1.8).
Link to loyalty is the correlation of each rating with the 0-10 Recommend score among Active drivers: Strong = Reality vs expectations (r=0.61) and Trust &amp; honesty (0.60); Moderate = Vehicle condition (0.52), Staff behaviour (0.52), Earnings (0.51); Weaker = Hisaab (0.47), Communications (0.47), Garage &amp; repair (0.46), App (0.43).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Raising a ticket rates 2.6; resolution time and satisfactory resolution drop to 2.2. This is where the journey visibly breaks.
Satisfactory resolution (r=0.58) and problem understanding (r=0.56) are the two support items most tied to Recommend, and behave as one signal. Drivers who rate satisfactory resolution a 1 are five times as likely to name 'support not answering or not resolving' as their biggest problem (42% vs 8%).
Executive behaviour (2.5) is rated better than the process around the executive.
Ticket (r=0.39) is the weakest link: what Everest does comparatively best is what matters least to loyalty.
One driver describes waiting '2 ghanta 3 ghanta 4 ghanta' for help during a breakdown, when they cannot earn.
Delhi: all six items at or below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Horizontal: average rating from Active drivers, 1-5 scale (range shown 2.0 to 3.1). Vertical: correlation with the 0-10 Recommend score among Active drivers.
Values: Reality vs expectations 2.2 / r 0.61; Trust &amp; honesty 2.4 / 0.60; Staff behaviour 2.2 / 0.52; Vehicle condition 2.3 / 0.52; Earnings &amp; payments 2.6 / 0.51; Hisaab 2.7 / 0.47; Communications 2.8 / 0.47; Garage &amp; repair 2.1 / 0.46; App 3.0 / 0.43.
Quadrant lines are drawn at a 2.5 rating and r = 0.5 for readability; they are not thresholds from the sheet.
The pattern holds on every product: Trust &amp; honesty and Reality vs expectations are the top two differentiators between satisfied and dissatisfied Active drivers on OwnNow, DTO and Leasing.
The app is the highest-rated and least tied to loyalty: a neutral utility, not a source of goodwill.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labels map to the Biggest Problem options: Staff Behaviour = 'Staff behaviour'; Onboarding Promise Gap = 'Promises not matched'; Support Resolution Gap = 'Support not answering or not resolving'; Vehicle Downtime = 'Vehicle condition or garage delays'.
Loyalty cost = average Recommend of Active drivers who cite the issue minus those who don't.
Staff behaviour: -1.7, the largest gap of any complaint, cited by 32%.
Promises not matched: -1.5, cited by 35%.
Support not resolving: -1.3, cited by 29%.
Vehicle condition or garage delays: -0.3, cited by 51%, the most common complaint and the smallest cost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Active drivers selecting each option as a best part of driving with Everest.
Selecting vehicle condition or support during problems lifts average Recommend by roughly 2 points versus not selecting it. Flexibility and app ease show almost no lift.
By product the top answer changes: ownership opportunity is #1 for OwnNow (56%) and DTO (42%); Leasing drivers put on-time payments first (40%).
Among Promoters, about half cite on-time payments: pay is what earns loyalty at the top end even though it isn't the top complaint at the bottom.
Mumbai has the highest on-time payments rate (47%); Kolkata the highest support during problems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is on a 0-10 scale.
The flavour of negativity differs by city: Delhi leads 'looks out only for itself' (64%); Chennai (38%) and Hyderabad (36%) lead 'talks nice, doesn't deliver'. Delhi's negativity reads as self-interest, Chennai's and Hyderabad's as broken promises. Bangalore is lowest on 'looks out only for itself' (37%).
OwnNow is the only product where 'talks nice, doesn't deliver' is the top personality pick.
Even drivers who pick 'a company that is improving' name vehicle or garage delays (53%) and promises not matched (47%) as their top two problems.
Quote: 'Says one thing but the reality is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drivers: it has become worse 38%, no change 24%, some improvement 24%, clear improvement 15% (rounded, sums to 101).
Perception of direction predicts loyalty almost as cleanly as anything in the survey: 'clear improvement' averages 7.7 on Recommend, 'it has become worse' averages 2.2.
OwnNow drivers are more than twice as likely as Leasing drivers to see clear improvement.
Caveat from the sheet: the 'Some improvement' option was worded differently across city forms, which splits this answer in the consolidated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NPS by city. r = correlation of the named attribute with Recommend, Active drivers in that city.
Trust-driven: Delhi (Trust r=0.68, Reality vs Expectations 0.66), worst city across the board; promises not matched is its most cited problem (52%) and 45% say Everest has become worse. Chennai (Trust 0.66). Bangalore (Trust 0.66, Vehicle 0.63), the strongest market at -26 and 49% satisfied.
Staff-driven: Hyderabad, Staff Behaviour is the top predictor (r=0.66) with the widest Detractor-Promoter gap of any complaint in any city (+40); also the worst Inactive NPS (-77). Mumbai: Reality vs Expectations leads narrowly (r=0.53), Staff Behaviour second (0.49), and staff carries the widest Detractor-Promoter gap (+20 pts).
Money-driven: Kolkata, Earnings &amp; Payments r=0.79 and Hisaab 0.68. Kolkata is the smallest sample: 30 Active drivers, 4 Promoters. Pune, Earnings &amp; Payments r=0.61; 52% of Pune's leavers say better pay would make them proud of Everest.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NPS: OwnNow -45, Leasing -57, DTO -61 (Overall Findings). Delhi DTO is the worst product-city NPS at -78; Hyderabad OwnNow is the only positive one at +8.
Top value driver (best part of Everest, Active): OwnNow ownership opportunity 56%; DTO ownership opportunity 42%, even though DTO drivers don't yet own their vehicle; Leasing on-time payments 40%.
Top complaint (Active): OwnNow promises not matched 46%, with vehicle or garage issues at only 18%; DTO vehicle or garage 49%; Leasing vehicle or garage 67%, the highest of any product.
The tension: OwnNow has the best numbers and is the most likely to say Everest is clearly improving (20% vs 13% DTO, 9% Leasing), but its drivers hold the sharpest sense of broken promises. Removing vehicle dependency moves the complaint, it doesn't remove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Staff or management behaviour and pay dissatisfaction are tied as the top reason for leaving at 21% each. Staff leavers are the more bitter group: 2.3 average Recommend versus 2.9 for pay leavers. Drivers who left for personal reasons (6.1) or a better opportunity (4.7) stay far more positive.
Kolkata is the one city where vehicle or garage issues are the top exit reason (33%); Pune leads on pay (40%); Chennai on staff (30%).
Exit sentiment: the real split is frustrated-and-relieved (1.8 and 1.9 on Recommend) versus regretful-and-neutral (5.8 and 5.9). The 40% still frustrated does not concentrate in any one city.
47% of Inactive Detractors say they're still frustrated about how their exit happened: the manner of leaving carries as much weight as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intent (Inactive): would not return 30%, if management improves 30%, if pay improves 28%, yes unconditionally 13%. Management is at least as large a lever as pay for win-back. Chennai leans hardest to management (41%), Pune to pay (44%).
What they're doing now: 42% not currently working, a larger group than those at another fleet (28%).
Competitors: Carrum and Move are the fleets named most often. These are small counts from an open-text question (roughly 10 Carrum and 5 Move mentions), so treat as direction, not share.
Reasons for leaving: staff or management behaviour and pay dissatisfaction tied at 21%. Staff-behaviour leavers are the more bitter group (2.3 average Recommend vs 2.9 for pay leavers).
40% remain frustrated about how their exit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the Summary tab: once the brand strategy is live, the same survey is rerun as an endline study and compared with this baseline to measure actual lift in sentiment and brand metrics.
Baseline readings shown are this wave's headline figures: NPS -56, 26% satisfied, 50% of Active drivers first think of Everest as 'a company that looks out only for itself', 38% of Active drivers say Everest has become worse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B"/>
        </a:solidFill>
      </p:bgPr>
    </p:bg>
    <p:spTree>
      <p:nvGrpSpPr>
        <p:cNvPr id="1" name=""/>
        <p:cNvGrpSpPr/>
        <p:nvPr/>
      </p:nvGrpSpPr>
      <p:grpSpPr>
        <a:xfrm>
          <a:off x="0" y="0"/>
          <a:ext cx="0" cy="0"/>
          <a:chOff x="0" y="0"/>
          <a:chExt cx="0" cy="0"/>
        </a:xfrm>
      </p:grpSpPr>
      <p:sp>
        <p:nvSpPr>
          <p:cNvPr id="2" name="Text 0"/>
          <p:cNvSpPr txBox="1"/>
          <p:nvPr/>
        </p:nvSpPr>
        <p:spPr>
          <a:xfrm>
            <a:off x="548640" y="822960"/>
            <a:ext cx="9144000" cy="365760"/>
          </a:xfrm>
          <a:prstGeom prst="rect">
            <a:avLst/>
          </a:prstGeom>
          <a:noFill/>
          <a:ln/>
        </p:spPr>
        <p:txBody>
          <a:bodyPr wrap="square" lIns="0" tIns="0" rIns="0" bIns="0" rtlCol="0" anchor="t"/>
          <a:lstStyle/>
          <a:p>
            <a:pPr indent="0" marL="0">
              <a:buNone/>
            </a:pPr>
            <a:r>
              <a:rPr lang="en-US" sz="1400" b="1" spc="300" kern="0" dirty="0">
                <a:solidFill>
                  <a:srgbClr val="9AA7B1"/>
                </a:solidFill>
                <a:latin typeface="Calibri" pitchFamily="34" charset="0"/>
                <a:ea typeface="Calibri" pitchFamily="34" charset="-122"/>
                <a:cs typeface="Calibri" pitchFamily="34" charset="-120"/>
              </a:rPr>
              <a:t>EVEREST FLEET  ·  INTERNAL DRIVER PARTNER SURVEY</a:t>
            </a:r>
            <a:endParaRPr lang="en-US" sz="1400" dirty="0"/>
          </a:p>
        </p:txBody>
      </p:sp>
      <p:sp>
        <p:nvSpPr>
          <p:cNvPr id="3" name="Text 1"/>
          <p:cNvSpPr txBox="1"/>
          <p:nvPr/>
        </p:nvSpPr>
        <p:spPr>
          <a:xfrm>
            <a:off x="548640" y="1828800"/>
            <a:ext cx="10058400" cy="109728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What our drivers think of us</a:t>
            </a:r>
            <a:endParaRPr lang="en-US" sz="4800" dirty="0"/>
          </a:p>
        </p:txBody>
      </p:sp>
      <p:sp>
        <p:nvSpPr>
          <p:cNvPr id="4" name="Text 2"/>
          <p:cNvSpPr txBox="1"/>
          <p:nvPr/>
        </p:nvSpPr>
        <p:spPr>
          <a:xfrm>
            <a:off x="548640" y="2926080"/>
            <a:ext cx="10058400" cy="640080"/>
          </a:xfrm>
          <a:prstGeom prst="rect">
            <a:avLst/>
          </a:prstGeom>
          <a:noFill/>
          <a:ln/>
        </p:spPr>
        <p:txBody>
          <a:bodyPr wrap="square" lIns="0" tIns="0" rIns="0" bIns="0" rtlCol="0" anchor="t"/>
          <a:lstStyle/>
          <a:p>
            <a:pPr indent="0" marL="0">
              <a:buNone/>
            </a:pPr>
            <a:r>
              <a:rPr lang="en-US" sz="2800" i="1" dirty="0">
                <a:solidFill>
                  <a:srgbClr val="F08A76"/>
                </a:solidFill>
                <a:latin typeface="Cambria" pitchFamily="34" charset="0"/>
                <a:ea typeface="Cambria" pitchFamily="34" charset="-122"/>
                <a:cs typeface="Cambria" pitchFamily="34" charset="-120"/>
              </a:rPr>
              <a:t>Baseline Wave</a:t>
            </a:r>
            <a:endParaRPr lang="en-US" sz="2800" dirty="0"/>
          </a:p>
        </p:txBody>
      </p:sp>
      <p:sp>
        <p:nvSpPr>
          <p:cNvPr id="5" name="Text 3"/>
          <p:cNvSpPr txBox="1"/>
          <p:nvPr/>
        </p:nvSpPr>
        <p:spPr>
          <a:xfrm>
            <a:off x="548640" y="4434840"/>
            <a:ext cx="219456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873</a:t>
            </a:r>
            <a:endParaRPr lang="en-US" sz="4000" dirty="0"/>
          </a:p>
        </p:txBody>
      </p:sp>
      <p:sp>
        <p:nvSpPr>
          <p:cNvPr id="6" name="Text 4"/>
          <p:cNvSpPr txBox="1"/>
          <p:nvPr/>
        </p:nvSpPr>
        <p:spPr>
          <a:xfrm>
            <a:off x="548640" y="5166360"/>
            <a:ext cx="2194560" cy="365760"/>
          </a:xfrm>
          <a:prstGeom prst="rect">
            <a:avLst/>
          </a:prstGeom>
          <a:noFill/>
          <a:ln/>
        </p:spPr>
        <p:txBody>
          <a:bodyPr wrap="square" lIns="0" tIns="0" rIns="0" bIns="0" rtlCol="0" anchor="t"/>
          <a:lstStyle/>
          <a:p>
            <a:pPr indent="0" marL="0">
              <a:buNone/>
            </a:pPr>
            <a:r>
              <a:rPr lang="en-US" sz="1400" dirty="0">
                <a:solidFill>
                  <a:srgbClr val="9AA7B1"/>
                </a:solidFill>
                <a:latin typeface="Calibri" pitchFamily="34" charset="0"/>
                <a:ea typeface="Calibri" pitchFamily="34" charset="-122"/>
                <a:cs typeface="Calibri" pitchFamily="34" charset="-120"/>
              </a:rPr>
              <a:t>drivers responded</a:t>
            </a:r>
            <a:endParaRPr lang="en-US" sz="1400" dirty="0"/>
          </a:p>
        </p:txBody>
      </p:sp>
      <p:sp>
        <p:nvSpPr>
          <p:cNvPr id="7" name="Text 5"/>
          <p:cNvSpPr txBox="1"/>
          <p:nvPr/>
        </p:nvSpPr>
        <p:spPr>
          <a:xfrm>
            <a:off x="2926080" y="4434840"/>
            <a:ext cx="219456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595</a:t>
            </a:r>
            <a:endParaRPr lang="en-US" sz="4000" dirty="0"/>
          </a:p>
        </p:txBody>
      </p:sp>
      <p:sp>
        <p:nvSpPr>
          <p:cNvPr id="8" name="Text 6"/>
          <p:cNvSpPr txBox="1"/>
          <p:nvPr/>
        </p:nvSpPr>
        <p:spPr>
          <a:xfrm>
            <a:off x="2926080" y="5166360"/>
            <a:ext cx="2194560" cy="365760"/>
          </a:xfrm>
          <a:prstGeom prst="rect">
            <a:avLst/>
          </a:prstGeom>
          <a:noFill/>
          <a:ln/>
        </p:spPr>
        <p:txBody>
          <a:bodyPr wrap="square" lIns="0" tIns="0" rIns="0" bIns="0" rtlCol="0" anchor="t"/>
          <a:lstStyle/>
          <a:p>
            <a:pPr indent="0" marL="0">
              <a:buNone/>
            </a:pPr>
            <a:r>
              <a:rPr lang="en-US" sz="1400" dirty="0">
                <a:solidFill>
                  <a:srgbClr val="9AA7B1"/>
                </a:solidFill>
                <a:latin typeface="Calibri" pitchFamily="34" charset="0"/>
                <a:ea typeface="Calibri" pitchFamily="34" charset="-122"/>
                <a:cs typeface="Calibri" pitchFamily="34" charset="-120"/>
              </a:rPr>
              <a:t>Active</a:t>
            </a:r>
            <a:endParaRPr lang="en-US" sz="1400" dirty="0"/>
          </a:p>
        </p:txBody>
      </p:sp>
      <p:sp>
        <p:nvSpPr>
          <p:cNvPr id="9" name="Text 7"/>
          <p:cNvSpPr txBox="1"/>
          <p:nvPr/>
        </p:nvSpPr>
        <p:spPr>
          <a:xfrm>
            <a:off x="5303520" y="4434840"/>
            <a:ext cx="219456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278</a:t>
            </a:r>
            <a:endParaRPr lang="en-US" sz="4000" dirty="0"/>
          </a:p>
        </p:txBody>
      </p:sp>
      <p:sp>
        <p:nvSpPr>
          <p:cNvPr id="10" name="Text 8"/>
          <p:cNvSpPr txBox="1"/>
          <p:nvPr/>
        </p:nvSpPr>
        <p:spPr>
          <a:xfrm>
            <a:off x="5303520" y="5166360"/>
            <a:ext cx="2194560" cy="365760"/>
          </a:xfrm>
          <a:prstGeom prst="rect">
            <a:avLst/>
          </a:prstGeom>
          <a:noFill/>
          <a:ln/>
        </p:spPr>
        <p:txBody>
          <a:bodyPr wrap="square" lIns="0" tIns="0" rIns="0" bIns="0" rtlCol="0" anchor="t"/>
          <a:lstStyle/>
          <a:p>
            <a:pPr indent="0" marL="0">
              <a:buNone/>
            </a:pPr>
            <a:r>
              <a:rPr lang="en-US" sz="1400" dirty="0">
                <a:solidFill>
                  <a:srgbClr val="9AA7B1"/>
                </a:solidFill>
                <a:latin typeface="Calibri" pitchFamily="34" charset="0"/>
                <a:ea typeface="Calibri" pitchFamily="34" charset="-122"/>
                <a:cs typeface="Calibri" pitchFamily="34" charset="-120"/>
              </a:rPr>
              <a:t>Inactive</a:t>
            </a:r>
            <a:endParaRPr lang="en-US" sz="1400" dirty="0"/>
          </a:p>
        </p:txBody>
      </p:sp>
      <p:sp>
        <p:nvSpPr>
          <p:cNvPr id="11" name="Text 9"/>
          <p:cNvSpPr txBox="1"/>
          <p:nvPr/>
        </p:nvSpPr>
        <p:spPr>
          <a:xfrm>
            <a:off x="7680960" y="4434840"/>
            <a:ext cx="219456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7</a:t>
            </a:r>
            <a:endParaRPr lang="en-US" sz="4000" dirty="0"/>
          </a:p>
        </p:txBody>
      </p:sp>
      <p:sp>
        <p:nvSpPr>
          <p:cNvPr id="12" name="Text 10"/>
          <p:cNvSpPr txBox="1"/>
          <p:nvPr/>
        </p:nvSpPr>
        <p:spPr>
          <a:xfrm>
            <a:off x="7680960" y="5166360"/>
            <a:ext cx="2194560" cy="365760"/>
          </a:xfrm>
          <a:prstGeom prst="rect">
            <a:avLst/>
          </a:prstGeom>
          <a:noFill/>
          <a:ln/>
        </p:spPr>
        <p:txBody>
          <a:bodyPr wrap="square" lIns="0" tIns="0" rIns="0" bIns="0" rtlCol="0" anchor="t"/>
          <a:lstStyle/>
          <a:p>
            <a:pPr indent="0" marL="0">
              <a:buNone/>
            </a:pPr>
            <a:r>
              <a:rPr lang="en-US" sz="1400" dirty="0">
                <a:solidFill>
                  <a:srgbClr val="9AA7B1"/>
                </a:solidFill>
                <a:latin typeface="Calibri" pitchFamily="34" charset="0"/>
                <a:ea typeface="Calibri" pitchFamily="34" charset="-122"/>
                <a:cs typeface="Calibri" pitchFamily="34" charset="-120"/>
              </a:rPr>
              <a:t>cities</a:t>
            </a:r>
            <a:endParaRPr lang="en-US" sz="1400" dirty="0"/>
          </a:p>
        </p:txBody>
      </p:sp>
      <p:sp>
        <p:nvSpPr>
          <p:cNvPr id="13" name="Text 11"/>
          <p:cNvSpPr txBox="1"/>
          <p:nvPr/>
        </p:nvSpPr>
        <p:spPr>
          <a:xfrm>
            <a:off x="548640" y="6217920"/>
            <a:ext cx="5486400" cy="365760"/>
          </a:xfrm>
          <a:prstGeom prst="rect">
            <a:avLst/>
          </a:prstGeom>
          <a:noFill/>
          <a:ln/>
        </p:spPr>
        <p:txBody>
          <a:bodyPr wrap="square" lIns="0" tIns="0" rIns="0" bIns="0" rtlCol="0" anchor="t"/>
          <a:lstStyle/>
          <a:p>
            <a:pPr indent="0" marL="0">
              <a:buNone/>
            </a:pPr>
            <a:r>
              <a:rPr lang="en-US" sz="1200" dirty="0">
                <a:solidFill>
                  <a:srgbClr val="9AA7B1"/>
                </a:solidFill>
                <a:latin typeface="Calibri" pitchFamily="34" charset="0"/>
                <a:ea typeface="Calibri" pitchFamily="34" charset="-122"/>
                <a:cs typeface="Calibri" pitchFamily="34" charset="-120"/>
              </a:rPr>
              <a:t>CXO review  ·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Four things to take away</a:t>
            </a:r>
            <a:endParaRPr lang="en-US" sz="3200" dirty="0"/>
          </a:p>
        </p:txBody>
      </p:sp>
      <p:sp>
        <p:nvSpPr>
          <p:cNvPr id="3" name="Shape 1"/>
          <p:cNvSpPr/>
          <p:nvPr/>
        </p:nvSpPr>
        <p:spPr>
          <a:xfrm>
            <a:off x="548640" y="1417320"/>
            <a:ext cx="11094415" cy="1051560"/>
          </a:xfrm>
          <a:prstGeom prst="roundRect">
            <a:avLst>
              <a:gd name="adj" fmla="val 6957"/>
            </a:avLst>
          </a:prstGeom>
          <a:solidFill>
            <a:srgbClr val="F1F3F5"/>
          </a:solidFill>
          <a:ln w="12700">
            <a:solidFill>
              <a:srgbClr val="F1F3F5"/>
            </a:solidFill>
            <a:prstDash val="solid"/>
          </a:ln>
        </p:spPr>
      </p:sp>
      <p:sp>
        <p:nvSpPr>
          <p:cNvPr id="4" name="Text 2"/>
          <p:cNvSpPr txBox="1"/>
          <p:nvPr/>
        </p:nvSpPr>
        <p:spPr>
          <a:xfrm>
            <a:off x="822960" y="1527048"/>
            <a:ext cx="2011680" cy="594360"/>
          </a:xfrm>
          <a:prstGeom prst="rect">
            <a:avLst/>
          </a:prstGeom>
          <a:noFill/>
          <a:ln/>
        </p:spPr>
        <p:txBody>
          <a:bodyPr wrap="square" lIns="0" tIns="0" rIns="0" bIns="0" rtlCol="0" anchor="ctr"/>
          <a:lstStyle/>
          <a:p>
            <a:pPr indent="0" marL="0">
              <a:buNone/>
            </a:pPr>
            <a:r>
              <a:rPr lang="en-US" sz="3600" b="1" dirty="0">
                <a:solidFill>
                  <a:srgbClr val="D9432B"/>
                </a:solidFill>
                <a:latin typeface="Cambria" pitchFamily="34" charset="0"/>
                <a:ea typeface="Cambria" pitchFamily="34" charset="-122"/>
                <a:cs typeface="Cambria" pitchFamily="34" charset="-120"/>
              </a:rPr>
              <a:t>-56</a:t>
            </a:r>
            <a:endParaRPr lang="en-US" sz="3600" dirty="0"/>
          </a:p>
        </p:txBody>
      </p:sp>
      <p:sp>
        <p:nvSpPr>
          <p:cNvPr id="5" name="Text 3"/>
          <p:cNvSpPr txBox="1"/>
          <p:nvPr/>
        </p:nvSpPr>
        <p:spPr>
          <a:xfrm>
            <a:off x="822960" y="2103120"/>
            <a:ext cx="2011680" cy="274320"/>
          </a:xfrm>
          <a:prstGeom prst="rect">
            <a:avLst/>
          </a:prstGeom>
          <a:noFill/>
          <a:ln/>
        </p:spPr>
        <p:txBody>
          <a:bodyPr wrap="square" lIns="0" tIns="0" rIns="0" bIns="0" rtlCol="0" anchor="t"/>
          <a:lstStyle/>
          <a:p>
            <a:pPr indent="0" marL="0">
              <a:buNone/>
            </a:pPr>
            <a:r>
              <a:rPr lang="en-US" sz="1100" dirty="0">
                <a:solidFill>
                  <a:srgbClr val="56636E"/>
                </a:solidFill>
                <a:latin typeface="Calibri" pitchFamily="34" charset="0"/>
                <a:ea typeface="Calibri" pitchFamily="34" charset="-122"/>
                <a:cs typeface="Calibri" pitchFamily="34" charset="-120"/>
              </a:rPr>
              <a:t>NPS</a:t>
            </a:r>
            <a:endParaRPr lang="en-US" sz="1100" dirty="0"/>
          </a:p>
        </p:txBody>
      </p:sp>
      <p:sp>
        <p:nvSpPr>
          <p:cNvPr id="6" name="Text 4"/>
          <p:cNvSpPr txBox="1"/>
          <p:nvPr/>
        </p:nvSpPr>
        <p:spPr>
          <a:xfrm>
            <a:off x="3108960" y="1572768"/>
            <a:ext cx="8229600" cy="365760"/>
          </a:xfrm>
          <a:prstGeom prst="rect">
            <a:avLst/>
          </a:prstGeom>
          <a:noFill/>
          <a:ln/>
        </p:spPr>
        <p:txBody>
          <a:bodyPr wrap="square" lIns="0" tIns="0" rIns="0" bIns="0" rtlCol="0" anchor="t"/>
          <a:lstStyle/>
          <a:p>
            <a:pPr indent="0" marL="0">
              <a:buNone/>
            </a:pPr>
            <a:r>
              <a:rPr lang="en-US" sz="1900" b="1" dirty="0">
                <a:solidFill>
                  <a:srgbClr val="18222B"/>
                </a:solidFill>
                <a:latin typeface="Calibri" pitchFamily="34" charset="0"/>
                <a:ea typeface="Calibri" pitchFamily="34" charset="-122"/>
                <a:cs typeface="Calibri" pitchFamily="34" charset="-120"/>
              </a:rPr>
              <a:t>Drivers still with us and drivers who left say the same thing</a:t>
            </a:r>
            <a:endParaRPr lang="en-US" sz="1900" dirty="0"/>
          </a:p>
        </p:txBody>
      </p:sp>
      <p:sp>
        <p:nvSpPr>
          <p:cNvPr id="7" name="Text 5"/>
          <p:cNvSpPr txBox="1"/>
          <p:nvPr/>
        </p:nvSpPr>
        <p:spPr>
          <a:xfrm>
            <a:off x="3108960" y="1965960"/>
            <a:ext cx="8229600" cy="41148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Active -53, Inactive -61. Only 26% are satisfied.</a:t>
            </a:r>
            <a:endParaRPr lang="en-US" sz="1400" dirty="0"/>
          </a:p>
        </p:txBody>
      </p:sp>
      <p:sp>
        <p:nvSpPr>
          <p:cNvPr id="8" name="Shape 6"/>
          <p:cNvSpPr/>
          <p:nvPr/>
        </p:nvSpPr>
        <p:spPr>
          <a:xfrm>
            <a:off x="548640" y="2633472"/>
            <a:ext cx="11094415" cy="1051560"/>
          </a:xfrm>
          <a:prstGeom prst="roundRect">
            <a:avLst>
              <a:gd name="adj" fmla="val 6957"/>
            </a:avLst>
          </a:prstGeom>
          <a:solidFill>
            <a:srgbClr val="F1F3F5"/>
          </a:solidFill>
          <a:ln w="12700">
            <a:solidFill>
              <a:srgbClr val="F1F3F5"/>
            </a:solidFill>
            <a:prstDash val="solid"/>
          </a:ln>
        </p:spPr>
      </p:sp>
      <p:sp>
        <p:nvSpPr>
          <p:cNvPr id="9" name="Text 7"/>
          <p:cNvSpPr txBox="1"/>
          <p:nvPr/>
        </p:nvSpPr>
        <p:spPr>
          <a:xfrm>
            <a:off x="822960" y="2743200"/>
            <a:ext cx="2011680" cy="594360"/>
          </a:xfrm>
          <a:prstGeom prst="rect">
            <a:avLst/>
          </a:prstGeom>
          <a:noFill/>
          <a:ln/>
        </p:spPr>
        <p:txBody>
          <a:bodyPr wrap="square" lIns="0" tIns="0" rIns="0" bIns="0" rtlCol="0" anchor="ctr"/>
          <a:lstStyle/>
          <a:p>
            <a:pPr indent="0" marL="0">
              <a:buNone/>
            </a:pPr>
            <a:r>
              <a:rPr lang="en-US" sz="3600" b="1" dirty="0">
                <a:solidFill>
                  <a:srgbClr val="D9432B"/>
                </a:solidFill>
                <a:latin typeface="Cambria" pitchFamily="34" charset="0"/>
                <a:ea typeface="Cambria" pitchFamily="34" charset="-122"/>
                <a:cs typeface="Cambria" pitchFamily="34" charset="-120"/>
              </a:rPr>
              <a:t>2.2 / 5</a:t>
            </a:r>
            <a:endParaRPr lang="en-US" sz="3600" dirty="0"/>
          </a:p>
        </p:txBody>
      </p:sp>
      <p:sp>
        <p:nvSpPr>
          <p:cNvPr id="10" name="Text 8"/>
          <p:cNvSpPr txBox="1"/>
          <p:nvPr/>
        </p:nvSpPr>
        <p:spPr>
          <a:xfrm>
            <a:off x="822960" y="3319272"/>
            <a:ext cx="2011680" cy="274320"/>
          </a:xfrm>
          <a:prstGeom prst="rect">
            <a:avLst/>
          </a:prstGeom>
          <a:noFill/>
          <a:ln/>
        </p:spPr>
        <p:txBody>
          <a:bodyPr wrap="square" lIns="0" tIns="0" rIns="0" bIns="0" rtlCol="0" anchor="t"/>
          <a:lstStyle/>
          <a:p>
            <a:pPr indent="0" marL="0">
              <a:buNone/>
            </a:pPr>
            <a:r>
              <a:rPr lang="en-US" sz="1100" dirty="0">
                <a:solidFill>
                  <a:srgbClr val="56636E"/>
                </a:solidFill>
                <a:latin typeface="Calibri" pitchFamily="34" charset="0"/>
                <a:ea typeface="Calibri" pitchFamily="34" charset="-122"/>
                <a:cs typeface="Calibri" pitchFamily="34" charset="-120"/>
              </a:rPr>
              <a:t>Reality vs Expectations</a:t>
            </a:r>
            <a:endParaRPr lang="en-US" sz="1100" dirty="0"/>
          </a:p>
        </p:txBody>
      </p:sp>
      <p:sp>
        <p:nvSpPr>
          <p:cNvPr id="11" name="Text 9"/>
          <p:cNvSpPr txBox="1"/>
          <p:nvPr/>
        </p:nvSpPr>
        <p:spPr>
          <a:xfrm>
            <a:off x="3108960" y="2788920"/>
            <a:ext cx="8229600" cy="365760"/>
          </a:xfrm>
          <a:prstGeom prst="rect">
            <a:avLst/>
          </a:prstGeom>
          <a:noFill/>
          <a:ln/>
        </p:spPr>
        <p:txBody>
          <a:bodyPr wrap="square" lIns="0" tIns="0" rIns="0" bIns="0" rtlCol="0" anchor="t"/>
          <a:lstStyle/>
          <a:p>
            <a:pPr indent="0" marL="0">
              <a:buNone/>
            </a:pPr>
            <a:r>
              <a:rPr lang="en-US" sz="1900" b="1" dirty="0">
                <a:solidFill>
                  <a:srgbClr val="18222B"/>
                </a:solidFill>
                <a:latin typeface="Calibri" pitchFamily="34" charset="0"/>
                <a:ea typeface="Calibri" pitchFamily="34" charset="-122"/>
                <a:cs typeface="Calibri" pitchFamily="34" charset="-120"/>
              </a:rPr>
              <a:t>Loyalty tracks broken promises, not broken vehicles</a:t>
            </a:r>
            <a:endParaRPr lang="en-US" sz="1900" dirty="0"/>
          </a:p>
        </p:txBody>
      </p:sp>
      <p:sp>
        <p:nvSpPr>
          <p:cNvPr id="12" name="Text 10"/>
          <p:cNvSpPr txBox="1"/>
          <p:nvPr/>
        </p:nvSpPr>
        <p:spPr>
          <a:xfrm>
            <a:off x="3108960" y="3182112"/>
            <a:ext cx="8229600" cy="41148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Whether Everest matched what was promised rates 2.2 / 5 and predicts Recommend best. Garage &amp; Repair is the top complaint but a weak predictor.</a:t>
            </a:r>
            <a:endParaRPr lang="en-US" sz="1400" dirty="0"/>
          </a:p>
        </p:txBody>
      </p:sp>
      <p:sp>
        <p:nvSpPr>
          <p:cNvPr id="13" name="Shape 11"/>
          <p:cNvSpPr/>
          <p:nvPr/>
        </p:nvSpPr>
        <p:spPr>
          <a:xfrm>
            <a:off x="548640" y="3849624"/>
            <a:ext cx="11094415" cy="1051560"/>
          </a:xfrm>
          <a:prstGeom prst="roundRect">
            <a:avLst>
              <a:gd name="adj" fmla="val 6957"/>
            </a:avLst>
          </a:prstGeom>
          <a:solidFill>
            <a:srgbClr val="F1F3F5"/>
          </a:solidFill>
          <a:ln w="12700">
            <a:solidFill>
              <a:srgbClr val="F1F3F5"/>
            </a:solidFill>
            <a:prstDash val="solid"/>
          </a:ln>
        </p:spPr>
      </p:sp>
      <p:sp>
        <p:nvSpPr>
          <p:cNvPr id="14" name="Text 12"/>
          <p:cNvSpPr txBox="1"/>
          <p:nvPr/>
        </p:nvSpPr>
        <p:spPr>
          <a:xfrm>
            <a:off x="822960" y="3959352"/>
            <a:ext cx="2011680" cy="594360"/>
          </a:xfrm>
          <a:prstGeom prst="rect">
            <a:avLst/>
          </a:prstGeom>
          <a:noFill/>
          <a:ln/>
        </p:spPr>
        <p:txBody>
          <a:bodyPr wrap="square" lIns="0" tIns="0" rIns="0" bIns="0" rtlCol="0" anchor="ctr"/>
          <a:lstStyle/>
          <a:p>
            <a:pPr indent="0" marL="0">
              <a:buNone/>
            </a:pPr>
            <a:r>
              <a:rPr lang="en-US" sz="3600" b="1" dirty="0">
                <a:solidFill>
                  <a:srgbClr val="D9432B"/>
                </a:solidFill>
                <a:latin typeface="Cambria" pitchFamily="34" charset="0"/>
                <a:ea typeface="Cambria" pitchFamily="34" charset="-122"/>
                <a:cs typeface="Cambria" pitchFamily="34" charset="-120"/>
              </a:rPr>
              <a:t>-1.7</a:t>
            </a:r>
            <a:endParaRPr lang="en-US" sz="3600" dirty="0"/>
          </a:p>
        </p:txBody>
      </p:sp>
      <p:sp>
        <p:nvSpPr>
          <p:cNvPr id="15" name="Text 13"/>
          <p:cNvSpPr txBox="1"/>
          <p:nvPr/>
        </p:nvSpPr>
        <p:spPr>
          <a:xfrm>
            <a:off x="822960" y="4535424"/>
            <a:ext cx="2011680" cy="274320"/>
          </a:xfrm>
          <a:prstGeom prst="rect">
            <a:avLst/>
          </a:prstGeom>
          <a:noFill/>
          <a:ln/>
        </p:spPr>
        <p:txBody>
          <a:bodyPr wrap="square" lIns="0" tIns="0" rIns="0" bIns="0" rtlCol="0" anchor="t"/>
          <a:lstStyle/>
          <a:p>
            <a:pPr indent="0" marL="0">
              <a:buNone/>
            </a:pPr>
            <a:r>
              <a:rPr lang="en-US" sz="1100" dirty="0">
                <a:solidFill>
                  <a:srgbClr val="56636E"/>
                </a:solidFill>
                <a:latin typeface="Calibri" pitchFamily="34" charset="0"/>
                <a:ea typeface="Calibri" pitchFamily="34" charset="-122"/>
                <a:cs typeface="Calibri" pitchFamily="34" charset="-120"/>
              </a:rPr>
              <a:t>pts on Recommend</a:t>
            </a:r>
            <a:endParaRPr lang="en-US" sz="1100" dirty="0"/>
          </a:p>
        </p:txBody>
      </p:sp>
      <p:sp>
        <p:nvSpPr>
          <p:cNvPr id="16" name="Text 14"/>
          <p:cNvSpPr txBox="1"/>
          <p:nvPr/>
        </p:nvSpPr>
        <p:spPr>
          <a:xfrm>
            <a:off x="3108960" y="4005072"/>
            <a:ext cx="8229600" cy="365760"/>
          </a:xfrm>
          <a:prstGeom prst="rect">
            <a:avLst/>
          </a:prstGeom>
          <a:noFill/>
          <a:ln/>
        </p:spPr>
        <p:txBody>
          <a:bodyPr wrap="square" lIns="0" tIns="0" rIns="0" bIns="0" rtlCol="0" anchor="t"/>
          <a:lstStyle/>
          <a:p>
            <a:pPr indent="0" marL="0">
              <a:buNone/>
            </a:pPr>
            <a:r>
              <a:rPr lang="en-US" sz="1900" b="1" dirty="0">
                <a:solidFill>
                  <a:srgbClr val="18222B"/>
                </a:solidFill>
                <a:latin typeface="Calibri" pitchFamily="34" charset="0"/>
                <a:ea typeface="Calibri" pitchFamily="34" charset="-122"/>
                <a:cs typeface="Calibri" pitchFamily="34" charset="-120"/>
              </a:rPr>
              <a:t>Staff behaviour costs more loyalty than any other issue</a:t>
            </a:r>
            <a:endParaRPr lang="en-US" sz="1900" dirty="0"/>
          </a:p>
        </p:txBody>
      </p:sp>
      <p:sp>
        <p:nvSpPr>
          <p:cNvPr id="17" name="Text 15"/>
          <p:cNvSpPr txBox="1"/>
          <p:nvPr/>
        </p:nvSpPr>
        <p:spPr>
          <a:xfrm>
            <a:off x="3108960" y="4398264"/>
            <a:ext cx="8229600" cy="41148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The largest gap of any complaint. Joint top reason for leaving (21%).</a:t>
            </a:r>
            <a:endParaRPr lang="en-US" sz="1400" dirty="0"/>
          </a:p>
        </p:txBody>
      </p:sp>
      <p:sp>
        <p:nvSpPr>
          <p:cNvPr id="18" name="Shape 16"/>
          <p:cNvSpPr/>
          <p:nvPr/>
        </p:nvSpPr>
        <p:spPr>
          <a:xfrm>
            <a:off x="548640" y="5065776"/>
            <a:ext cx="11094415" cy="1051560"/>
          </a:xfrm>
          <a:prstGeom prst="roundRect">
            <a:avLst>
              <a:gd name="adj" fmla="val 6957"/>
            </a:avLst>
          </a:prstGeom>
          <a:solidFill>
            <a:srgbClr val="F1F3F5"/>
          </a:solidFill>
          <a:ln w="12700">
            <a:solidFill>
              <a:srgbClr val="F1F3F5"/>
            </a:solidFill>
            <a:prstDash val="solid"/>
          </a:ln>
        </p:spPr>
      </p:sp>
      <p:sp>
        <p:nvSpPr>
          <p:cNvPr id="19" name="Text 17"/>
          <p:cNvSpPr txBox="1"/>
          <p:nvPr/>
        </p:nvSpPr>
        <p:spPr>
          <a:xfrm>
            <a:off x="822960" y="5175504"/>
            <a:ext cx="2011680" cy="594360"/>
          </a:xfrm>
          <a:prstGeom prst="rect">
            <a:avLst/>
          </a:prstGeom>
          <a:noFill/>
          <a:ln/>
        </p:spPr>
        <p:txBody>
          <a:bodyPr wrap="square" lIns="0" tIns="0" rIns="0" bIns="0" rtlCol="0" anchor="ctr"/>
          <a:lstStyle/>
          <a:p>
            <a:pPr indent="0" marL="0">
              <a:buNone/>
            </a:pPr>
            <a:r>
              <a:rPr lang="en-US" sz="3600" b="1" dirty="0">
                <a:solidFill>
                  <a:srgbClr val="1F7A70"/>
                </a:solidFill>
                <a:latin typeface="Cambria" pitchFamily="34" charset="0"/>
                <a:ea typeface="Cambria" pitchFamily="34" charset="-122"/>
                <a:cs typeface="Cambria" pitchFamily="34" charset="-120"/>
              </a:rPr>
              <a:t>58%</a:t>
            </a:r>
            <a:endParaRPr lang="en-US" sz="3600" dirty="0"/>
          </a:p>
        </p:txBody>
      </p:sp>
      <p:sp>
        <p:nvSpPr>
          <p:cNvPr id="20" name="Text 18"/>
          <p:cNvSpPr txBox="1"/>
          <p:nvPr/>
        </p:nvSpPr>
        <p:spPr>
          <a:xfrm>
            <a:off x="822960" y="5751576"/>
            <a:ext cx="2011680" cy="274320"/>
          </a:xfrm>
          <a:prstGeom prst="rect">
            <a:avLst/>
          </a:prstGeom>
          <a:noFill/>
          <a:ln/>
        </p:spPr>
        <p:txBody>
          <a:bodyPr wrap="square" lIns="0" tIns="0" rIns="0" bIns="0" rtlCol="0" anchor="t"/>
          <a:lstStyle/>
          <a:p>
            <a:pPr indent="0" marL="0">
              <a:buNone/>
            </a:pPr>
            <a:r>
              <a:rPr lang="en-US" sz="1100" dirty="0">
                <a:solidFill>
                  <a:srgbClr val="56636E"/>
                </a:solidFill>
                <a:latin typeface="Calibri" pitchFamily="34" charset="0"/>
                <a:ea typeface="Calibri" pitchFamily="34" charset="-122"/>
                <a:cs typeface="Calibri" pitchFamily="34" charset="-120"/>
              </a:rPr>
              <a:t>of churned drivers</a:t>
            </a:r>
            <a:endParaRPr lang="en-US" sz="1100" dirty="0"/>
          </a:p>
        </p:txBody>
      </p:sp>
      <p:sp>
        <p:nvSpPr>
          <p:cNvPr id="21" name="Text 19"/>
          <p:cNvSpPr txBox="1"/>
          <p:nvPr/>
        </p:nvSpPr>
        <p:spPr>
          <a:xfrm>
            <a:off x="3108960" y="5221224"/>
            <a:ext cx="8229600" cy="365760"/>
          </a:xfrm>
          <a:prstGeom prst="rect">
            <a:avLst/>
          </a:prstGeom>
          <a:noFill/>
          <a:ln/>
        </p:spPr>
        <p:txBody>
          <a:bodyPr wrap="square" lIns="0" tIns="0" rIns="0" bIns="0" rtlCol="0" anchor="t"/>
          <a:lstStyle/>
          <a:p>
            <a:pPr indent="0" marL="0">
              <a:buNone/>
            </a:pPr>
            <a:r>
              <a:rPr lang="en-US" sz="1900" b="1" dirty="0">
                <a:solidFill>
                  <a:srgbClr val="18222B"/>
                </a:solidFill>
                <a:latin typeface="Calibri" pitchFamily="34" charset="0"/>
                <a:ea typeface="Calibri" pitchFamily="34" charset="-122"/>
                <a:cs typeface="Calibri" pitchFamily="34" charset="-120"/>
              </a:rPr>
              <a:t>Are recoverable, on a condition</a:t>
            </a:r>
            <a:endParaRPr lang="en-US" sz="1900" dirty="0"/>
          </a:p>
        </p:txBody>
      </p:sp>
      <p:sp>
        <p:nvSpPr>
          <p:cNvPr id="22" name="Text 20"/>
          <p:cNvSpPr txBox="1"/>
          <p:nvPr/>
        </p:nvSpPr>
        <p:spPr>
          <a:xfrm>
            <a:off x="3108960" y="5614416"/>
            <a:ext cx="8229600" cy="41148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30% would return if management improves, 28% if pay improves.</a:t>
            </a:r>
            <a:endParaRPr lang="en-US" sz="1400" dirty="0"/>
          </a:p>
        </p:txBody>
      </p:sp>
      <p:sp>
        <p:nvSpPr>
          <p:cNvPr id="23"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Three in four drivers are Detractors</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Detractors 75%  ·  Passives 6%  ·  Promoters 19%</a:t>
            </a:r>
            <a:endParaRPr lang="en-US" sz="1600" dirty="0"/>
          </a:p>
        </p:txBody>
      </p:sp>
      <p:sp>
        <p:nvSpPr>
          <p:cNvPr id="4" name="Text 2"/>
          <p:cNvSpPr txBox="1"/>
          <p:nvPr/>
        </p:nvSpPr>
        <p:spPr>
          <a:xfrm>
            <a:off x="548640" y="1828800"/>
            <a:ext cx="530352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Net Promoter Score</a:t>
            </a:r>
            <a:endParaRPr lang="en-US" sz="1600" dirty="0"/>
          </a:p>
        </p:txBody>
      </p:sp>
      <p:graphicFrame>
        <p:nvGraphicFramePr>
          <p:cNvPr id="5" name="Chart 0" descr=""/>
          <p:cNvGraphicFramePr/>
          <p:nvPr/>
        </p:nvGraphicFramePr>
        <p:xfrm>
          <a:off x="548640" y="2240280"/>
          <a:ext cx="530352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0" y="1828800"/>
            <a:ext cx="521208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Satisfied vs Dissatisfied</a:t>
            </a:r>
            <a:endParaRPr lang="en-US" sz="1600" dirty="0"/>
          </a:p>
        </p:txBody>
      </p:sp>
      <p:graphicFrame>
        <p:nvGraphicFramePr>
          <p:cNvPr id="7" name="Chart 1" descr=""/>
          <p:cNvGraphicFramePr/>
          <p:nvPr/>
        </p:nvGraphicFramePr>
        <p:xfrm>
          <a:off x="6400800" y="2240280"/>
          <a:ext cx="5212080" cy="393192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Delhi is weakest across the board</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City scorecard, sorted by Active NPS (worst first)</a:t>
            </a:r>
            <a:endParaRPr lang="en-US" sz="1600" dirty="0"/>
          </a:p>
        </p:txBody>
      </p:sp>
      <p:sp>
        <p:nvSpPr>
          <p:cNvPr id="4" name="Text 2"/>
          <p:cNvSpPr txBox="1"/>
          <p:nvPr/>
        </p:nvSpPr>
        <p:spPr>
          <a:xfrm>
            <a:off x="640080" y="1645920"/>
            <a:ext cx="2011680" cy="548640"/>
          </a:xfrm>
          <a:prstGeom prst="rect">
            <a:avLst/>
          </a:prstGeom>
          <a:noFill/>
          <a:ln/>
        </p:spPr>
        <p:txBody>
          <a:bodyPr wrap="square" lIns="0" tIns="0" rIns="0" bIns="0" rtlCol="0" anchor="b"/>
          <a:lstStyle/>
          <a:p>
            <a:pPr algn="l" indent="0" marL="0">
              <a:buNone/>
            </a:pPr>
            <a:r>
              <a:rPr lang="en-US" sz="1200" b="1" dirty="0">
                <a:solidFill>
                  <a:srgbClr val="56636E"/>
                </a:solidFill>
                <a:latin typeface="Calibri" pitchFamily="34" charset="0"/>
                <a:ea typeface="Calibri" pitchFamily="34" charset="-122"/>
                <a:cs typeface="Calibri" pitchFamily="34" charset="-120"/>
              </a:rPr>
              <a:t>City</a:t>
            </a:r>
            <a:endParaRPr lang="en-US" sz="1200" dirty="0"/>
          </a:p>
        </p:txBody>
      </p:sp>
      <p:sp>
        <p:nvSpPr>
          <p:cNvPr id="5" name="Text 3"/>
          <p:cNvSpPr txBox="1"/>
          <p:nvPr/>
        </p:nvSpPr>
        <p:spPr>
          <a:xfrm>
            <a:off x="2834640" y="1645920"/>
            <a:ext cx="1645920" cy="54864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Active NPS</a:t>
            </a:r>
            <a:endParaRPr lang="en-US" sz="1200" dirty="0"/>
          </a:p>
        </p:txBody>
      </p:sp>
      <p:sp>
        <p:nvSpPr>
          <p:cNvPr id="6" name="Text 4"/>
          <p:cNvSpPr txBox="1"/>
          <p:nvPr/>
        </p:nvSpPr>
        <p:spPr>
          <a:xfrm>
            <a:off x="4663440" y="1645920"/>
            <a:ext cx="1645920" cy="54864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Inactive NPS</a:t>
            </a:r>
            <a:endParaRPr lang="en-US" sz="1200" dirty="0"/>
          </a:p>
        </p:txBody>
      </p:sp>
      <p:sp>
        <p:nvSpPr>
          <p:cNvPr id="7" name="Text 5"/>
          <p:cNvSpPr txBox="1"/>
          <p:nvPr/>
        </p:nvSpPr>
        <p:spPr>
          <a:xfrm>
            <a:off x="6492240" y="1645920"/>
            <a:ext cx="1463040" cy="54864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Satisfied</a:t>
            </a:r>
            <a:endParaRPr lang="en-US" sz="1200" dirty="0"/>
          </a:p>
        </p:txBody>
      </p:sp>
      <p:sp>
        <p:nvSpPr>
          <p:cNvPr id="8" name="Text 6"/>
          <p:cNvSpPr txBox="1"/>
          <p:nvPr/>
        </p:nvSpPr>
        <p:spPr>
          <a:xfrm>
            <a:off x="8138160" y="1645920"/>
            <a:ext cx="2011680" cy="54864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Active saying Everest got worse</a:t>
            </a:r>
            <a:endParaRPr lang="en-US" sz="1200" dirty="0"/>
          </a:p>
        </p:txBody>
      </p:sp>
      <p:sp>
        <p:nvSpPr>
          <p:cNvPr id="9" name="Text 7"/>
          <p:cNvSpPr txBox="1"/>
          <p:nvPr/>
        </p:nvSpPr>
        <p:spPr>
          <a:xfrm>
            <a:off x="10332720" y="1645920"/>
            <a:ext cx="1216152" cy="54864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Responses</a:t>
            </a:r>
            <a:endParaRPr lang="en-US" sz="1200" dirty="0"/>
          </a:p>
        </p:txBody>
      </p:sp>
      <p:sp>
        <p:nvSpPr>
          <p:cNvPr id="10" name="Shape 8"/>
          <p:cNvSpPr/>
          <p:nvPr/>
        </p:nvSpPr>
        <p:spPr>
          <a:xfrm>
            <a:off x="576072" y="2194560"/>
            <a:ext cx="2139696" cy="493776"/>
          </a:xfrm>
          <a:prstGeom prst="rect">
            <a:avLst/>
          </a:prstGeom>
          <a:solidFill>
            <a:srgbClr val="F1F3F5"/>
          </a:solidFill>
          <a:ln w="12700">
            <a:solidFill>
              <a:srgbClr val="F1F3F5"/>
            </a:solidFill>
            <a:prstDash val="solid"/>
          </a:ln>
        </p:spPr>
      </p:sp>
      <p:sp>
        <p:nvSpPr>
          <p:cNvPr id="11" name="Text 9"/>
          <p:cNvSpPr txBox="1"/>
          <p:nvPr/>
        </p:nvSpPr>
        <p:spPr>
          <a:xfrm>
            <a:off x="731520" y="219456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Delhi</a:t>
            </a:r>
            <a:endParaRPr lang="en-US" sz="1500" dirty="0"/>
          </a:p>
        </p:txBody>
      </p:sp>
      <p:sp>
        <p:nvSpPr>
          <p:cNvPr id="12" name="Shape 10"/>
          <p:cNvSpPr/>
          <p:nvPr/>
        </p:nvSpPr>
        <p:spPr>
          <a:xfrm>
            <a:off x="2770632" y="2194560"/>
            <a:ext cx="1773936" cy="493776"/>
          </a:xfrm>
          <a:prstGeom prst="rect">
            <a:avLst/>
          </a:prstGeom>
          <a:solidFill>
            <a:srgbClr val="F6D9D3"/>
          </a:solidFill>
          <a:ln w="12700">
            <a:solidFill>
              <a:srgbClr val="F6D9D3"/>
            </a:solidFill>
            <a:prstDash val="solid"/>
          </a:ln>
        </p:spPr>
      </p:sp>
      <p:sp>
        <p:nvSpPr>
          <p:cNvPr id="13" name="Text 11"/>
          <p:cNvSpPr txBox="1"/>
          <p:nvPr/>
        </p:nvSpPr>
        <p:spPr>
          <a:xfrm>
            <a:off x="2926080" y="2194560"/>
            <a:ext cx="1463040" cy="493776"/>
          </a:xfrm>
          <a:prstGeom prst="rect">
            <a:avLst/>
          </a:prstGeom>
          <a:noFill/>
          <a:ln/>
        </p:spPr>
        <p:txBody>
          <a:bodyPr wrap="square" lIns="0" tIns="0" rIns="0" bIns="0" rtlCol="0" anchor="ctr"/>
          <a:lstStyle/>
          <a:p>
            <a:pPr algn="ctr" indent="0" marL="0">
              <a:buNone/>
            </a:pPr>
            <a:r>
              <a:rPr lang="en-US" sz="2000" b="1" dirty="0">
                <a:solidFill>
                  <a:srgbClr val="D9432B"/>
                </a:solidFill>
                <a:latin typeface="Cambria" pitchFamily="34" charset="0"/>
                <a:ea typeface="Cambria" pitchFamily="34" charset="-122"/>
                <a:cs typeface="Cambria" pitchFamily="34" charset="-120"/>
              </a:rPr>
              <a:t>-72</a:t>
            </a:r>
            <a:endParaRPr lang="en-US" sz="2000" dirty="0"/>
          </a:p>
        </p:txBody>
      </p:sp>
      <p:sp>
        <p:nvSpPr>
          <p:cNvPr id="14" name="Shape 12"/>
          <p:cNvSpPr/>
          <p:nvPr/>
        </p:nvSpPr>
        <p:spPr>
          <a:xfrm>
            <a:off x="4599432" y="2194560"/>
            <a:ext cx="1773936" cy="493776"/>
          </a:xfrm>
          <a:prstGeom prst="rect">
            <a:avLst/>
          </a:prstGeom>
          <a:solidFill>
            <a:srgbClr val="F1F3F5"/>
          </a:solidFill>
          <a:ln w="12700">
            <a:solidFill>
              <a:srgbClr val="F1F3F5"/>
            </a:solidFill>
            <a:prstDash val="solid"/>
          </a:ln>
        </p:spPr>
      </p:sp>
      <p:sp>
        <p:nvSpPr>
          <p:cNvPr id="15" name="Text 13"/>
          <p:cNvSpPr txBox="1"/>
          <p:nvPr/>
        </p:nvSpPr>
        <p:spPr>
          <a:xfrm>
            <a:off x="4754880" y="219456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-60</a:t>
            </a:r>
            <a:endParaRPr lang="en-US" sz="2000" dirty="0"/>
          </a:p>
        </p:txBody>
      </p:sp>
      <p:sp>
        <p:nvSpPr>
          <p:cNvPr id="16" name="Shape 14"/>
          <p:cNvSpPr/>
          <p:nvPr/>
        </p:nvSpPr>
        <p:spPr>
          <a:xfrm>
            <a:off x="6428232" y="2194560"/>
            <a:ext cx="1591056" cy="493776"/>
          </a:xfrm>
          <a:prstGeom prst="rect">
            <a:avLst/>
          </a:prstGeom>
          <a:solidFill>
            <a:srgbClr val="F6D9D3"/>
          </a:solidFill>
          <a:ln w="12700">
            <a:solidFill>
              <a:srgbClr val="F6D9D3"/>
            </a:solidFill>
            <a:prstDash val="solid"/>
          </a:ln>
        </p:spPr>
      </p:sp>
      <p:sp>
        <p:nvSpPr>
          <p:cNvPr id="17" name="Text 15"/>
          <p:cNvSpPr txBox="1"/>
          <p:nvPr/>
        </p:nvSpPr>
        <p:spPr>
          <a:xfrm>
            <a:off x="6583680" y="2194560"/>
            <a:ext cx="1280160" cy="493776"/>
          </a:xfrm>
          <a:prstGeom prst="rect">
            <a:avLst/>
          </a:prstGeom>
          <a:noFill/>
          <a:ln/>
        </p:spPr>
        <p:txBody>
          <a:bodyPr wrap="square" lIns="0" tIns="0" rIns="0" bIns="0" rtlCol="0" anchor="ctr"/>
          <a:lstStyle/>
          <a:p>
            <a:pPr algn="ctr" indent="0" marL="0">
              <a:buNone/>
            </a:pPr>
            <a:r>
              <a:rPr lang="en-US" sz="2000" b="1" dirty="0">
                <a:solidFill>
                  <a:srgbClr val="D9432B"/>
                </a:solidFill>
                <a:latin typeface="Cambria" pitchFamily="34" charset="0"/>
                <a:ea typeface="Cambria" pitchFamily="34" charset="-122"/>
                <a:cs typeface="Cambria" pitchFamily="34" charset="-120"/>
              </a:rPr>
              <a:t>19%</a:t>
            </a:r>
            <a:endParaRPr lang="en-US" sz="2000" dirty="0"/>
          </a:p>
        </p:txBody>
      </p:sp>
      <p:sp>
        <p:nvSpPr>
          <p:cNvPr id="18" name="Shape 16"/>
          <p:cNvSpPr/>
          <p:nvPr/>
        </p:nvSpPr>
        <p:spPr>
          <a:xfrm>
            <a:off x="8074152" y="2194560"/>
            <a:ext cx="2139696" cy="493776"/>
          </a:xfrm>
          <a:prstGeom prst="rect">
            <a:avLst/>
          </a:prstGeom>
          <a:solidFill>
            <a:srgbClr val="F6D9D3"/>
          </a:solidFill>
          <a:ln w="12700">
            <a:solidFill>
              <a:srgbClr val="F6D9D3"/>
            </a:solidFill>
            <a:prstDash val="solid"/>
          </a:ln>
        </p:spPr>
      </p:sp>
      <p:sp>
        <p:nvSpPr>
          <p:cNvPr id="19" name="Text 17"/>
          <p:cNvSpPr txBox="1"/>
          <p:nvPr/>
        </p:nvSpPr>
        <p:spPr>
          <a:xfrm>
            <a:off x="8229600" y="2194560"/>
            <a:ext cx="1828800" cy="493776"/>
          </a:xfrm>
          <a:prstGeom prst="rect">
            <a:avLst/>
          </a:prstGeom>
          <a:noFill/>
          <a:ln/>
        </p:spPr>
        <p:txBody>
          <a:bodyPr wrap="square" lIns="0" tIns="0" rIns="0" bIns="0" rtlCol="0" anchor="ctr"/>
          <a:lstStyle/>
          <a:p>
            <a:pPr algn="ctr" indent="0" marL="0">
              <a:buNone/>
            </a:pPr>
            <a:r>
              <a:rPr lang="en-US" sz="2000" b="1" dirty="0">
                <a:solidFill>
                  <a:srgbClr val="D9432B"/>
                </a:solidFill>
                <a:latin typeface="Cambria" pitchFamily="34" charset="0"/>
                <a:ea typeface="Cambria" pitchFamily="34" charset="-122"/>
                <a:cs typeface="Cambria" pitchFamily="34" charset="-120"/>
              </a:rPr>
              <a:t>45%</a:t>
            </a:r>
            <a:endParaRPr lang="en-US" sz="2000" dirty="0"/>
          </a:p>
        </p:txBody>
      </p:sp>
      <p:sp>
        <p:nvSpPr>
          <p:cNvPr id="20" name="Shape 18"/>
          <p:cNvSpPr/>
          <p:nvPr/>
        </p:nvSpPr>
        <p:spPr>
          <a:xfrm>
            <a:off x="10268712" y="2194560"/>
            <a:ext cx="1344168" cy="493776"/>
          </a:xfrm>
          <a:prstGeom prst="rect">
            <a:avLst/>
          </a:prstGeom>
          <a:solidFill>
            <a:srgbClr val="F1F3F5"/>
          </a:solidFill>
          <a:ln w="12700">
            <a:solidFill>
              <a:srgbClr val="F1F3F5"/>
            </a:solidFill>
            <a:prstDash val="solid"/>
          </a:ln>
        </p:spPr>
      </p:sp>
      <p:sp>
        <p:nvSpPr>
          <p:cNvPr id="21" name="Text 19"/>
          <p:cNvSpPr txBox="1"/>
          <p:nvPr/>
        </p:nvSpPr>
        <p:spPr>
          <a:xfrm>
            <a:off x="10424160" y="219456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203</a:t>
            </a:r>
            <a:endParaRPr lang="en-US" sz="1300" dirty="0"/>
          </a:p>
        </p:txBody>
      </p:sp>
      <p:sp>
        <p:nvSpPr>
          <p:cNvPr id="22" name="Shape 20"/>
          <p:cNvSpPr/>
          <p:nvPr/>
        </p:nvSpPr>
        <p:spPr>
          <a:xfrm>
            <a:off x="576072" y="2743200"/>
            <a:ext cx="2139696" cy="493776"/>
          </a:xfrm>
          <a:prstGeom prst="rect">
            <a:avLst/>
          </a:prstGeom>
          <a:solidFill>
            <a:srgbClr val="F1F3F5"/>
          </a:solidFill>
          <a:ln w="12700">
            <a:solidFill>
              <a:srgbClr val="F1F3F5"/>
            </a:solidFill>
            <a:prstDash val="solid"/>
          </a:ln>
        </p:spPr>
      </p:sp>
      <p:sp>
        <p:nvSpPr>
          <p:cNvPr id="23" name="Text 21"/>
          <p:cNvSpPr txBox="1"/>
          <p:nvPr/>
        </p:nvSpPr>
        <p:spPr>
          <a:xfrm>
            <a:off x="731520" y="274320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Kolkata</a:t>
            </a:r>
            <a:endParaRPr lang="en-US" sz="1500" dirty="0"/>
          </a:p>
        </p:txBody>
      </p:sp>
      <p:sp>
        <p:nvSpPr>
          <p:cNvPr id="24" name="Shape 22"/>
          <p:cNvSpPr/>
          <p:nvPr/>
        </p:nvSpPr>
        <p:spPr>
          <a:xfrm>
            <a:off x="2770632" y="2743200"/>
            <a:ext cx="1773936" cy="493776"/>
          </a:xfrm>
          <a:prstGeom prst="rect">
            <a:avLst/>
          </a:prstGeom>
          <a:solidFill>
            <a:srgbClr val="F1F3F5"/>
          </a:solidFill>
          <a:ln w="12700">
            <a:solidFill>
              <a:srgbClr val="F1F3F5"/>
            </a:solidFill>
            <a:prstDash val="solid"/>
          </a:ln>
        </p:spPr>
      </p:sp>
      <p:sp>
        <p:nvSpPr>
          <p:cNvPr id="25" name="Text 23"/>
          <p:cNvSpPr txBox="1"/>
          <p:nvPr/>
        </p:nvSpPr>
        <p:spPr>
          <a:xfrm>
            <a:off x="2926080" y="274320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-67</a:t>
            </a:r>
            <a:endParaRPr lang="en-US" sz="2000" dirty="0"/>
          </a:p>
        </p:txBody>
      </p:sp>
      <p:sp>
        <p:nvSpPr>
          <p:cNvPr id="26" name="Shape 24"/>
          <p:cNvSpPr/>
          <p:nvPr/>
        </p:nvSpPr>
        <p:spPr>
          <a:xfrm>
            <a:off x="4599432" y="2743200"/>
            <a:ext cx="1773936" cy="493776"/>
          </a:xfrm>
          <a:prstGeom prst="rect">
            <a:avLst/>
          </a:prstGeom>
          <a:solidFill>
            <a:srgbClr val="F1F3F5"/>
          </a:solidFill>
          <a:ln w="12700">
            <a:solidFill>
              <a:srgbClr val="F1F3F5"/>
            </a:solidFill>
            <a:prstDash val="solid"/>
          </a:ln>
        </p:spPr>
      </p:sp>
      <p:sp>
        <p:nvSpPr>
          <p:cNvPr id="27" name="Text 25"/>
          <p:cNvSpPr txBox="1"/>
          <p:nvPr/>
        </p:nvSpPr>
        <p:spPr>
          <a:xfrm>
            <a:off x="4754880" y="274320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-56</a:t>
            </a:r>
            <a:endParaRPr lang="en-US" sz="2000" dirty="0"/>
          </a:p>
        </p:txBody>
      </p:sp>
      <p:sp>
        <p:nvSpPr>
          <p:cNvPr id="28" name="Shape 26"/>
          <p:cNvSpPr/>
          <p:nvPr/>
        </p:nvSpPr>
        <p:spPr>
          <a:xfrm>
            <a:off x="6428232" y="2743200"/>
            <a:ext cx="1591056" cy="493776"/>
          </a:xfrm>
          <a:prstGeom prst="rect">
            <a:avLst/>
          </a:prstGeom>
          <a:solidFill>
            <a:srgbClr val="F1F3F5"/>
          </a:solidFill>
          <a:ln w="12700">
            <a:solidFill>
              <a:srgbClr val="F1F3F5"/>
            </a:solidFill>
            <a:prstDash val="solid"/>
          </a:ln>
        </p:spPr>
      </p:sp>
      <p:sp>
        <p:nvSpPr>
          <p:cNvPr id="29" name="Text 27"/>
          <p:cNvSpPr txBox="1"/>
          <p:nvPr/>
        </p:nvSpPr>
        <p:spPr>
          <a:xfrm>
            <a:off x="6583680" y="2743200"/>
            <a:ext cx="128016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31%</a:t>
            </a:r>
            <a:endParaRPr lang="en-US" sz="2000" dirty="0"/>
          </a:p>
        </p:txBody>
      </p:sp>
      <p:sp>
        <p:nvSpPr>
          <p:cNvPr id="30" name="Shape 28"/>
          <p:cNvSpPr/>
          <p:nvPr/>
        </p:nvSpPr>
        <p:spPr>
          <a:xfrm>
            <a:off x="8074152" y="2743200"/>
            <a:ext cx="2139696" cy="493776"/>
          </a:xfrm>
          <a:prstGeom prst="rect">
            <a:avLst/>
          </a:prstGeom>
          <a:solidFill>
            <a:srgbClr val="F1F3F5"/>
          </a:solidFill>
          <a:ln w="12700">
            <a:solidFill>
              <a:srgbClr val="F1F3F5"/>
            </a:solidFill>
            <a:prstDash val="solid"/>
          </a:ln>
        </p:spPr>
      </p:sp>
      <p:sp>
        <p:nvSpPr>
          <p:cNvPr id="31" name="Text 29"/>
          <p:cNvSpPr txBox="1"/>
          <p:nvPr/>
        </p:nvSpPr>
        <p:spPr>
          <a:xfrm>
            <a:off x="8229600" y="2743200"/>
            <a:ext cx="182880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33%</a:t>
            </a:r>
            <a:endParaRPr lang="en-US" sz="2000" dirty="0"/>
          </a:p>
        </p:txBody>
      </p:sp>
      <p:sp>
        <p:nvSpPr>
          <p:cNvPr id="32" name="Shape 30"/>
          <p:cNvSpPr/>
          <p:nvPr/>
        </p:nvSpPr>
        <p:spPr>
          <a:xfrm>
            <a:off x="10268712" y="2743200"/>
            <a:ext cx="1344168" cy="493776"/>
          </a:xfrm>
          <a:prstGeom prst="rect">
            <a:avLst/>
          </a:prstGeom>
          <a:solidFill>
            <a:srgbClr val="F1F3F5"/>
          </a:solidFill>
          <a:ln w="12700">
            <a:solidFill>
              <a:srgbClr val="F1F3F5"/>
            </a:solidFill>
            <a:prstDash val="solid"/>
          </a:ln>
        </p:spPr>
      </p:sp>
      <p:sp>
        <p:nvSpPr>
          <p:cNvPr id="33" name="Text 31"/>
          <p:cNvSpPr txBox="1"/>
          <p:nvPr/>
        </p:nvSpPr>
        <p:spPr>
          <a:xfrm>
            <a:off x="10424160" y="274320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39</a:t>
            </a:r>
            <a:endParaRPr lang="en-US" sz="1300" dirty="0"/>
          </a:p>
        </p:txBody>
      </p:sp>
      <p:sp>
        <p:nvSpPr>
          <p:cNvPr id="34" name="Shape 32"/>
          <p:cNvSpPr/>
          <p:nvPr/>
        </p:nvSpPr>
        <p:spPr>
          <a:xfrm>
            <a:off x="576072" y="3291840"/>
            <a:ext cx="2139696" cy="493776"/>
          </a:xfrm>
          <a:prstGeom prst="rect">
            <a:avLst/>
          </a:prstGeom>
          <a:solidFill>
            <a:srgbClr val="F1F3F5"/>
          </a:solidFill>
          <a:ln w="12700">
            <a:solidFill>
              <a:srgbClr val="F1F3F5"/>
            </a:solidFill>
            <a:prstDash val="solid"/>
          </a:ln>
        </p:spPr>
      </p:sp>
      <p:sp>
        <p:nvSpPr>
          <p:cNvPr id="35" name="Text 33"/>
          <p:cNvSpPr txBox="1"/>
          <p:nvPr/>
        </p:nvSpPr>
        <p:spPr>
          <a:xfrm>
            <a:off x="731520" y="329184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Pune</a:t>
            </a:r>
            <a:endParaRPr lang="en-US" sz="1500" dirty="0"/>
          </a:p>
        </p:txBody>
      </p:sp>
      <p:sp>
        <p:nvSpPr>
          <p:cNvPr id="36" name="Shape 34"/>
          <p:cNvSpPr/>
          <p:nvPr/>
        </p:nvSpPr>
        <p:spPr>
          <a:xfrm>
            <a:off x="2770632" y="3291840"/>
            <a:ext cx="1773936" cy="493776"/>
          </a:xfrm>
          <a:prstGeom prst="rect">
            <a:avLst/>
          </a:prstGeom>
          <a:solidFill>
            <a:srgbClr val="F1F3F5"/>
          </a:solidFill>
          <a:ln w="12700">
            <a:solidFill>
              <a:srgbClr val="F1F3F5"/>
            </a:solidFill>
            <a:prstDash val="solid"/>
          </a:ln>
        </p:spPr>
      </p:sp>
      <p:sp>
        <p:nvSpPr>
          <p:cNvPr id="37" name="Text 35"/>
          <p:cNvSpPr txBox="1"/>
          <p:nvPr/>
        </p:nvSpPr>
        <p:spPr>
          <a:xfrm>
            <a:off x="2926080" y="329184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-54</a:t>
            </a:r>
            <a:endParaRPr lang="en-US" sz="2000" dirty="0"/>
          </a:p>
        </p:txBody>
      </p:sp>
      <p:sp>
        <p:nvSpPr>
          <p:cNvPr id="38" name="Shape 36"/>
          <p:cNvSpPr/>
          <p:nvPr/>
        </p:nvSpPr>
        <p:spPr>
          <a:xfrm>
            <a:off x="4599432" y="3291840"/>
            <a:ext cx="1773936" cy="493776"/>
          </a:xfrm>
          <a:prstGeom prst="rect">
            <a:avLst/>
          </a:prstGeom>
          <a:solidFill>
            <a:srgbClr val="F1F3F5"/>
          </a:solidFill>
          <a:ln w="12700">
            <a:solidFill>
              <a:srgbClr val="F1F3F5"/>
            </a:solidFill>
            <a:prstDash val="solid"/>
          </a:ln>
        </p:spPr>
      </p:sp>
      <p:sp>
        <p:nvSpPr>
          <p:cNvPr id="39" name="Text 37"/>
          <p:cNvSpPr txBox="1"/>
          <p:nvPr/>
        </p:nvSpPr>
        <p:spPr>
          <a:xfrm>
            <a:off x="4754880" y="329184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-60</a:t>
            </a:r>
            <a:endParaRPr lang="en-US" sz="2000" dirty="0"/>
          </a:p>
        </p:txBody>
      </p:sp>
      <p:sp>
        <p:nvSpPr>
          <p:cNvPr id="40" name="Shape 38"/>
          <p:cNvSpPr/>
          <p:nvPr/>
        </p:nvSpPr>
        <p:spPr>
          <a:xfrm>
            <a:off x="6428232" y="3291840"/>
            <a:ext cx="1591056" cy="493776"/>
          </a:xfrm>
          <a:prstGeom prst="rect">
            <a:avLst/>
          </a:prstGeom>
          <a:solidFill>
            <a:srgbClr val="F1F3F5"/>
          </a:solidFill>
          <a:ln w="12700">
            <a:solidFill>
              <a:srgbClr val="F1F3F5"/>
            </a:solidFill>
            <a:prstDash val="solid"/>
          </a:ln>
        </p:spPr>
      </p:sp>
      <p:sp>
        <p:nvSpPr>
          <p:cNvPr id="41" name="Text 39"/>
          <p:cNvSpPr txBox="1"/>
          <p:nvPr/>
        </p:nvSpPr>
        <p:spPr>
          <a:xfrm>
            <a:off x="6583680" y="3291840"/>
            <a:ext cx="128016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27%</a:t>
            </a:r>
            <a:endParaRPr lang="en-US" sz="2000" dirty="0"/>
          </a:p>
        </p:txBody>
      </p:sp>
      <p:sp>
        <p:nvSpPr>
          <p:cNvPr id="42" name="Shape 40"/>
          <p:cNvSpPr/>
          <p:nvPr/>
        </p:nvSpPr>
        <p:spPr>
          <a:xfrm>
            <a:off x="8074152" y="3291840"/>
            <a:ext cx="2139696" cy="493776"/>
          </a:xfrm>
          <a:prstGeom prst="rect">
            <a:avLst/>
          </a:prstGeom>
          <a:solidFill>
            <a:srgbClr val="F1F3F5"/>
          </a:solidFill>
          <a:ln w="12700">
            <a:solidFill>
              <a:srgbClr val="F1F3F5"/>
            </a:solidFill>
            <a:prstDash val="solid"/>
          </a:ln>
        </p:spPr>
      </p:sp>
      <p:sp>
        <p:nvSpPr>
          <p:cNvPr id="43" name="Text 41"/>
          <p:cNvSpPr txBox="1"/>
          <p:nvPr/>
        </p:nvSpPr>
        <p:spPr>
          <a:xfrm>
            <a:off x="8229600" y="3291840"/>
            <a:ext cx="182880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38%</a:t>
            </a:r>
            <a:endParaRPr lang="en-US" sz="2000" dirty="0"/>
          </a:p>
        </p:txBody>
      </p:sp>
      <p:sp>
        <p:nvSpPr>
          <p:cNvPr id="44" name="Shape 42"/>
          <p:cNvSpPr/>
          <p:nvPr/>
        </p:nvSpPr>
        <p:spPr>
          <a:xfrm>
            <a:off x="10268712" y="3291840"/>
            <a:ext cx="1344168" cy="493776"/>
          </a:xfrm>
          <a:prstGeom prst="rect">
            <a:avLst/>
          </a:prstGeom>
          <a:solidFill>
            <a:srgbClr val="F1F3F5"/>
          </a:solidFill>
          <a:ln w="12700">
            <a:solidFill>
              <a:srgbClr val="F1F3F5"/>
            </a:solidFill>
            <a:prstDash val="solid"/>
          </a:ln>
        </p:spPr>
      </p:sp>
      <p:sp>
        <p:nvSpPr>
          <p:cNvPr id="45" name="Text 43"/>
          <p:cNvSpPr txBox="1"/>
          <p:nvPr/>
        </p:nvSpPr>
        <p:spPr>
          <a:xfrm>
            <a:off x="10424160" y="329184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81</a:t>
            </a:r>
            <a:endParaRPr lang="en-US" sz="1300" dirty="0"/>
          </a:p>
        </p:txBody>
      </p:sp>
      <p:sp>
        <p:nvSpPr>
          <p:cNvPr id="46" name="Shape 44"/>
          <p:cNvSpPr/>
          <p:nvPr/>
        </p:nvSpPr>
        <p:spPr>
          <a:xfrm>
            <a:off x="576072" y="3840480"/>
            <a:ext cx="2139696" cy="493776"/>
          </a:xfrm>
          <a:prstGeom prst="rect">
            <a:avLst/>
          </a:prstGeom>
          <a:solidFill>
            <a:srgbClr val="F1F3F5"/>
          </a:solidFill>
          <a:ln w="12700">
            <a:solidFill>
              <a:srgbClr val="F1F3F5"/>
            </a:solidFill>
            <a:prstDash val="solid"/>
          </a:ln>
        </p:spPr>
      </p:sp>
      <p:sp>
        <p:nvSpPr>
          <p:cNvPr id="47" name="Text 45"/>
          <p:cNvSpPr txBox="1"/>
          <p:nvPr/>
        </p:nvSpPr>
        <p:spPr>
          <a:xfrm>
            <a:off x="731520" y="384048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Mumbai</a:t>
            </a:r>
            <a:endParaRPr lang="en-US" sz="1500" dirty="0"/>
          </a:p>
        </p:txBody>
      </p:sp>
      <p:sp>
        <p:nvSpPr>
          <p:cNvPr id="48" name="Shape 46"/>
          <p:cNvSpPr/>
          <p:nvPr/>
        </p:nvSpPr>
        <p:spPr>
          <a:xfrm>
            <a:off x="2770632" y="3840480"/>
            <a:ext cx="1773936" cy="493776"/>
          </a:xfrm>
          <a:prstGeom prst="rect">
            <a:avLst/>
          </a:prstGeom>
          <a:solidFill>
            <a:srgbClr val="F1F3F5"/>
          </a:solidFill>
          <a:ln w="12700">
            <a:solidFill>
              <a:srgbClr val="F1F3F5"/>
            </a:solidFill>
            <a:prstDash val="solid"/>
          </a:ln>
        </p:spPr>
      </p:sp>
      <p:sp>
        <p:nvSpPr>
          <p:cNvPr id="49" name="Text 47"/>
          <p:cNvSpPr txBox="1"/>
          <p:nvPr/>
        </p:nvSpPr>
        <p:spPr>
          <a:xfrm>
            <a:off x="2926080" y="384048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-53</a:t>
            </a:r>
            <a:endParaRPr lang="en-US" sz="2000" dirty="0"/>
          </a:p>
        </p:txBody>
      </p:sp>
      <p:sp>
        <p:nvSpPr>
          <p:cNvPr id="50" name="Shape 48"/>
          <p:cNvSpPr/>
          <p:nvPr/>
        </p:nvSpPr>
        <p:spPr>
          <a:xfrm>
            <a:off x="4599432" y="3840480"/>
            <a:ext cx="1773936" cy="493776"/>
          </a:xfrm>
          <a:prstGeom prst="rect">
            <a:avLst/>
          </a:prstGeom>
          <a:solidFill>
            <a:srgbClr val="DDEFEC"/>
          </a:solidFill>
          <a:ln w="12700">
            <a:solidFill>
              <a:srgbClr val="DDEFEC"/>
            </a:solidFill>
            <a:prstDash val="solid"/>
          </a:ln>
        </p:spPr>
      </p:sp>
      <p:sp>
        <p:nvSpPr>
          <p:cNvPr id="51" name="Text 49"/>
          <p:cNvSpPr txBox="1"/>
          <p:nvPr/>
        </p:nvSpPr>
        <p:spPr>
          <a:xfrm>
            <a:off x="4754880" y="3840480"/>
            <a:ext cx="1463040" cy="493776"/>
          </a:xfrm>
          <a:prstGeom prst="rect">
            <a:avLst/>
          </a:prstGeom>
          <a:noFill/>
          <a:ln/>
        </p:spPr>
        <p:txBody>
          <a:bodyPr wrap="square" lIns="0" tIns="0" rIns="0" bIns="0" rtlCol="0" anchor="ctr"/>
          <a:lstStyle/>
          <a:p>
            <a:pPr algn="ctr" indent="0" marL="0">
              <a:buNone/>
            </a:pPr>
            <a:r>
              <a:rPr lang="en-US" sz="2000" b="1" dirty="0">
                <a:solidFill>
                  <a:srgbClr val="1F7A70"/>
                </a:solidFill>
                <a:latin typeface="Cambria" pitchFamily="34" charset="0"/>
                <a:ea typeface="Cambria" pitchFamily="34" charset="-122"/>
                <a:cs typeface="Cambria" pitchFamily="34" charset="-120"/>
              </a:rPr>
              <a:t>-46</a:t>
            </a:r>
            <a:endParaRPr lang="en-US" sz="2000" dirty="0"/>
          </a:p>
        </p:txBody>
      </p:sp>
      <p:sp>
        <p:nvSpPr>
          <p:cNvPr id="52" name="Shape 50"/>
          <p:cNvSpPr/>
          <p:nvPr/>
        </p:nvSpPr>
        <p:spPr>
          <a:xfrm>
            <a:off x="6428232" y="3840480"/>
            <a:ext cx="1591056" cy="493776"/>
          </a:xfrm>
          <a:prstGeom prst="rect">
            <a:avLst/>
          </a:prstGeom>
          <a:solidFill>
            <a:srgbClr val="F1F3F5"/>
          </a:solidFill>
          <a:ln w="12700">
            <a:solidFill>
              <a:srgbClr val="F1F3F5"/>
            </a:solidFill>
            <a:prstDash val="solid"/>
          </a:ln>
        </p:spPr>
      </p:sp>
      <p:sp>
        <p:nvSpPr>
          <p:cNvPr id="53" name="Text 51"/>
          <p:cNvSpPr txBox="1"/>
          <p:nvPr/>
        </p:nvSpPr>
        <p:spPr>
          <a:xfrm>
            <a:off x="6583680" y="3840480"/>
            <a:ext cx="128016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27%</a:t>
            </a:r>
            <a:endParaRPr lang="en-US" sz="2000" dirty="0"/>
          </a:p>
        </p:txBody>
      </p:sp>
      <p:sp>
        <p:nvSpPr>
          <p:cNvPr id="54" name="Shape 52"/>
          <p:cNvSpPr/>
          <p:nvPr/>
        </p:nvSpPr>
        <p:spPr>
          <a:xfrm>
            <a:off x="8074152" y="3840480"/>
            <a:ext cx="2139696" cy="493776"/>
          </a:xfrm>
          <a:prstGeom prst="rect">
            <a:avLst/>
          </a:prstGeom>
          <a:solidFill>
            <a:srgbClr val="F1F3F5"/>
          </a:solidFill>
          <a:ln w="12700">
            <a:solidFill>
              <a:srgbClr val="F1F3F5"/>
            </a:solidFill>
            <a:prstDash val="solid"/>
          </a:ln>
        </p:spPr>
      </p:sp>
      <p:sp>
        <p:nvSpPr>
          <p:cNvPr id="55" name="Text 53"/>
          <p:cNvSpPr txBox="1"/>
          <p:nvPr/>
        </p:nvSpPr>
        <p:spPr>
          <a:xfrm>
            <a:off x="8229600" y="3840480"/>
            <a:ext cx="182880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38%</a:t>
            </a:r>
            <a:endParaRPr lang="en-US" sz="2000" dirty="0"/>
          </a:p>
        </p:txBody>
      </p:sp>
      <p:sp>
        <p:nvSpPr>
          <p:cNvPr id="56" name="Shape 54"/>
          <p:cNvSpPr/>
          <p:nvPr/>
        </p:nvSpPr>
        <p:spPr>
          <a:xfrm>
            <a:off x="10268712" y="3840480"/>
            <a:ext cx="1344168" cy="493776"/>
          </a:xfrm>
          <a:prstGeom prst="rect">
            <a:avLst/>
          </a:prstGeom>
          <a:solidFill>
            <a:srgbClr val="F1F3F5"/>
          </a:solidFill>
          <a:ln w="12700">
            <a:solidFill>
              <a:srgbClr val="F1F3F5"/>
            </a:solidFill>
            <a:prstDash val="solid"/>
          </a:ln>
        </p:spPr>
      </p:sp>
      <p:sp>
        <p:nvSpPr>
          <p:cNvPr id="57" name="Text 55"/>
          <p:cNvSpPr txBox="1"/>
          <p:nvPr/>
        </p:nvSpPr>
        <p:spPr>
          <a:xfrm>
            <a:off x="10424160" y="384048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174</a:t>
            </a:r>
            <a:endParaRPr lang="en-US" sz="1300" dirty="0"/>
          </a:p>
        </p:txBody>
      </p:sp>
      <p:sp>
        <p:nvSpPr>
          <p:cNvPr id="58" name="Shape 56"/>
          <p:cNvSpPr/>
          <p:nvPr/>
        </p:nvSpPr>
        <p:spPr>
          <a:xfrm>
            <a:off x="576072" y="4389120"/>
            <a:ext cx="2139696" cy="493776"/>
          </a:xfrm>
          <a:prstGeom prst="rect">
            <a:avLst/>
          </a:prstGeom>
          <a:solidFill>
            <a:srgbClr val="F1F3F5"/>
          </a:solidFill>
          <a:ln w="12700">
            <a:solidFill>
              <a:srgbClr val="F1F3F5"/>
            </a:solidFill>
            <a:prstDash val="solid"/>
          </a:ln>
        </p:spPr>
      </p:sp>
      <p:sp>
        <p:nvSpPr>
          <p:cNvPr id="59" name="Text 57"/>
          <p:cNvSpPr txBox="1"/>
          <p:nvPr/>
        </p:nvSpPr>
        <p:spPr>
          <a:xfrm>
            <a:off x="731520" y="438912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Chennai</a:t>
            </a:r>
            <a:endParaRPr lang="en-US" sz="1500" dirty="0"/>
          </a:p>
        </p:txBody>
      </p:sp>
      <p:sp>
        <p:nvSpPr>
          <p:cNvPr id="60" name="Shape 58"/>
          <p:cNvSpPr/>
          <p:nvPr/>
        </p:nvSpPr>
        <p:spPr>
          <a:xfrm>
            <a:off x="2770632" y="4389120"/>
            <a:ext cx="1773936" cy="493776"/>
          </a:xfrm>
          <a:prstGeom prst="rect">
            <a:avLst/>
          </a:prstGeom>
          <a:solidFill>
            <a:srgbClr val="F1F3F5"/>
          </a:solidFill>
          <a:ln w="12700">
            <a:solidFill>
              <a:srgbClr val="F1F3F5"/>
            </a:solidFill>
            <a:prstDash val="solid"/>
          </a:ln>
        </p:spPr>
      </p:sp>
      <p:sp>
        <p:nvSpPr>
          <p:cNvPr id="61" name="Text 59"/>
          <p:cNvSpPr txBox="1"/>
          <p:nvPr/>
        </p:nvSpPr>
        <p:spPr>
          <a:xfrm>
            <a:off x="2926080" y="438912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-53</a:t>
            </a:r>
            <a:endParaRPr lang="en-US" sz="2000" dirty="0"/>
          </a:p>
        </p:txBody>
      </p:sp>
      <p:sp>
        <p:nvSpPr>
          <p:cNvPr id="62" name="Shape 60"/>
          <p:cNvSpPr/>
          <p:nvPr/>
        </p:nvSpPr>
        <p:spPr>
          <a:xfrm>
            <a:off x="4599432" y="4389120"/>
            <a:ext cx="1773936" cy="493776"/>
          </a:xfrm>
          <a:prstGeom prst="rect">
            <a:avLst/>
          </a:prstGeom>
          <a:solidFill>
            <a:srgbClr val="F1F3F5"/>
          </a:solidFill>
          <a:ln w="12700">
            <a:solidFill>
              <a:srgbClr val="F1F3F5"/>
            </a:solidFill>
            <a:prstDash val="solid"/>
          </a:ln>
        </p:spPr>
      </p:sp>
      <p:sp>
        <p:nvSpPr>
          <p:cNvPr id="63" name="Text 61"/>
          <p:cNvSpPr txBox="1"/>
          <p:nvPr/>
        </p:nvSpPr>
        <p:spPr>
          <a:xfrm>
            <a:off x="4754880" y="438912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-67</a:t>
            </a:r>
            <a:endParaRPr lang="en-US" sz="2000" dirty="0"/>
          </a:p>
        </p:txBody>
      </p:sp>
      <p:sp>
        <p:nvSpPr>
          <p:cNvPr id="64" name="Shape 62"/>
          <p:cNvSpPr/>
          <p:nvPr/>
        </p:nvSpPr>
        <p:spPr>
          <a:xfrm>
            <a:off x="6428232" y="4389120"/>
            <a:ext cx="1591056" cy="493776"/>
          </a:xfrm>
          <a:prstGeom prst="rect">
            <a:avLst/>
          </a:prstGeom>
          <a:solidFill>
            <a:srgbClr val="F1F3F5"/>
          </a:solidFill>
          <a:ln w="12700">
            <a:solidFill>
              <a:srgbClr val="F1F3F5"/>
            </a:solidFill>
            <a:prstDash val="solid"/>
          </a:ln>
        </p:spPr>
      </p:sp>
      <p:sp>
        <p:nvSpPr>
          <p:cNvPr id="65" name="Text 63"/>
          <p:cNvSpPr txBox="1"/>
          <p:nvPr/>
        </p:nvSpPr>
        <p:spPr>
          <a:xfrm>
            <a:off x="6583680" y="4389120"/>
            <a:ext cx="128016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27%</a:t>
            </a:r>
            <a:endParaRPr lang="en-US" sz="2000" dirty="0"/>
          </a:p>
        </p:txBody>
      </p:sp>
      <p:sp>
        <p:nvSpPr>
          <p:cNvPr id="66" name="Shape 64"/>
          <p:cNvSpPr/>
          <p:nvPr/>
        </p:nvSpPr>
        <p:spPr>
          <a:xfrm>
            <a:off x="8074152" y="4389120"/>
            <a:ext cx="2139696" cy="493776"/>
          </a:xfrm>
          <a:prstGeom prst="rect">
            <a:avLst/>
          </a:prstGeom>
          <a:solidFill>
            <a:srgbClr val="F1F3F5"/>
          </a:solidFill>
          <a:ln w="12700">
            <a:solidFill>
              <a:srgbClr val="F1F3F5"/>
            </a:solidFill>
            <a:prstDash val="solid"/>
          </a:ln>
        </p:spPr>
      </p:sp>
      <p:sp>
        <p:nvSpPr>
          <p:cNvPr id="67" name="Text 65"/>
          <p:cNvSpPr txBox="1"/>
          <p:nvPr/>
        </p:nvSpPr>
        <p:spPr>
          <a:xfrm>
            <a:off x="8229600" y="4389120"/>
            <a:ext cx="182880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36%</a:t>
            </a:r>
            <a:endParaRPr lang="en-US" sz="2000" dirty="0"/>
          </a:p>
        </p:txBody>
      </p:sp>
      <p:sp>
        <p:nvSpPr>
          <p:cNvPr id="68" name="Shape 66"/>
          <p:cNvSpPr/>
          <p:nvPr/>
        </p:nvSpPr>
        <p:spPr>
          <a:xfrm>
            <a:off x="10268712" y="4389120"/>
            <a:ext cx="1344168" cy="493776"/>
          </a:xfrm>
          <a:prstGeom prst="rect">
            <a:avLst/>
          </a:prstGeom>
          <a:solidFill>
            <a:srgbClr val="F1F3F5"/>
          </a:solidFill>
          <a:ln w="12700">
            <a:solidFill>
              <a:srgbClr val="F1F3F5"/>
            </a:solidFill>
            <a:prstDash val="solid"/>
          </a:ln>
        </p:spPr>
      </p:sp>
      <p:sp>
        <p:nvSpPr>
          <p:cNvPr id="69" name="Text 67"/>
          <p:cNvSpPr txBox="1"/>
          <p:nvPr/>
        </p:nvSpPr>
        <p:spPr>
          <a:xfrm>
            <a:off x="10424160" y="438912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134</a:t>
            </a:r>
            <a:endParaRPr lang="en-US" sz="1300" dirty="0"/>
          </a:p>
        </p:txBody>
      </p:sp>
      <p:sp>
        <p:nvSpPr>
          <p:cNvPr id="70" name="Shape 68"/>
          <p:cNvSpPr/>
          <p:nvPr/>
        </p:nvSpPr>
        <p:spPr>
          <a:xfrm>
            <a:off x="576072" y="4937760"/>
            <a:ext cx="2139696" cy="493776"/>
          </a:xfrm>
          <a:prstGeom prst="rect">
            <a:avLst/>
          </a:prstGeom>
          <a:solidFill>
            <a:srgbClr val="F1F3F5"/>
          </a:solidFill>
          <a:ln w="12700">
            <a:solidFill>
              <a:srgbClr val="F1F3F5"/>
            </a:solidFill>
            <a:prstDash val="solid"/>
          </a:ln>
        </p:spPr>
      </p:sp>
      <p:sp>
        <p:nvSpPr>
          <p:cNvPr id="71" name="Text 69"/>
          <p:cNvSpPr txBox="1"/>
          <p:nvPr/>
        </p:nvSpPr>
        <p:spPr>
          <a:xfrm>
            <a:off x="731520" y="493776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Hyderabad</a:t>
            </a:r>
            <a:endParaRPr lang="en-US" sz="1500" dirty="0"/>
          </a:p>
        </p:txBody>
      </p:sp>
      <p:sp>
        <p:nvSpPr>
          <p:cNvPr id="72" name="Shape 70"/>
          <p:cNvSpPr/>
          <p:nvPr/>
        </p:nvSpPr>
        <p:spPr>
          <a:xfrm>
            <a:off x="2770632" y="4937760"/>
            <a:ext cx="1773936" cy="493776"/>
          </a:xfrm>
          <a:prstGeom prst="rect">
            <a:avLst/>
          </a:prstGeom>
          <a:solidFill>
            <a:srgbClr val="F1F3F5"/>
          </a:solidFill>
          <a:ln w="12700">
            <a:solidFill>
              <a:srgbClr val="F1F3F5"/>
            </a:solidFill>
            <a:prstDash val="solid"/>
          </a:ln>
        </p:spPr>
      </p:sp>
      <p:sp>
        <p:nvSpPr>
          <p:cNvPr id="73" name="Text 71"/>
          <p:cNvSpPr txBox="1"/>
          <p:nvPr/>
        </p:nvSpPr>
        <p:spPr>
          <a:xfrm>
            <a:off x="2926080" y="493776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-44</a:t>
            </a:r>
            <a:endParaRPr lang="en-US" sz="2000" dirty="0"/>
          </a:p>
        </p:txBody>
      </p:sp>
      <p:sp>
        <p:nvSpPr>
          <p:cNvPr id="74" name="Shape 72"/>
          <p:cNvSpPr/>
          <p:nvPr/>
        </p:nvSpPr>
        <p:spPr>
          <a:xfrm>
            <a:off x="4599432" y="4937760"/>
            <a:ext cx="1773936" cy="493776"/>
          </a:xfrm>
          <a:prstGeom prst="rect">
            <a:avLst/>
          </a:prstGeom>
          <a:solidFill>
            <a:srgbClr val="F6D9D3"/>
          </a:solidFill>
          <a:ln w="12700">
            <a:solidFill>
              <a:srgbClr val="F6D9D3"/>
            </a:solidFill>
            <a:prstDash val="solid"/>
          </a:ln>
        </p:spPr>
      </p:sp>
      <p:sp>
        <p:nvSpPr>
          <p:cNvPr id="75" name="Text 73"/>
          <p:cNvSpPr txBox="1"/>
          <p:nvPr/>
        </p:nvSpPr>
        <p:spPr>
          <a:xfrm>
            <a:off x="4754880" y="4937760"/>
            <a:ext cx="1463040" cy="493776"/>
          </a:xfrm>
          <a:prstGeom prst="rect">
            <a:avLst/>
          </a:prstGeom>
          <a:noFill/>
          <a:ln/>
        </p:spPr>
        <p:txBody>
          <a:bodyPr wrap="square" lIns="0" tIns="0" rIns="0" bIns="0" rtlCol="0" anchor="ctr"/>
          <a:lstStyle/>
          <a:p>
            <a:pPr algn="ctr" indent="0" marL="0">
              <a:buNone/>
            </a:pPr>
            <a:r>
              <a:rPr lang="en-US" sz="2000" b="1" dirty="0">
                <a:solidFill>
                  <a:srgbClr val="D9432B"/>
                </a:solidFill>
                <a:latin typeface="Cambria" pitchFamily="34" charset="0"/>
                <a:ea typeface="Cambria" pitchFamily="34" charset="-122"/>
                <a:cs typeface="Cambria" pitchFamily="34" charset="-120"/>
              </a:rPr>
              <a:t>-77</a:t>
            </a:r>
            <a:endParaRPr lang="en-US" sz="2000" dirty="0"/>
          </a:p>
        </p:txBody>
      </p:sp>
      <p:sp>
        <p:nvSpPr>
          <p:cNvPr id="76" name="Shape 74"/>
          <p:cNvSpPr/>
          <p:nvPr/>
        </p:nvSpPr>
        <p:spPr>
          <a:xfrm>
            <a:off x="6428232" y="4937760"/>
            <a:ext cx="1591056" cy="493776"/>
          </a:xfrm>
          <a:prstGeom prst="rect">
            <a:avLst/>
          </a:prstGeom>
          <a:solidFill>
            <a:srgbClr val="F1F3F5"/>
          </a:solidFill>
          <a:ln w="12700">
            <a:solidFill>
              <a:srgbClr val="F1F3F5"/>
            </a:solidFill>
            <a:prstDash val="solid"/>
          </a:ln>
        </p:spPr>
      </p:sp>
      <p:sp>
        <p:nvSpPr>
          <p:cNvPr id="77" name="Text 75"/>
          <p:cNvSpPr txBox="1"/>
          <p:nvPr/>
        </p:nvSpPr>
        <p:spPr>
          <a:xfrm>
            <a:off x="6583680" y="4937760"/>
            <a:ext cx="128016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20%</a:t>
            </a:r>
            <a:endParaRPr lang="en-US" sz="2000" dirty="0"/>
          </a:p>
        </p:txBody>
      </p:sp>
      <p:sp>
        <p:nvSpPr>
          <p:cNvPr id="78" name="Shape 76"/>
          <p:cNvSpPr/>
          <p:nvPr/>
        </p:nvSpPr>
        <p:spPr>
          <a:xfrm>
            <a:off x="8074152" y="4937760"/>
            <a:ext cx="2139696" cy="493776"/>
          </a:xfrm>
          <a:prstGeom prst="rect">
            <a:avLst/>
          </a:prstGeom>
          <a:solidFill>
            <a:srgbClr val="F1F3F5"/>
          </a:solidFill>
          <a:ln w="12700">
            <a:solidFill>
              <a:srgbClr val="F1F3F5"/>
            </a:solidFill>
            <a:prstDash val="solid"/>
          </a:ln>
        </p:spPr>
      </p:sp>
      <p:sp>
        <p:nvSpPr>
          <p:cNvPr id="79" name="Text 77"/>
          <p:cNvSpPr txBox="1"/>
          <p:nvPr/>
        </p:nvSpPr>
        <p:spPr>
          <a:xfrm>
            <a:off x="8229600" y="4937760"/>
            <a:ext cx="182880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41%</a:t>
            </a:r>
            <a:endParaRPr lang="en-US" sz="2000" dirty="0"/>
          </a:p>
        </p:txBody>
      </p:sp>
      <p:sp>
        <p:nvSpPr>
          <p:cNvPr id="80" name="Shape 78"/>
          <p:cNvSpPr/>
          <p:nvPr/>
        </p:nvSpPr>
        <p:spPr>
          <a:xfrm>
            <a:off x="10268712" y="4937760"/>
            <a:ext cx="1344168" cy="493776"/>
          </a:xfrm>
          <a:prstGeom prst="rect">
            <a:avLst/>
          </a:prstGeom>
          <a:solidFill>
            <a:srgbClr val="F1F3F5"/>
          </a:solidFill>
          <a:ln w="12700">
            <a:solidFill>
              <a:srgbClr val="F1F3F5"/>
            </a:solidFill>
            <a:prstDash val="solid"/>
          </a:ln>
        </p:spPr>
      </p:sp>
      <p:sp>
        <p:nvSpPr>
          <p:cNvPr id="81" name="Text 79"/>
          <p:cNvSpPr txBox="1"/>
          <p:nvPr/>
        </p:nvSpPr>
        <p:spPr>
          <a:xfrm>
            <a:off x="10424160" y="493776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142</a:t>
            </a:r>
            <a:endParaRPr lang="en-US" sz="1300" dirty="0"/>
          </a:p>
        </p:txBody>
      </p:sp>
      <p:sp>
        <p:nvSpPr>
          <p:cNvPr id="82" name="Shape 80"/>
          <p:cNvSpPr/>
          <p:nvPr/>
        </p:nvSpPr>
        <p:spPr>
          <a:xfrm>
            <a:off x="576072" y="5486400"/>
            <a:ext cx="2139696" cy="493776"/>
          </a:xfrm>
          <a:prstGeom prst="rect">
            <a:avLst/>
          </a:prstGeom>
          <a:solidFill>
            <a:srgbClr val="F1F3F5"/>
          </a:solidFill>
          <a:ln w="12700">
            <a:solidFill>
              <a:srgbClr val="F1F3F5"/>
            </a:solidFill>
            <a:prstDash val="solid"/>
          </a:ln>
        </p:spPr>
      </p:sp>
      <p:sp>
        <p:nvSpPr>
          <p:cNvPr id="83" name="Text 81"/>
          <p:cNvSpPr txBox="1"/>
          <p:nvPr/>
        </p:nvSpPr>
        <p:spPr>
          <a:xfrm>
            <a:off x="731520" y="5486400"/>
            <a:ext cx="1828800" cy="493776"/>
          </a:xfrm>
          <a:prstGeom prst="rect">
            <a:avLst/>
          </a:prstGeom>
          <a:noFill/>
          <a:ln/>
        </p:spPr>
        <p:txBody>
          <a:bodyPr wrap="square" lIns="0" tIns="0" rIns="0" bIns="0" rtlCol="0" anchor="ctr"/>
          <a:lstStyle/>
          <a:p>
            <a:pPr algn="l" indent="0" marL="0">
              <a:buNone/>
            </a:pPr>
            <a:r>
              <a:rPr lang="en-US" sz="1500" b="1" dirty="0">
                <a:solidFill>
                  <a:srgbClr val="18222B"/>
                </a:solidFill>
                <a:latin typeface="Calibri" pitchFamily="34" charset="0"/>
                <a:ea typeface="Calibri" pitchFamily="34" charset="-122"/>
                <a:cs typeface="Calibri" pitchFamily="34" charset="-120"/>
              </a:rPr>
              <a:t>Bangalore</a:t>
            </a:r>
            <a:endParaRPr lang="en-US" sz="1500" dirty="0"/>
          </a:p>
        </p:txBody>
      </p:sp>
      <p:sp>
        <p:nvSpPr>
          <p:cNvPr id="84" name="Shape 82"/>
          <p:cNvSpPr/>
          <p:nvPr/>
        </p:nvSpPr>
        <p:spPr>
          <a:xfrm>
            <a:off x="2770632" y="5486400"/>
            <a:ext cx="1773936" cy="493776"/>
          </a:xfrm>
          <a:prstGeom prst="rect">
            <a:avLst/>
          </a:prstGeom>
          <a:solidFill>
            <a:srgbClr val="DDEFEC"/>
          </a:solidFill>
          <a:ln w="12700">
            <a:solidFill>
              <a:srgbClr val="DDEFEC"/>
            </a:solidFill>
            <a:prstDash val="solid"/>
          </a:ln>
        </p:spPr>
      </p:sp>
      <p:sp>
        <p:nvSpPr>
          <p:cNvPr id="85" name="Text 83"/>
          <p:cNvSpPr txBox="1"/>
          <p:nvPr/>
        </p:nvSpPr>
        <p:spPr>
          <a:xfrm>
            <a:off x="2926080" y="5486400"/>
            <a:ext cx="1463040" cy="493776"/>
          </a:xfrm>
          <a:prstGeom prst="rect">
            <a:avLst/>
          </a:prstGeom>
          <a:noFill/>
          <a:ln/>
        </p:spPr>
        <p:txBody>
          <a:bodyPr wrap="square" lIns="0" tIns="0" rIns="0" bIns="0" rtlCol="0" anchor="ctr"/>
          <a:lstStyle/>
          <a:p>
            <a:pPr algn="ctr" indent="0" marL="0">
              <a:buNone/>
            </a:pPr>
            <a:r>
              <a:rPr lang="en-US" sz="2000" b="1" dirty="0">
                <a:solidFill>
                  <a:srgbClr val="1F7A70"/>
                </a:solidFill>
                <a:latin typeface="Cambria" pitchFamily="34" charset="0"/>
                <a:ea typeface="Cambria" pitchFamily="34" charset="-122"/>
                <a:cs typeface="Cambria" pitchFamily="34" charset="-120"/>
              </a:rPr>
              <a:t>-26</a:t>
            </a:r>
            <a:endParaRPr lang="en-US" sz="2000" dirty="0"/>
          </a:p>
        </p:txBody>
      </p:sp>
      <p:sp>
        <p:nvSpPr>
          <p:cNvPr id="86" name="Shape 84"/>
          <p:cNvSpPr/>
          <p:nvPr/>
        </p:nvSpPr>
        <p:spPr>
          <a:xfrm>
            <a:off x="4599432" y="5486400"/>
            <a:ext cx="1773936" cy="493776"/>
          </a:xfrm>
          <a:prstGeom prst="rect">
            <a:avLst/>
          </a:prstGeom>
          <a:solidFill>
            <a:srgbClr val="F1F3F5"/>
          </a:solidFill>
          <a:ln w="12700">
            <a:solidFill>
              <a:srgbClr val="F1F3F5"/>
            </a:solidFill>
            <a:prstDash val="solid"/>
          </a:ln>
        </p:spPr>
      </p:sp>
      <p:sp>
        <p:nvSpPr>
          <p:cNvPr id="87" name="Text 85"/>
          <p:cNvSpPr txBox="1"/>
          <p:nvPr/>
        </p:nvSpPr>
        <p:spPr>
          <a:xfrm>
            <a:off x="4754880" y="5486400"/>
            <a:ext cx="1463040" cy="493776"/>
          </a:xfrm>
          <a:prstGeom prst="rect">
            <a:avLst/>
          </a:prstGeom>
          <a:noFill/>
          <a:ln/>
        </p:spPr>
        <p:txBody>
          <a:bodyPr wrap="square" lIns="0" tIns="0" rIns="0" bIns="0" rtlCol="0" anchor="ctr"/>
          <a:lstStyle/>
          <a:p>
            <a:pPr algn="ctr" indent="0" marL="0">
              <a:buNone/>
            </a:pPr>
            <a:r>
              <a:rPr lang="en-US" sz="2000" b="1" dirty="0">
                <a:solidFill>
                  <a:srgbClr val="18222B"/>
                </a:solidFill>
                <a:latin typeface="Cambria" pitchFamily="34" charset="0"/>
                <a:ea typeface="Cambria" pitchFamily="34" charset="-122"/>
                <a:cs typeface="Cambria" pitchFamily="34" charset="-120"/>
              </a:rPr>
              <a:t>-70</a:t>
            </a:r>
            <a:endParaRPr lang="en-US" sz="2000" dirty="0"/>
          </a:p>
        </p:txBody>
      </p:sp>
      <p:sp>
        <p:nvSpPr>
          <p:cNvPr id="88" name="Shape 86"/>
          <p:cNvSpPr/>
          <p:nvPr/>
        </p:nvSpPr>
        <p:spPr>
          <a:xfrm>
            <a:off x="6428232" y="5486400"/>
            <a:ext cx="1591056" cy="493776"/>
          </a:xfrm>
          <a:prstGeom prst="rect">
            <a:avLst/>
          </a:prstGeom>
          <a:solidFill>
            <a:srgbClr val="DDEFEC"/>
          </a:solidFill>
          <a:ln w="12700">
            <a:solidFill>
              <a:srgbClr val="DDEFEC"/>
            </a:solidFill>
            <a:prstDash val="solid"/>
          </a:ln>
        </p:spPr>
      </p:sp>
      <p:sp>
        <p:nvSpPr>
          <p:cNvPr id="89" name="Text 87"/>
          <p:cNvSpPr txBox="1"/>
          <p:nvPr/>
        </p:nvSpPr>
        <p:spPr>
          <a:xfrm>
            <a:off x="6583680" y="5486400"/>
            <a:ext cx="1280160" cy="493776"/>
          </a:xfrm>
          <a:prstGeom prst="rect">
            <a:avLst/>
          </a:prstGeom>
          <a:noFill/>
          <a:ln/>
        </p:spPr>
        <p:txBody>
          <a:bodyPr wrap="square" lIns="0" tIns="0" rIns="0" bIns="0" rtlCol="0" anchor="ctr"/>
          <a:lstStyle/>
          <a:p>
            <a:pPr algn="ctr" indent="0" marL="0">
              <a:buNone/>
            </a:pPr>
            <a:r>
              <a:rPr lang="en-US" sz="2000" b="1" dirty="0">
                <a:solidFill>
                  <a:srgbClr val="1F7A70"/>
                </a:solidFill>
                <a:latin typeface="Cambria" pitchFamily="34" charset="0"/>
                <a:ea typeface="Cambria" pitchFamily="34" charset="-122"/>
                <a:cs typeface="Cambria" pitchFamily="34" charset="-120"/>
              </a:rPr>
              <a:t>45%</a:t>
            </a:r>
            <a:endParaRPr lang="en-US" sz="2000" dirty="0"/>
          </a:p>
        </p:txBody>
      </p:sp>
      <p:sp>
        <p:nvSpPr>
          <p:cNvPr id="90" name="Shape 88"/>
          <p:cNvSpPr/>
          <p:nvPr/>
        </p:nvSpPr>
        <p:spPr>
          <a:xfrm>
            <a:off x="8074152" y="5486400"/>
            <a:ext cx="2139696" cy="493776"/>
          </a:xfrm>
          <a:prstGeom prst="rect">
            <a:avLst/>
          </a:prstGeom>
          <a:solidFill>
            <a:srgbClr val="DDEFEC"/>
          </a:solidFill>
          <a:ln w="12700">
            <a:solidFill>
              <a:srgbClr val="DDEFEC"/>
            </a:solidFill>
            <a:prstDash val="solid"/>
          </a:ln>
        </p:spPr>
      </p:sp>
      <p:sp>
        <p:nvSpPr>
          <p:cNvPr id="91" name="Text 89"/>
          <p:cNvSpPr txBox="1"/>
          <p:nvPr/>
        </p:nvSpPr>
        <p:spPr>
          <a:xfrm>
            <a:off x="8229600" y="5486400"/>
            <a:ext cx="1828800" cy="493776"/>
          </a:xfrm>
          <a:prstGeom prst="rect">
            <a:avLst/>
          </a:prstGeom>
          <a:noFill/>
          <a:ln/>
        </p:spPr>
        <p:txBody>
          <a:bodyPr wrap="square" lIns="0" tIns="0" rIns="0" bIns="0" rtlCol="0" anchor="ctr"/>
          <a:lstStyle/>
          <a:p>
            <a:pPr algn="ctr" indent="0" marL="0">
              <a:buNone/>
            </a:pPr>
            <a:r>
              <a:rPr lang="en-US" sz="2000" b="1" dirty="0">
                <a:solidFill>
                  <a:srgbClr val="1F7A70"/>
                </a:solidFill>
                <a:latin typeface="Cambria" pitchFamily="34" charset="0"/>
                <a:ea typeface="Cambria" pitchFamily="34" charset="-122"/>
                <a:cs typeface="Cambria" pitchFamily="34" charset="-120"/>
              </a:rPr>
              <a:t>27%</a:t>
            </a:r>
            <a:endParaRPr lang="en-US" sz="2000" dirty="0"/>
          </a:p>
        </p:txBody>
      </p:sp>
      <p:sp>
        <p:nvSpPr>
          <p:cNvPr id="92" name="Shape 90"/>
          <p:cNvSpPr/>
          <p:nvPr/>
        </p:nvSpPr>
        <p:spPr>
          <a:xfrm>
            <a:off x="10268712" y="5486400"/>
            <a:ext cx="1344168" cy="493776"/>
          </a:xfrm>
          <a:prstGeom prst="rect">
            <a:avLst/>
          </a:prstGeom>
          <a:solidFill>
            <a:srgbClr val="F1F3F5"/>
          </a:solidFill>
          <a:ln w="12700">
            <a:solidFill>
              <a:srgbClr val="F1F3F5"/>
            </a:solidFill>
            <a:prstDash val="solid"/>
          </a:ln>
        </p:spPr>
      </p:sp>
      <p:sp>
        <p:nvSpPr>
          <p:cNvPr id="93" name="Text 91"/>
          <p:cNvSpPr txBox="1"/>
          <p:nvPr/>
        </p:nvSpPr>
        <p:spPr>
          <a:xfrm>
            <a:off x="10424160" y="5486400"/>
            <a:ext cx="1033272" cy="493776"/>
          </a:xfrm>
          <a:prstGeom prst="rect">
            <a:avLst/>
          </a:prstGeom>
          <a:noFill/>
          <a:ln/>
        </p:spPr>
        <p:txBody>
          <a:bodyPr wrap="square" lIns="0" tIns="0" rIns="0" bIns="0" rtlCol="0" anchor="ctr"/>
          <a:lstStyle/>
          <a:p>
            <a:pPr algn="ctr" indent="0" marL="0">
              <a:buNone/>
            </a:pPr>
            <a:r>
              <a:rPr lang="en-US" sz="1300" dirty="0">
                <a:solidFill>
                  <a:srgbClr val="56636E"/>
                </a:solidFill>
                <a:latin typeface="Calibri" pitchFamily="34" charset="0"/>
                <a:ea typeface="Calibri" pitchFamily="34" charset="-122"/>
                <a:cs typeface="Calibri" pitchFamily="34" charset="-120"/>
              </a:rPr>
              <a:t>100</a:t>
            </a:r>
            <a:endParaRPr lang="en-US" sz="1300" dirty="0"/>
          </a:p>
        </p:txBody>
      </p:sp>
      <p:sp>
        <p:nvSpPr>
          <p:cNvPr id="94" name="Text 92"/>
          <p:cNvSpPr txBox="1"/>
          <p:nvPr/>
        </p:nvSpPr>
        <p:spPr>
          <a:xfrm>
            <a:off x="548640" y="6172200"/>
            <a:ext cx="7315200" cy="228600"/>
          </a:xfrm>
          <a:prstGeom prst="rect">
            <a:avLst/>
          </a:prstGeom>
          <a:noFill/>
          <a:ln/>
        </p:spPr>
        <p:txBody>
          <a:bodyPr wrap="square" lIns="0" tIns="0" rIns="0" bIns="0" rtlCol="0" anchor="t"/>
          <a:lstStyle/>
          <a:p>
            <a:pPr indent="0" marL="0">
              <a:buNone/>
            </a:pPr>
            <a:r>
              <a:rPr lang="en-US" sz="1100" dirty="0">
                <a:solidFill>
                  <a:srgbClr val="8A959E"/>
                </a:solidFill>
                <a:latin typeface="Calibri" pitchFamily="34" charset="0"/>
                <a:ea typeface="Calibri" pitchFamily="34" charset="-122"/>
                <a:cs typeface="Calibri" pitchFamily="34" charset="-120"/>
              </a:rPr>
              <a:t>Red marks the worst city in each column, green the best.</a:t>
            </a:r>
            <a:endParaRPr lang="en-US" sz="1100" dirty="0"/>
          </a:p>
        </p:txBody>
      </p:sp>
      <p:sp>
        <p:nvSpPr>
          <p:cNvPr id="95" name="Text 9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No attribute rates above 3 out of 5</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Everest Experience Rating, 1 to 5, sorted lowest first</a:t>
            </a:r>
            <a:endParaRPr lang="en-US" sz="1600" dirty="0"/>
          </a:p>
        </p:txBody>
      </p:sp>
      <p:sp>
        <p:nvSpPr>
          <p:cNvPr id="4" name="Text 2"/>
          <p:cNvSpPr txBox="1"/>
          <p:nvPr/>
        </p:nvSpPr>
        <p:spPr>
          <a:xfrm>
            <a:off x="548640" y="1691640"/>
            <a:ext cx="2743200" cy="365760"/>
          </a:xfrm>
          <a:prstGeom prst="rect">
            <a:avLst/>
          </a:prstGeom>
          <a:noFill/>
          <a:ln/>
        </p:spPr>
        <p:txBody>
          <a:bodyPr wrap="square" lIns="0" tIns="0" rIns="0" bIns="0" rtlCol="0" anchor="b"/>
          <a:lstStyle/>
          <a:p>
            <a:pPr algn="l" indent="0" marL="0">
              <a:buNone/>
            </a:pPr>
            <a:r>
              <a:rPr lang="en-US" sz="1200" b="1" dirty="0">
                <a:solidFill>
                  <a:srgbClr val="56636E"/>
                </a:solidFill>
                <a:latin typeface="Calibri" pitchFamily="34" charset="0"/>
                <a:ea typeface="Calibri" pitchFamily="34" charset="-122"/>
                <a:cs typeface="Calibri" pitchFamily="34" charset="-120"/>
              </a:rPr>
              <a:t>Attribute</a:t>
            </a:r>
            <a:endParaRPr lang="en-US" sz="1200" dirty="0"/>
          </a:p>
        </p:txBody>
      </p:sp>
      <p:sp>
        <p:nvSpPr>
          <p:cNvPr id="5" name="Text 3"/>
          <p:cNvSpPr txBox="1"/>
          <p:nvPr/>
        </p:nvSpPr>
        <p:spPr>
          <a:xfrm>
            <a:off x="3429000" y="1691640"/>
            <a:ext cx="3291840" cy="365760"/>
          </a:xfrm>
          <a:prstGeom prst="rect">
            <a:avLst/>
          </a:prstGeom>
          <a:noFill/>
          <a:ln/>
        </p:spPr>
        <p:txBody>
          <a:bodyPr wrap="square" lIns="0" tIns="0" rIns="0" bIns="0" rtlCol="0" anchor="b"/>
          <a:lstStyle/>
          <a:p>
            <a:pPr algn="l" indent="0" marL="0">
              <a:buNone/>
            </a:pPr>
            <a:r>
              <a:rPr lang="en-US" sz="1200" b="1" dirty="0">
                <a:solidFill>
                  <a:srgbClr val="56636E"/>
                </a:solidFill>
                <a:latin typeface="Calibri" pitchFamily="34" charset="0"/>
                <a:ea typeface="Calibri" pitchFamily="34" charset="-122"/>
                <a:cs typeface="Calibri" pitchFamily="34" charset="-120"/>
              </a:rPr>
              <a:t>Active drivers, average</a:t>
            </a:r>
            <a:endParaRPr lang="en-US" sz="1200" dirty="0"/>
          </a:p>
        </p:txBody>
      </p:sp>
      <p:sp>
        <p:nvSpPr>
          <p:cNvPr id="6" name="Text 4"/>
          <p:cNvSpPr txBox="1"/>
          <p:nvPr/>
        </p:nvSpPr>
        <p:spPr>
          <a:xfrm>
            <a:off x="6903720" y="1691640"/>
            <a:ext cx="1280160" cy="36576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Gave it a 1</a:t>
            </a:r>
            <a:endParaRPr lang="en-US" sz="1200" dirty="0"/>
          </a:p>
        </p:txBody>
      </p:sp>
      <p:sp>
        <p:nvSpPr>
          <p:cNvPr id="7" name="Text 5"/>
          <p:cNvSpPr txBox="1"/>
          <p:nvPr/>
        </p:nvSpPr>
        <p:spPr>
          <a:xfrm>
            <a:off x="8412480" y="1691640"/>
            <a:ext cx="1280160" cy="36576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Inactive avg</a:t>
            </a:r>
            <a:endParaRPr lang="en-US" sz="1200" dirty="0"/>
          </a:p>
        </p:txBody>
      </p:sp>
      <p:sp>
        <p:nvSpPr>
          <p:cNvPr id="8" name="Text 6"/>
          <p:cNvSpPr txBox="1"/>
          <p:nvPr/>
        </p:nvSpPr>
        <p:spPr>
          <a:xfrm>
            <a:off x="9829800" y="1691640"/>
            <a:ext cx="1828800" cy="365760"/>
          </a:xfrm>
          <a:prstGeom prst="rect">
            <a:avLst/>
          </a:prstGeom>
          <a:noFill/>
          <a:ln/>
        </p:spPr>
        <p:txBody>
          <a:bodyPr wrap="square" lIns="0" tIns="0" rIns="0" bIns="0" rtlCol="0" anchor="b"/>
          <a:lstStyle/>
          <a:p>
            <a:pPr algn="ctr" indent="0" marL="0">
              <a:buNone/>
            </a:pPr>
            <a:r>
              <a:rPr lang="en-US" sz="1200" b="1" dirty="0">
                <a:solidFill>
                  <a:srgbClr val="56636E"/>
                </a:solidFill>
                <a:latin typeface="Calibri" pitchFamily="34" charset="0"/>
                <a:ea typeface="Calibri" pitchFamily="34" charset="-122"/>
                <a:cs typeface="Calibri" pitchFamily="34" charset="-120"/>
              </a:rPr>
              <a:t>Link to loyalty</a:t>
            </a:r>
            <a:endParaRPr lang="en-US" sz="1200" dirty="0"/>
          </a:p>
        </p:txBody>
      </p:sp>
      <p:sp>
        <p:nvSpPr>
          <p:cNvPr id="9" name="Shape 7"/>
          <p:cNvSpPr/>
          <p:nvPr/>
        </p:nvSpPr>
        <p:spPr>
          <a:xfrm>
            <a:off x="457200" y="2103120"/>
            <a:ext cx="11277295" cy="429768"/>
          </a:xfrm>
          <a:prstGeom prst="rect">
            <a:avLst/>
          </a:prstGeom>
          <a:solidFill>
            <a:srgbClr val="F7F8F9"/>
          </a:solidFill>
          <a:ln w="12700">
            <a:solidFill>
              <a:srgbClr val="F7F8F9"/>
            </a:solidFill>
            <a:prstDash val="solid"/>
          </a:ln>
        </p:spPr>
      </p:sp>
      <p:sp>
        <p:nvSpPr>
          <p:cNvPr id="10" name="Text 8"/>
          <p:cNvSpPr txBox="1"/>
          <p:nvPr/>
        </p:nvSpPr>
        <p:spPr>
          <a:xfrm>
            <a:off x="548640" y="2103120"/>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Garage &amp; repair speed</a:t>
            </a:r>
            <a:endParaRPr lang="en-US" sz="1400" dirty="0"/>
          </a:p>
        </p:txBody>
      </p:sp>
      <p:sp>
        <p:nvSpPr>
          <p:cNvPr id="11" name="Shape 9"/>
          <p:cNvSpPr/>
          <p:nvPr/>
        </p:nvSpPr>
        <p:spPr>
          <a:xfrm>
            <a:off x="3429000" y="2221992"/>
            <a:ext cx="2743200" cy="192024"/>
          </a:xfrm>
          <a:prstGeom prst="rect">
            <a:avLst/>
          </a:prstGeom>
          <a:solidFill>
            <a:srgbClr val="E4E8EB"/>
          </a:solidFill>
          <a:ln w="12700">
            <a:solidFill>
              <a:srgbClr val="E4E8EB"/>
            </a:solidFill>
            <a:prstDash val="solid"/>
          </a:ln>
        </p:spPr>
      </p:sp>
      <p:sp>
        <p:nvSpPr>
          <p:cNvPr id="12" name="Shape 10"/>
          <p:cNvSpPr/>
          <p:nvPr/>
        </p:nvSpPr>
        <p:spPr>
          <a:xfrm>
            <a:off x="3429000" y="2221992"/>
            <a:ext cx="1152144" cy="192024"/>
          </a:xfrm>
          <a:prstGeom prst="rect">
            <a:avLst/>
          </a:prstGeom>
          <a:solidFill>
            <a:srgbClr val="D9432B"/>
          </a:solidFill>
          <a:ln w="12700">
            <a:solidFill>
              <a:srgbClr val="D9432B"/>
            </a:solidFill>
            <a:prstDash val="solid"/>
          </a:ln>
        </p:spPr>
      </p:sp>
      <p:sp>
        <p:nvSpPr>
          <p:cNvPr id="13" name="Text 11"/>
          <p:cNvSpPr txBox="1"/>
          <p:nvPr/>
        </p:nvSpPr>
        <p:spPr>
          <a:xfrm>
            <a:off x="6263640" y="2103120"/>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2.1</a:t>
            </a:r>
            <a:endParaRPr lang="en-US" sz="1400" dirty="0"/>
          </a:p>
        </p:txBody>
      </p:sp>
      <p:sp>
        <p:nvSpPr>
          <p:cNvPr id="14" name="Text 12"/>
          <p:cNvSpPr txBox="1"/>
          <p:nvPr/>
        </p:nvSpPr>
        <p:spPr>
          <a:xfrm>
            <a:off x="6903720" y="2103120"/>
            <a:ext cx="1280160" cy="429768"/>
          </a:xfrm>
          <a:prstGeom prst="rect">
            <a:avLst/>
          </a:prstGeom>
          <a:noFill/>
          <a:ln/>
        </p:spPr>
        <p:txBody>
          <a:bodyPr wrap="square" lIns="0" tIns="0" rIns="0" bIns="0" rtlCol="0" anchor="ctr"/>
          <a:lstStyle/>
          <a:p>
            <a:pPr algn="ctr" indent="0" marL="0">
              <a:buNone/>
            </a:pPr>
            <a:r>
              <a:rPr lang="en-US" sz="1400" b="1" dirty="0">
                <a:solidFill>
                  <a:srgbClr val="D9432B"/>
                </a:solidFill>
                <a:latin typeface="Calibri" pitchFamily="34" charset="0"/>
                <a:ea typeface="Calibri" pitchFamily="34" charset="-122"/>
                <a:cs typeface="Calibri" pitchFamily="34" charset="-120"/>
              </a:rPr>
              <a:t>52%</a:t>
            </a:r>
            <a:endParaRPr lang="en-US" sz="1400" dirty="0"/>
          </a:p>
        </p:txBody>
      </p:sp>
      <p:sp>
        <p:nvSpPr>
          <p:cNvPr id="15" name="Text 13"/>
          <p:cNvSpPr txBox="1"/>
          <p:nvPr/>
        </p:nvSpPr>
        <p:spPr>
          <a:xfrm>
            <a:off x="8412480" y="2103120"/>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2.1</a:t>
            </a:r>
            <a:endParaRPr lang="en-US" sz="1400" dirty="0"/>
          </a:p>
        </p:txBody>
      </p:sp>
      <p:sp>
        <p:nvSpPr>
          <p:cNvPr id="16" name="Shape 14"/>
          <p:cNvSpPr/>
          <p:nvPr/>
        </p:nvSpPr>
        <p:spPr>
          <a:xfrm>
            <a:off x="10058400" y="2185416"/>
            <a:ext cx="1371600" cy="265176"/>
          </a:xfrm>
          <a:prstGeom prst="roundRect">
            <a:avLst>
              <a:gd name="adj" fmla="val 41379"/>
            </a:avLst>
          </a:prstGeom>
          <a:solidFill>
            <a:srgbClr val="FFFFFF"/>
          </a:solidFill>
          <a:ln w="12700">
            <a:solidFill>
              <a:srgbClr val="8A959E"/>
            </a:solidFill>
            <a:prstDash val="solid"/>
          </a:ln>
        </p:spPr>
      </p:sp>
      <p:sp>
        <p:nvSpPr>
          <p:cNvPr id="17" name="Text 15"/>
          <p:cNvSpPr txBox="1"/>
          <p:nvPr/>
        </p:nvSpPr>
        <p:spPr>
          <a:xfrm>
            <a:off x="10058400" y="2185416"/>
            <a:ext cx="1371600" cy="265176"/>
          </a:xfrm>
          <a:prstGeom prst="rect">
            <a:avLst/>
          </a:prstGeom>
          <a:noFill/>
          <a:ln/>
        </p:spPr>
        <p:txBody>
          <a:bodyPr wrap="square" lIns="0" tIns="0" rIns="0" bIns="0" rtlCol="0" anchor="ctr"/>
          <a:lstStyle/>
          <a:p>
            <a:pPr algn="ctr" indent="0" marL="0">
              <a:buNone/>
            </a:pPr>
            <a:r>
              <a:rPr lang="en-US" sz="1200" b="1" dirty="0">
                <a:solidFill>
                  <a:srgbClr val="8A959E"/>
                </a:solidFill>
                <a:latin typeface="Calibri" pitchFamily="34" charset="0"/>
                <a:ea typeface="Calibri" pitchFamily="34" charset="-122"/>
                <a:cs typeface="Calibri" pitchFamily="34" charset="-120"/>
              </a:rPr>
              <a:t>Weaker</a:t>
            </a:r>
            <a:endParaRPr lang="en-US" sz="1200" dirty="0"/>
          </a:p>
        </p:txBody>
      </p:sp>
      <p:sp>
        <p:nvSpPr>
          <p:cNvPr id="18" name="Text 16"/>
          <p:cNvSpPr txBox="1"/>
          <p:nvPr/>
        </p:nvSpPr>
        <p:spPr>
          <a:xfrm>
            <a:off x="548640" y="2532888"/>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Reality vs expectations</a:t>
            </a:r>
            <a:endParaRPr lang="en-US" sz="1400" dirty="0"/>
          </a:p>
        </p:txBody>
      </p:sp>
      <p:sp>
        <p:nvSpPr>
          <p:cNvPr id="19" name="Shape 17"/>
          <p:cNvSpPr/>
          <p:nvPr/>
        </p:nvSpPr>
        <p:spPr>
          <a:xfrm>
            <a:off x="3429000" y="2651760"/>
            <a:ext cx="2743200" cy="192024"/>
          </a:xfrm>
          <a:prstGeom prst="rect">
            <a:avLst/>
          </a:prstGeom>
          <a:solidFill>
            <a:srgbClr val="E4E8EB"/>
          </a:solidFill>
          <a:ln w="12700">
            <a:solidFill>
              <a:srgbClr val="E4E8EB"/>
            </a:solidFill>
            <a:prstDash val="solid"/>
          </a:ln>
        </p:spPr>
      </p:sp>
      <p:sp>
        <p:nvSpPr>
          <p:cNvPr id="20" name="Shape 18"/>
          <p:cNvSpPr/>
          <p:nvPr/>
        </p:nvSpPr>
        <p:spPr>
          <a:xfrm>
            <a:off x="3429000" y="2651760"/>
            <a:ext cx="1207008" cy="192024"/>
          </a:xfrm>
          <a:prstGeom prst="rect">
            <a:avLst/>
          </a:prstGeom>
          <a:solidFill>
            <a:srgbClr val="D9432B"/>
          </a:solidFill>
          <a:ln w="12700">
            <a:solidFill>
              <a:srgbClr val="D9432B"/>
            </a:solidFill>
            <a:prstDash val="solid"/>
          </a:ln>
        </p:spPr>
      </p:sp>
      <p:sp>
        <p:nvSpPr>
          <p:cNvPr id="21" name="Text 19"/>
          <p:cNvSpPr txBox="1"/>
          <p:nvPr/>
        </p:nvSpPr>
        <p:spPr>
          <a:xfrm>
            <a:off x="6263640" y="2532888"/>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2.2</a:t>
            </a:r>
            <a:endParaRPr lang="en-US" sz="1400" dirty="0"/>
          </a:p>
        </p:txBody>
      </p:sp>
      <p:sp>
        <p:nvSpPr>
          <p:cNvPr id="22" name="Text 20"/>
          <p:cNvSpPr txBox="1"/>
          <p:nvPr/>
        </p:nvSpPr>
        <p:spPr>
          <a:xfrm>
            <a:off x="6903720" y="2532888"/>
            <a:ext cx="1280160" cy="429768"/>
          </a:xfrm>
          <a:prstGeom prst="rect">
            <a:avLst/>
          </a:prstGeom>
          <a:noFill/>
          <a:ln/>
        </p:spPr>
        <p:txBody>
          <a:bodyPr wrap="square" lIns="0" tIns="0" rIns="0" bIns="0" rtlCol="0" anchor="ctr"/>
          <a:lstStyle/>
          <a:p>
            <a:pPr algn="ctr" indent="0" marL="0">
              <a:buNone/>
            </a:pPr>
            <a:r>
              <a:rPr lang="en-US" sz="1400" b="1" dirty="0">
                <a:solidFill>
                  <a:srgbClr val="D9432B"/>
                </a:solidFill>
                <a:latin typeface="Calibri" pitchFamily="34" charset="0"/>
                <a:ea typeface="Calibri" pitchFamily="34" charset="-122"/>
                <a:cs typeface="Calibri" pitchFamily="34" charset="-120"/>
              </a:rPr>
              <a:t>46%</a:t>
            </a:r>
            <a:endParaRPr lang="en-US" sz="1400" dirty="0"/>
          </a:p>
        </p:txBody>
      </p:sp>
      <p:sp>
        <p:nvSpPr>
          <p:cNvPr id="23" name="Text 21"/>
          <p:cNvSpPr txBox="1"/>
          <p:nvPr/>
        </p:nvSpPr>
        <p:spPr>
          <a:xfrm>
            <a:off x="8412480" y="2532888"/>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1.8</a:t>
            </a:r>
            <a:endParaRPr lang="en-US" sz="1400" dirty="0"/>
          </a:p>
        </p:txBody>
      </p:sp>
      <p:sp>
        <p:nvSpPr>
          <p:cNvPr id="24" name="Shape 22"/>
          <p:cNvSpPr/>
          <p:nvPr/>
        </p:nvSpPr>
        <p:spPr>
          <a:xfrm>
            <a:off x="10058400" y="2615184"/>
            <a:ext cx="1371600" cy="265176"/>
          </a:xfrm>
          <a:prstGeom prst="roundRect">
            <a:avLst>
              <a:gd name="adj" fmla="val 41379"/>
            </a:avLst>
          </a:prstGeom>
          <a:solidFill>
            <a:srgbClr val="FFFFFF"/>
          </a:solidFill>
          <a:ln w="12700">
            <a:solidFill>
              <a:srgbClr val="D9432B"/>
            </a:solidFill>
            <a:prstDash val="solid"/>
          </a:ln>
        </p:spPr>
      </p:sp>
      <p:sp>
        <p:nvSpPr>
          <p:cNvPr id="25" name="Text 23"/>
          <p:cNvSpPr txBox="1"/>
          <p:nvPr/>
        </p:nvSpPr>
        <p:spPr>
          <a:xfrm>
            <a:off x="10058400" y="2615184"/>
            <a:ext cx="1371600" cy="265176"/>
          </a:xfrm>
          <a:prstGeom prst="rect">
            <a:avLst/>
          </a:prstGeom>
          <a:noFill/>
          <a:ln/>
        </p:spPr>
        <p:txBody>
          <a:bodyPr wrap="square" lIns="0" tIns="0" rIns="0" bIns="0" rtlCol="0" anchor="ctr"/>
          <a:lstStyle/>
          <a:p>
            <a:pPr algn="ctr" indent="0" marL="0">
              <a:buNone/>
            </a:pPr>
            <a:r>
              <a:rPr lang="en-US" sz="1200" b="1" dirty="0">
                <a:solidFill>
                  <a:srgbClr val="D9432B"/>
                </a:solidFill>
                <a:latin typeface="Calibri" pitchFamily="34" charset="0"/>
                <a:ea typeface="Calibri" pitchFamily="34" charset="-122"/>
                <a:cs typeface="Calibri" pitchFamily="34" charset="-120"/>
              </a:rPr>
              <a:t>Strong</a:t>
            </a:r>
            <a:endParaRPr lang="en-US" sz="1200" dirty="0"/>
          </a:p>
        </p:txBody>
      </p:sp>
      <p:sp>
        <p:nvSpPr>
          <p:cNvPr id="26" name="Shape 24"/>
          <p:cNvSpPr/>
          <p:nvPr/>
        </p:nvSpPr>
        <p:spPr>
          <a:xfrm>
            <a:off x="457200" y="2962656"/>
            <a:ext cx="11277295" cy="429768"/>
          </a:xfrm>
          <a:prstGeom prst="rect">
            <a:avLst/>
          </a:prstGeom>
          <a:solidFill>
            <a:srgbClr val="F7F8F9"/>
          </a:solidFill>
          <a:ln w="12700">
            <a:solidFill>
              <a:srgbClr val="F7F8F9"/>
            </a:solidFill>
            <a:prstDash val="solid"/>
          </a:ln>
        </p:spPr>
      </p:sp>
      <p:sp>
        <p:nvSpPr>
          <p:cNvPr id="27" name="Text 25"/>
          <p:cNvSpPr txBox="1"/>
          <p:nvPr/>
        </p:nvSpPr>
        <p:spPr>
          <a:xfrm>
            <a:off x="548640" y="2962656"/>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Staff behaviour &amp; respect</a:t>
            </a:r>
            <a:endParaRPr lang="en-US" sz="1400" dirty="0"/>
          </a:p>
        </p:txBody>
      </p:sp>
      <p:sp>
        <p:nvSpPr>
          <p:cNvPr id="28" name="Shape 26"/>
          <p:cNvSpPr/>
          <p:nvPr/>
        </p:nvSpPr>
        <p:spPr>
          <a:xfrm>
            <a:off x="3429000" y="3081528"/>
            <a:ext cx="2743200" cy="192024"/>
          </a:xfrm>
          <a:prstGeom prst="rect">
            <a:avLst/>
          </a:prstGeom>
          <a:solidFill>
            <a:srgbClr val="E4E8EB"/>
          </a:solidFill>
          <a:ln w="12700">
            <a:solidFill>
              <a:srgbClr val="E4E8EB"/>
            </a:solidFill>
            <a:prstDash val="solid"/>
          </a:ln>
        </p:spPr>
      </p:sp>
      <p:sp>
        <p:nvSpPr>
          <p:cNvPr id="29" name="Shape 27"/>
          <p:cNvSpPr/>
          <p:nvPr/>
        </p:nvSpPr>
        <p:spPr>
          <a:xfrm>
            <a:off x="3429000" y="3081528"/>
            <a:ext cx="1207008" cy="192024"/>
          </a:xfrm>
          <a:prstGeom prst="rect">
            <a:avLst/>
          </a:prstGeom>
          <a:solidFill>
            <a:srgbClr val="D9432B"/>
          </a:solidFill>
          <a:ln w="12700">
            <a:solidFill>
              <a:srgbClr val="D9432B"/>
            </a:solidFill>
            <a:prstDash val="solid"/>
          </a:ln>
        </p:spPr>
      </p:sp>
      <p:sp>
        <p:nvSpPr>
          <p:cNvPr id="30" name="Text 28"/>
          <p:cNvSpPr txBox="1"/>
          <p:nvPr/>
        </p:nvSpPr>
        <p:spPr>
          <a:xfrm>
            <a:off x="6263640" y="2962656"/>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2.2</a:t>
            </a:r>
            <a:endParaRPr lang="en-US" sz="1400" dirty="0"/>
          </a:p>
        </p:txBody>
      </p:sp>
      <p:sp>
        <p:nvSpPr>
          <p:cNvPr id="31" name="Text 29"/>
          <p:cNvSpPr txBox="1"/>
          <p:nvPr/>
        </p:nvSpPr>
        <p:spPr>
          <a:xfrm>
            <a:off x="6903720" y="2962656"/>
            <a:ext cx="1280160" cy="429768"/>
          </a:xfrm>
          <a:prstGeom prst="rect">
            <a:avLst/>
          </a:prstGeom>
          <a:noFill/>
          <a:ln/>
        </p:spPr>
        <p:txBody>
          <a:bodyPr wrap="square" lIns="0" tIns="0" rIns="0" bIns="0" rtlCol="0" anchor="ctr"/>
          <a:lstStyle/>
          <a:p>
            <a:pPr algn="ctr" indent="0" marL="0">
              <a:buNone/>
            </a:pPr>
            <a:r>
              <a:rPr lang="en-US" sz="1400" b="1" dirty="0">
                <a:solidFill>
                  <a:srgbClr val="D9432B"/>
                </a:solidFill>
                <a:latin typeface="Calibri" pitchFamily="34" charset="0"/>
                <a:ea typeface="Calibri" pitchFamily="34" charset="-122"/>
                <a:cs typeface="Calibri" pitchFamily="34" charset="-120"/>
              </a:rPr>
              <a:t>49%</a:t>
            </a:r>
            <a:endParaRPr lang="en-US" sz="1400" dirty="0"/>
          </a:p>
        </p:txBody>
      </p:sp>
      <p:sp>
        <p:nvSpPr>
          <p:cNvPr id="32" name="Text 30"/>
          <p:cNvSpPr txBox="1"/>
          <p:nvPr/>
        </p:nvSpPr>
        <p:spPr>
          <a:xfrm>
            <a:off x="8412480" y="2962656"/>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2.0</a:t>
            </a:r>
            <a:endParaRPr lang="en-US" sz="1400" dirty="0"/>
          </a:p>
        </p:txBody>
      </p:sp>
      <p:sp>
        <p:nvSpPr>
          <p:cNvPr id="33" name="Shape 31"/>
          <p:cNvSpPr/>
          <p:nvPr/>
        </p:nvSpPr>
        <p:spPr>
          <a:xfrm>
            <a:off x="10058400" y="3044952"/>
            <a:ext cx="1371600" cy="265176"/>
          </a:xfrm>
          <a:prstGeom prst="roundRect">
            <a:avLst>
              <a:gd name="adj" fmla="val 41379"/>
            </a:avLst>
          </a:prstGeom>
          <a:solidFill>
            <a:srgbClr val="FFFFFF"/>
          </a:solidFill>
          <a:ln w="12700">
            <a:solidFill>
              <a:srgbClr val="C98A1B"/>
            </a:solidFill>
            <a:prstDash val="solid"/>
          </a:ln>
        </p:spPr>
      </p:sp>
      <p:sp>
        <p:nvSpPr>
          <p:cNvPr id="34" name="Text 32"/>
          <p:cNvSpPr txBox="1"/>
          <p:nvPr/>
        </p:nvSpPr>
        <p:spPr>
          <a:xfrm>
            <a:off x="10058400" y="3044952"/>
            <a:ext cx="1371600" cy="265176"/>
          </a:xfrm>
          <a:prstGeom prst="rect">
            <a:avLst/>
          </a:prstGeom>
          <a:noFill/>
          <a:ln/>
        </p:spPr>
        <p:txBody>
          <a:bodyPr wrap="square" lIns="0" tIns="0" rIns="0" bIns="0" rtlCol="0" anchor="ctr"/>
          <a:lstStyle/>
          <a:p>
            <a:pPr algn="ctr" indent="0" marL="0">
              <a:buNone/>
            </a:pPr>
            <a:r>
              <a:rPr lang="en-US" sz="1200" b="1" dirty="0">
                <a:solidFill>
                  <a:srgbClr val="C98A1B"/>
                </a:solidFill>
                <a:latin typeface="Calibri" pitchFamily="34" charset="0"/>
                <a:ea typeface="Calibri" pitchFamily="34" charset="-122"/>
                <a:cs typeface="Calibri" pitchFamily="34" charset="-120"/>
              </a:rPr>
              <a:t>Moderate</a:t>
            </a:r>
            <a:endParaRPr lang="en-US" sz="1200" dirty="0"/>
          </a:p>
        </p:txBody>
      </p:sp>
      <p:sp>
        <p:nvSpPr>
          <p:cNvPr id="35" name="Text 33"/>
          <p:cNvSpPr txBox="1"/>
          <p:nvPr/>
        </p:nvSpPr>
        <p:spPr>
          <a:xfrm>
            <a:off x="548640" y="3392424"/>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Vehicle condition</a:t>
            </a:r>
            <a:endParaRPr lang="en-US" sz="1400" dirty="0"/>
          </a:p>
        </p:txBody>
      </p:sp>
      <p:sp>
        <p:nvSpPr>
          <p:cNvPr id="36" name="Shape 34"/>
          <p:cNvSpPr/>
          <p:nvPr/>
        </p:nvSpPr>
        <p:spPr>
          <a:xfrm>
            <a:off x="3429000" y="3511296"/>
            <a:ext cx="2743200" cy="192024"/>
          </a:xfrm>
          <a:prstGeom prst="rect">
            <a:avLst/>
          </a:prstGeom>
          <a:solidFill>
            <a:srgbClr val="E4E8EB"/>
          </a:solidFill>
          <a:ln w="12700">
            <a:solidFill>
              <a:srgbClr val="E4E8EB"/>
            </a:solidFill>
            <a:prstDash val="solid"/>
          </a:ln>
        </p:spPr>
      </p:sp>
      <p:sp>
        <p:nvSpPr>
          <p:cNvPr id="37" name="Shape 35"/>
          <p:cNvSpPr/>
          <p:nvPr/>
        </p:nvSpPr>
        <p:spPr>
          <a:xfrm>
            <a:off x="3429000" y="3511296"/>
            <a:ext cx="1261872" cy="192024"/>
          </a:xfrm>
          <a:prstGeom prst="rect">
            <a:avLst/>
          </a:prstGeom>
          <a:solidFill>
            <a:srgbClr val="D9432B"/>
          </a:solidFill>
          <a:ln w="12700">
            <a:solidFill>
              <a:srgbClr val="D9432B"/>
            </a:solidFill>
            <a:prstDash val="solid"/>
          </a:ln>
        </p:spPr>
      </p:sp>
      <p:sp>
        <p:nvSpPr>
          <p:cNvPr id="38" name="Text 36"/>
          <p:cNvSpPr txBox="1"/>
          <p:nvPr/>
        </p:nvSpPr>
        <p:spPr>
          <a:xfrm>
            <a:off x="6263640" y="3392424"/>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2.3</a:t>
            </a:r>
            <a:endParaRPr lang="en-US" sz="1400" dirty="0"/>
          </a:p>
        </p:txBody>
      </p:sp>
      <p:sp>
        <p:nvSpPr>
          <p:cNvPr id="39" name="Text 37"/>
          <p:cNvSpPr txBox="1"/>
          <p:nvPr/>
        </p:nvSpPr>
        <p:spPr>
          <a:xfrm>
            <a:off x="6903720" y="3392424"/>
            <a:ext cx="1280160" cy="429768"/>
          </a:xfrm>
          <a:prstGeom prst="rect">
            <a:avLst/>
          </a:prstGeom>
          <a:noFill/>
          <a:ln/>
        </p:spPr>
        <p:txBody>
          <a:bodyPr wrap="square" lIns="0" tIns="0" rIns="0" bIns="0" rtlCol="0" anchor="ctr"/>
          <a:lstStyle/>
          <a:p>
            <a:pPr algn="ctr" indent="0" marL="0">
              <a:buNone/>
            </a:pPr>
            <a:r>
              <a:rPr lang="en-US" sz="1400" b="1" dirty="0">
                <a:solidFill>
                  <a:srgbClr val="D9432B"/>
                </a:solidFill>
                <a:latin typeface="Calibri" pitchFamily="34" charset="0"/>
                <a:ea typeface="Calibri" pitchFamily="34" charset="-122"/>
                <a:cs typeface="Calibri" pitchFamily="34" charset="-120"/>
              </a:rPr>
              <a:t>46%</a:t>
            </a:r>
            <a:endParaRPr lang="en-US" sz="1400" dirty="0"/>
          </a:p>
        </p:txBody>
      </p:sp>
      <p:sp>
        <p:nvSpPr>
          <p:cNvPr id="40" name="Text 38"/>
          <p:cNvSpPr txBox="1"/>
          <p:nvPr/>
        </p:nvSpPr>
        <p:spPr>
          <a:xfrm>
            <a:off x="8412480" y="3392424"/>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2.1</a:t>
            </a:r>
            <a:endParaRPr lang="en-US" sz="1400" dirty="0"/>
          </a:p>
        </p:txBody>
      </p:sp>
      <p:sp>
        <p:nvSpPr>
          <p:cNvPr id="41" name="Shape 39"/>
          <p:cNvSpPr/>
          <p:nvPr/>
        </p:nvSpPr>
        <p:spPr>
          <a:xfrm>
            <a:off x="10058400" y="3474720"/>
            <a:ext cx="1371600" cy="265176"/>
          </a:xfrm>
          <a:prstGeom prst="roundRect">
            <a:avLst>
              <a:gd name="adj" fmla="val 41379"/>
            </a:avLst>
          </a:prstGeom>
          <a:solidFill>
            <a:srgbClr val="FFFFFF"/>
          </a:solidFill>
          <a:ln w="12700">
            <a:solidFill>
              <a:srgbClr val="C98A1B"/>
            </a:solidFill>
            <a:prstDash val="solid"/>
          </a:ln>
        </p:spPr>
      </p:sp>
      <p:sp>
        <p:nvSpPr>
          <p:cNvPr id="42" name="Text 40"/>
          <p:cNvSpPr txBox="1"/>
          <p:nvPr/>
        </p:nvSpPr>
        <p:spPr>
          <a:xfrm>
            <a:off x="10058400" y="3474720"/>
            <a:ext cx="1371600" cy="265176"/>
          </a:xfrm>
          <a:prstGeom prst="rect">
            <a:avLst/>
          </a:prstGeom>
          <a:noFill/>
          <a:ln/>
        </p:spPr>
        <p:txBody>
          <a:bodyPr wrap="square" lIns="0" tIns="0" rIns="0" bIns="0" rtlCol="0" anchor="ctr"/>
          <a:lstStyle/>
          <a:p>
            <a:pPr algn="ctr" indent="0" marL="0">
              <a:buNone/>
            </a:pPr>
            <a:r>
              <a:rPr lang="en-US" sz="1200" b="1" dirty="0">
                <a:solidFill>
                  <a:srgbClr val="C98A1B"/>
                </a:solidFill>
                <a:latin typeface="Calibri" pitchFamily="34" charset="0"/>
                <a:ea typeface="Calibri" pitchFamily="34" charset="-122"/>
                <a:cs typeface="Calibri" pitchFamily="34" charset="-120"/>
              </a:rPr>
              <a:t>Moderate</a:t>
            </a:r>
            <a:endParaRPr lang="en-US" sz="1200" dirty="0"/>
          </a:p>
        </p:txBody>
      </p:sp>
      <p:sp>
        <p:nvSpPr>
          <p:cNvPr id="43" name="Shape 41"/>
          <p:cNvSpPr/>
          <p:nvPr/>
        </p:nvSpPr>
        <p:spPr>
          <a:xfrm>
            <a:off x="457200" y="3822192"/>
            <a:ext cx="11277295" cy="429768"/>
          </a:xfrm>
          <a:prstGeom prst="rect">
            <a:avLst/>
          </a:prstGeom>
          <a:solidFill>
            <a:srgbClr val="F7F8F9"/>
          </a:solidFill>
          <a:ln w="12700">
            <a:solidFill>
              <a:srgbClr val="F7F8F9"/>
            </a:solidFill>
            <a:prstDash val="solid"/>
          </a:ln>
        </p:spPr>
      </p:sp>
      <p:sp>
        <p:nvSpPr>
          <p:cNvPr id="44" name="Text 42"/>
          <p:cNvSpPr txBox="1"/>
          <p:nvPr/>
        </p:nvSpPr>
        <p:spPr>
          <a:xfrm>
            <a:off x="548640" y="3822192"/>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Trust &amp; honesty</a:t>
            </a:r>
            <a:endParaRPr lang="en-US" sz="1400" dirty="0"/>
          </a:p>
        </p:txBody>
      </p:sp>
      <p:sp>
        <p:nvSpPr>
          <p:cNvPr id="45" name="Shape 43"/>
          <p:cNvSpPr/>
          <p:nvPr/>
        </p:nvSpPr>
        <p:spPr>
          <a:xfrm>
            <a:off x="3429000" y="3941064"/>
            <a:ext cx="2743200" cy="192024"/>
          </a:xfrm>
          <a:prstGeom prst="rect">
            <a:avLst/>
          </a:prstGeom>
          <a:solidFill>
            <a:srgbClr val="E4E8EB"/>
          </a:solidFill>
          <a:ln w="12700">
            <a:solidFill>
              <a:srgbClr val="E4E8EB"/>
            </a:solidFill>
            <a:prstDash val="solid"/>
          </a:ln>
        </p:spPr>
      </p:sp>
      <p:sp>
        <p:nvSpPr>
          <p:cNvPr id="46" name="Shape 44"/>
          <p:cNvSpPr/>
          <p:nvPr/>
        </p:nvSpPr>
        <p:spPr>
          <a:xfrm>
            <a:off x="3429000" y="3941064"/>
            <a:ext cx="1316736" cy="192024"/>
          </a:xfrm>
          <a:prstGeom prst="rect">
            <a:avLst/>
          </a:prstGeom>
          <a:solidFill>
            <a:srgbClr val="D9432B"/>
          </a:solidFill>
          <a:ln w="12700">
            <a:solidFill>
              <a:srgbClr val="D9432B"/>
            </a:solidFill>
            <a:prstDash val="solid"/>
          </a:ln>
        </p:spPr>
      </p:sp>
      <p:sp>
        <p:nvSpPr>
          <p:cNvPr id="47" name="Text 45"/>
          <p:cNvSpPr txBox="1"/>
          <p:nvPr/>
        </p:nvSpPr>
        <p:spPr>
          <a:xfrm>
            <a:off x="6263640" y="3822192"/>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2.4</a:t>
            </a:r>
            <a:endParaRPr lang="en-US" sz="1400" dirty="0"/>
          </a:p>
        </p:txBody>
      </p:sp>
      <p:sp>
        <p:nvSpPr>
          <p:cNvPr id="48" name="Text 46"/>
          <p:cNvSpPr txBox="1"/>
          <p:nvPr/>
        </p:nvSpPr>
        <p:spPr>
          <a:xfrm>
            <a:off x="6903720" y="3822192"/>
            <a:ext cx="1280160" cy="429768"/>
          </a:xfrm>
          <a:prstGeom prst="rect">
            <a:avLst/>
          </a:prstGeom>
          <a:noFill/>
          <a:ln/>
        </p:spPr>
        <p:txBody>
          <a:bodyPr wrap="square" lIns="0" tIns="0" rIns="0" bIns="0" rtlCol="0" anchor="ctr"/>
          <a:lstStyle/>
          <a:p>
            <a:pPr algn="ctr" indent="0" marL="0">
              <a:buNone/>
            </a:pPr>
            <a:r>
              <a:rPr lang="en-US" sz="1400" dirty="0">
                <a:solidFill>
                  <a:srgbClr val="18222B"/>
                </a:solidFill>
                <a:latin typeface="Calibri" pitchFamily="34" charset="0"/>
                <a:ea typeface="Calibri" pitchFamily="34" charset="-122"/>
                <a:cs typeface="Calibri" pitchFamily="34" charset="-120"/>
              </a:rPr>
              <a:t>41%</a:t>
            </a:r>
            <a:endParaRPr lang="en-US" sz="1400" dirty="0"/>
          </a:p>
        </p:txBody>
      </p:sp>
      <p:sp>
        <p:nvSpPr>
          <p:cNvPr id="49" name="Text 47"/>
          <p:cNvSpPr txBox="1"/>
          <p:nvPr/>
        </p:nvSpPr>
        <p:spPr>
          <a:xfrm>
            <a:off x="8412480" y="3822192"/>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2.1</a:t>
            </a:r>
            <a:endParaRPr lang="en-US" sz="1400" dirty="0"/>
          </a:p>
        </p:txBody>
      </p:sp>
      <p:sp>
        <p:nvSpPr>
          <p:cNvPr id="50" name="Shape 48"/>
          <p:cNvSpPr/>
          <p:nvPr/>
        </p:nvSpPr>
        <p:spPr>
          <a:xfrm>
            <a:off x="10058400" y="3904488"/>
            <a:ext cx="1371600" cy="265176"/>
          </a:xfrm>
          <a:prstGeom prst="roundRect">
            <a:avLst>
              <a:gd name="adj" fmla="val 41379"/>
            </a:avLst>
          </a:prstGeom>
          <a:solidFill>
            <a:srgbClr val="FFFFFF"/>
          </a:solidFill>
          <a:ln w="12700">
            <a:solidFill>
              <a:srgbClr val="D9432B"/>
            </a:solidFill>
            <a:prstDash val="solid"/>
          </a:ln>
        </p:spPr>
      </p:sp>
      <p:sp>
        <p:nvSpPr>
          <p:cNvPr id="51" name="Text 49"/>
          <p:cNvSpPr txBox="1"/>
          <p:nvPr/>
        </p:nvSpPr>
        <p:spPr>
          <a:xfrm>
            <a:off x="10058400" y="3904488"/>
            <a:ext cx="1371600" cy="265176"/>
          </a:xfrm>
          <a:prstGeom prst="rect">
            <a:avLst/>
          </a:prstGeom>
          <a:noFill/>
          <a:ln/>
        </p:spPr>
        <p:txBody>
          <a:bodyPr wrap="square" lIns="0" tIns="0" rIns="0" bIns="0" rtlCol="0" anchor="ctr"/>
          <a:lstStyle/>
          <a:p>
            <a:pPr algn="ctr" indent="0" marL="0">
              <a:buNone/>
            </a:pPr>
            <a:r>
              <a:rPr lang="en-US" sz="1200" b="1" dirty="0">
                <a:solidFill>
                  <a:srgbClr val="D9432B"/>
                </a:solidFill>
                <a:latin typeface="Calibri" pitchFamily="34" charset="0"/>
                <a:ea typeface="Calibri" pitchFamily="34" charset="-122"/>
                <a:cs typeface="Calibri" pitchFamily="34" charset="-120"/>
              </a:rPr>
              <a:t>Strong</a:t>
            </a:r>
            <a:endParaRPr lang="en-US" sz="1200" dirty="0"/>
          </a:p>
        </p:txBody>
      </p:sp>
      <p:sp>
        <p:nvSpPr>
          <p:cNvPr id="52" name="Text 50"/>
          <p:cNvSpPr txBox="1"/>
          <p:nvPr/>
        </p:nvSpPr>
        <p:spPr>
          <a:xfrm>
            <a:off x="548640" y="4251960"/>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Earnings &amp; timely payments</a:t>
            </a:r>
            <a:endParaRPr lang="en-US" sz="1400" dirty="0"/>
          </a:p>
        </p:txBody>
      </p:sp>
      <p:sp>
        <p:nvSpPr>
          <p:cNvPr id="53" name="Shape 51"/>
          <p:cNvSpPr/>
          <p:nvPr/>
        </p:nvSpPr>
        <p:spPr>
          <a:xfrm>
            <a:off x="3429000" y="4370832"/>
            <a:ext cx="2743200" cy="192024"/>
          </a:xfrm>
          <a:prstGeom prst="rect">
            <a:avLst/>
          </a:prstGeom>
          <a:solidFill>
            <a:srgbClr val="E4E8EB"/>
          </a:solidFill>
          <a:ln w="12700">
            <a:solidFill>
              <a:srgbClr val="E4E8EB"/>
            </a:solidFill>
            <a:prstDash val="solid"/>
          </a:ln>
        </p:spPr>
      </p:sp>
      <p:sp>
        <p:nvSpPr>
          <p:cNvPr id="54" name="Shape 52"/>
          <p:cNvSpPr/>
          <p:nvPr/>
        </p:nvSpPr>
        <p:spPr>
          <a:xfrm>
            <a:off x="3429000" y="4370832"/>
            <a:ext cx="1426464" cy="192024"/>
          </a:xfrm>
          <a:prstGeom prst="rect">
            <a:avLst/>
          </a:prstGeom>
          <a:solidFill>
            <a:srgbClr val="5E7481"/>
          </a:solidFill>
          <a:ln w="12700">
            <a:solidFill>
              <a:srgbClr val="5E7481"/>
            </a:solidFill>
            <a:prstDash val="solid"/>
          </a:ln>
        </p:spPr>
      </p:sp>
      <p:sp>
        <p:nvSpPr>
          <p:cNvPr id="55" name="Text 53"/>
          <p:cNvSpPr txBox="1"/>
          <p:nvPr/>
        </p:nvSpPr>
        <p:spPr>
          <a:xfrm>
            <a:off x="6263640" y="4251960"/>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2.6</a:t>
            </a:r>
            <a:endParaRPr lang="en-US" sz="1400" dirty="0"/>
          </a:p>
        </p:txBody>
      </p:sp>
      <p:sp>
        <p:nvSpPr>
          <p:cNvPr id="56" name="Text 54"/>
          <p:cNvSpPr txBox="1"/>
          <p:nvPr/>
        </p:nvSpPr>
        <p:spPr>
          <a:xfrm>
            <a:off x="6903720" y="4251960"/>
            <a:ext cx="1280160" cy="429768"/>
          </a:xfrm>
          <a:prstGeom prst="rect">
            <a:avLst/>
          </a:prstGeom>
          <a:noFill/>
          <a:ln/>
        </p:spPr>
        <p:txBody>
          <a:bodyPr wrap="square" lIns="0" tIns="0" rIns="0" bIns="0" rtlCol="0" anchor="ctr"/>
          <a:lstStyle/>
          <a:p>
            <a:pPr algn="ctr" indent="0" marL="0">
              <a:buNone/>
            </a:pPr>
            <a:r>
              <a:rPr lang="en-US" sz="1400" dirty="0">
                <a:solidFill>
                  <a:srgbClr val="18222B"/>
                </a:solidFill>
                <a:latin typeface="Calibri" pitchFamily="34" charset="0"/>
                <a:ea typeface="Calibri" pitchFamily="34" charset="-122"/>
                <a:cs typeface="Calibri" pitchFamily="34" charset="-120"/>
              </a:rPr>
              <a:t>35%</a:t>
            </a:r>
            <a:endParaRPr lang="en-US" sz="1400" dirty="0"/>
          </a:p>
        </p:txBody>
      </p:sp>
      <p:sp>
        <p:nvSpPr>
          <p:cNvPr id="57" name="Text 55"/>
          <p:cNvSpPr txBox="1"/>
          <p:nvPr/>
        </p:nvSpPr>
        <p:spPr>
          <a:xfrm>
            <a:off x="8412480" y="4251960"/>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2.4</a:t>
            </a:r>
            <a:endParaRPr lang="en-US" sz="1400" dirty="0"/>
          </a:p>
        </p:txBody>
      </p:sp>
      <p:sp>
        <p:nvSpPr>
          <p:cNvPr id="58" name="Shape 56"/>
          <p:cNvSpPr/>
          <p:nvPr/>
        </p:nvSpPr>
        <p:spPr>
          <a:xfrm>
            <a:off x="10058400" y="4334256"/>
            <a:ext cx="1371600" cy="265176"/>
          </a:xfrm>
          <a:prstGeom prst="roundRect">
            <a:avLst>
              <a:gd name="adj" fmla="val 41379"/>
            </a:avLst>
          </a:prstGeom>
          <a:solidFill>
            <a:srgbClr val="FFFFFF"/>
          </a:solidFill>
          <a:ln w="12700">
            <a:solidFill>
              <a:srgbClr val="C98A1B"/>
            </a:solidFill>
            <a:prstDash val="solid"/>
          </a:ln>
        </p:spPr>
      </p:sp>
      <p:sp>
        <p:nvSpPr>
          <p:cNvPr id="59" name="Text 57"/>
          <p:cNvSpPr txBox="1"/>
          <p:nvPr/>
        </p:nvSpPr>
        <p:spPr>
          <a:xfrm>
            <a:off x="10058400" y="4334256"/>
            <a:ext cx="1371600" cy="265176"/>
          </a:xfrm>
          <a:prstGeom prst="rect">
            <a:avLst/>
          </a:prstGeom>
          <a:noFill/>
          <a:ln/>
        </p:spPr>
        <p:txBody>
          <a:bodyPr wrap="square" lIns="0" tIns="0" rIns="0" bIns="0" rtlCol="0" anchor="ctr"/>
          <a:lstStyle/>
          <a:p>
            <a:pPr algn="ctr" indent="0" marL="0">
              <a:buNone/>
            </a:pPr>
            <a:r>
              <a:rPr lang="en-US" sz="1200" b="1" dirty="0">
                <a:solidFill>
                  <a:srgbClr val="C98A1B"/>
                </a:solidFill>
                <a:latin typeface="Calibri" pitchFamily="34" charset="0"/>
                <a:ea typeface="Calibri" pitchFamily="34" charset="-122"/>
                <a:cs typeface="Calibri" pitchFamily="34" charset="-120"/>
              </a:rPr>
              <a:t>Moderate</a:t>
            </a:r>
            <a:endParaRPr lang="en-US" sz="1200" dirty="0"/>
          </a:p>
        </p:txBody>
      </p:sp>
      <p:sp>
        <p:nvSpPr>
          <p:cNvPr id="60" name="Shape 58"/>
          <p:cNvSpPr/>
          <p:nvPr/>
        </p:nvSpPr>
        <p:spPr>
          <a:xfrm>
            <a:off x="457200" y="4681728"/>
            <a:ext cx="11277295" cy="429768"/>
          </a:xfrm>
          <a:prstGeom prst="rect">
            <a:avLst/>
          </a:prstGeom>
          <a:solidFill>
            <a:srgbClr val="F7F8F9"/>
          </a:solidFill>
          <a:ln w="12700">
            <a:solidFill>
              <a:srgbClr val="F7F8F9"/>
            </a:solidFill>
            <a:prstDash val="solid"/>
          </a:ln>
        </p:spPr>
      </p:sp>
      <p:sp>
        <p:nvSpPr>
          <p:cNvPr id="61" name="Text 59"/>
          <p:cNvSpPr txBox="1"/>
          <p:nvPr/>
        </p:nvSpPr>
        <p:spPr>
          <a:xfrm>
            <a:off x="548640" y="4681728"/>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Understanding Hisaab</a:t>
            </a:r>
            <a:endParaRPr lang="en-US" sz="1400" dirty="0"/>
          </a:p>
        </p:txBody>
      </p:sp>
      <p:sp>
        <p:nvSpPr>
          <p:cNvPr id="62" name="Shape 60"/>
          <p:cNvSpPr/>
          <p:nvPr/>
        </p:nvSpPr>
        <p:spPr>
          <a:xfrm>
            <a:off x="3429000" y="4800600"/>
            <a:ext cx="2743200" cy="192024"/>
          </a:xfrm>
          <a:prstGeom prst="rect">
            <a:avLst/>
          </a:prstGeom>
          <a:solidFill>
            <a:srgbClr val="E4E8EB"/>
          </a:solidFill>
          <a:ln w="12700">
            <a:solidFill>
              <a:srgbClr val="E4E8EB"/>
            </a:solidFill>
            <a:prstDash val="solid"/>
          </a:ln>
        </p:spPr>
      </p:sp>
      <p:sp>
        <p:nvSpPr>
          <p:cNvPr id="63" name="Shape 61"/>
          <p:cNvSpPr/>
          <p:nvPr/>
        </p:nvSpPr>
        <p:spPr>
          <a:xfrm>
            <a:off x="3429000" y="4800600"/>
            <a:ext cx="1481328" cy="192024"/>
          </a:xfrm>
          <a:prstGeom prst="rect">
            <a:avLst/>
          </a:prstGeom>
          <a:solidFill>
            <a:srgbClr val="5E7481"/>
          </a:solidFill>
          <a:ln w="12700">
            <a:solidFill>
              <a:srgbClr val="5E7481"/>
            </a:solidFill>
            <a:prstDash val="solid"/>
          </a:ln>
        </p:spPr>
      </p:sp>
      <p:sp>
        <p:nvSpPr>
          <p:cNvPr id="64" name="Text 62"/>
          <p:cNvSpPr txBox="1"/>
          <p:nvPr/>
        </p:nvSpPr>
        <p:spPr>
          <a:xfrm>
            <a:off x="6263640" y="4681728"/>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2.7</a:t>
            </a:r>
            <a:endParaRPr lang="en-US" sz="1400" dirty="0"/>
          </a:p>
        </p:txBody>
      </p:sp>
      <p:sp>
        <p:nvSpPr>
          <p:cNvPr id="65" name="Text 63"/>
          <p:cNvSpPr txBox="1"/>
          <p:nvPr/>
        </p:nvSpPr>
        <p:spPr>
          <a:xfrm>
            <a:off x="6903720" y="4681728"/>
            <a:ext cx="1280160" cy="429768"/>
          </a:xfrm>
          <a:prstGeom prst="rect">
            <a:avLst/>
          </a:prstGeom>
          <a:noFill/>
          <a:ln/>
        </p:spPr>
        <p:txBody>
          <a:bodyPr wrap="square" lIns="0" tIns="0" rIns="0" bIns="0" rtlCol="0" anchor="ctr"/>
          <a:lstStyle/>
          <a:p>
            <a:pPr algn="ctr" indent="0" marL="0">
              <a:buNone/>
            </a:pPr>
            <a:r>
              <a:rPr lang="en-US" sz="1400" dirty="0">
                <a:solidFill>
                  <a:srgbClr val="18222B"/>
                </a:solidFill>
                <a:latin typeface="Calibri" pitchFamily="34" charset="0"/>
                <a:ea typeface="Calibri" pitchFamily="34" charset="-122"/>
                <a:cs typeface="Calibri" pitchFamily="34" charset="-120"/>
              </a:rPr>
              <a:t>32%</a:t>
            </a:r>
            <a:endParaRPr lang="en-US" sz="1400" dirty="0"/>
          </a:p>
        </p:txBody>
      </p:sp>
      <p:sp>
        <p:nvSpPr>
          <p:cNvPr id="66" name="Text 64"/>
          <p:cNvSpPr txBox="1"/>
          <p:nvPr/>
        </p:nvSpPr>
        <p:spPr>
          <a:xfrm>
            <a:off x="8412480" y="4681728"/>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2.5</a:t>
            </a:r>
            <a:endParaRPr lang="en-US" sz="1400" dirty="0"/>
          </a:p>
        </p:txBody>
      </p:sp>
      <p:sp>
        <p:nvSpPr>
          <p:cNvPr id="67" name="Shape 65"/>
          <p:cNvSpPr/>
          <p:nvPr/>
        </p:nvSpPr>
        <p:spPr>
          <a:xfrm>
            <a:off x="10058400" y="4764024"/>
            <a:ext cx="1371600" cy="265176"/>
          </a:xfrm>
          <a:prstGeom prst="roundRect">
            <a:avLst>
              <a:gd name="adj" fmla="val 41379"/>
            </a:avLst>
          </a:prstGeom>
          <a:solidFill>
            <a:srgbClr val="FFFFFF"/>
          </a:solidFill>
          <a:ln w="12700">
            <a:solidFill>
              <a:srgbClr val="8A959E"/>
            </a:solidFill>
            <a:prstDash val="solid"/>
          </a:ln>
        </p:spPr>
      </p:sp>
      <p:sp>
        <p:nvSpPr>
          <p:cNvPr id="68" name="Text 66"/>
          <p:cNvSpPr txBox="1"/>
          <p:nvPr/>
        </p:nvSpPr>
        <p:spPr>
          <a:xfrm>
            <a:off x="10058400" y="4764024"/>
            <a:ext cx="1371600" cy="265176"/>
          </a:xfrm>
          <a:prstGeom prst="rect">
            <a:avLst/>
          </a:prstGeom>
          <a:noFill/>
          <a:ln/>
        </p:spPr>
        <p:txBody>
          <a:bodyPr wrap="square" lIns="0" tIns="0" rIns="0" bIns="0" rtlCol="0" anchor="ctr"/>
          <a:lstStyle/>
          <a:p>
            <a:pPr algn="ctr" indent="0" marL="0">
              <a:buNone/>
            </a:pPr>
            <a:r>
              <a:rPr lang="en-US" sz="1200" b="1" dirty="0">
                <a:solidFill>
                  <a:srgbClr val="8A959E"/>
                </a:solidFill>
                <a:latin typeface="Calibri" pitchFamily="34" charset="0"/>
                <a:ea typeface="Calibri" pitchFamily="34" charset="-122"/>
                <a:cs typeface="Calibri" pitchFamily="34" charset="-120"/>
              </a:rPr>
              <a:t>Weaker</a:t>
            </a:r>
            <a:endParaRPr lang="en-US" sz="1200" dirty="0"/>
          </a:p>
        </p:txBody>
      </p:sp>
      <p:sp>
        <p:nvSpPr>
          <p:cNvPr id="69" name="Text 67"/>
          <p:cNvSpPr txBox="1"/>
          <p:nvPr/>
        </p:nvSpPr>
        <p:spPr>
          <a:xfrm>
            <a:off x="548640" y="5111496"/>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Understanding communications</a:t>
            </a:r>
            <a:endParaRPr lang="en-US" sz="1400" dirty="0"/>
          </a:p>
        </p:txBody>
      </p:sp>
      <p:sp>
        <p:nvSpPr>
          <p:cNvPr id="70" name="Shape 68"/>
          <p:cNvSpPr/>
          <p:nvPr/>
        </p:nvSpPr>
        <p:spPr>
          <a:xfrm>
            <a:off x="3429000" y="5230368"/>
            <a:ext cx="2743200" cy="192024"/>
          </a:xfrm>
          <a:prstGeom prst="rect">
            <a:avLst/>
          </a:prstGeom>
          <a:solidFill>
            <a:srgbClr val="E4E8EB"/>
          </a:solidFill>
          <a:ln w="12700">
            <a:solidFill>
              <a:srgbClr val="E4E8EB"/>
            </a:solidFill>
            <a:prstDash val="solid"/>
          </a:ln>
        </p:spPr>
      </p:sp>
      <p:sp>
        <p:nvSpPr>
          <p:cNvPr id="71" name="Shape 69"/>
          <p:cNvSpPr/>
          <p:nvPr/>
        </p:nvSpPr>
        <p:spPr>
          <a:xfrm>
            <a:off x="3429000" y="5230368"/>
            <a:ext cx="1536192" cy="192024"/>
          </a:xfrm>
          <a:prstGeom prst="rect">
            <a:avLst/>
          </a:prstGeom>
          <a:solidFill>
            <a:srgbClr val="5E7481"/>
          </a:solidFill>
          <a:ln w="12700">
            <a:solidFill>
              <a:srgbClr val="5E7481"/>
            </a:solidFill>
            <a:prstDash val="solid"/>
          </a:ln>
        </p:spPr>
      </p:sp>
      <p:sp>
        <p:nvSpPr>
          <p:cNvPr id="72" name="Text 70"/>
          <p:cNvSpPr txBox="1"/>
          <p:nvPr/>
        </p:nvSpPr>
        <p:spPr>
          <a:xfrm>
            <a:off x="6263640" y="5111496"/>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2.8</a:t>
            </a:r>
            <a:endParaRPr lang="en-US" sz="1400" dirty="0"/>
          </a:p>
        </p:txBody>
      </p:sp>
      <p:sp>
        <p:nvSpPr>
          <p:cNvPr id="73" name="Text 71"/>
          <p:cNvSpPr txBox="1"/>
          <p:nvPr/>
        </p:nvSpPr>
        <p:spPr>
          <a:xfrm>
            <a:off x="6903720" y="5111496"/>
            <a:ext cx="1280160" cy="429768"/>
          </a:xfrm>
          <a:prstGeom prst="rect">
            <a:avLst/>
          </a:prstGeom>
          <a:noFill/>
          <a:ln/>
        </p:spPr>
        <p:txBody>
          <a:bodyPr wrap="square" lIns="0" tIns="0" rIns="0" bIns="0" rtlCol="0" anchor="ctr"/>
          <a:lstStyle/>
          <a:p>
            <a:pPr algn="ctr" indent="0" marL="0">
              <a:buNone/>
            </a:pPr>
            <a:r>
              <a:rPr lang="en-US" sz="1400" dirty="0">
                <a:solidFill>
                  <a:srgbClr val="18222B"/>
                </a:solidFill>
                <a:latin typeface="Calibri" pitchFamily="34" charset="0"/>
                <a:ea typeface="Calibri" pitchFamily="34" charset="-122"/>
                <a:cs typeface="Calibri" pitchFamily="34" charset="-120"/>
              </a:rPr>
              <a:t>30%</a:t>
            </a:r>
            <a:endParaRPr lang="en-US" sz="1400" dirty="0"/>
          </a:p>
        </p:txBody>
      </p:sp>
      <p:sp>
        <p:nvSpPr>
          <p:cNvPr id="74" name="Text 72"/>
          <p:cNvSpPr txBox="1"/>
          <p:nvPr/>
        </p:nvSpPr>
        <p:spPr>
          <a:xfrm>
            <a:off x="8412480" y="5111496"/>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2.6</a:t>
            </a:r>
            <a:endParaRPr lang="en-US" sz="1400" dirty="0"/>
          </a:p>
        </p:txBody>
      </p:sp>
      <p:sp>
        <p:nvSpPr>
          <p:cNvPr id="75" name="Shape 73"/>
          <p:cNvSpPr/>
          <p:nvPr/>
        </p:nvSpPr>
        <p:spPr>
          <a:xfrm>
            <a:off x="10058400" y="5193792"/>
            <a:ext cx="1371600" cy="265176"/>
          </a:xfrm>
          <a:prstGeom prst="roundRect">
            <a:avLst>
              <a:gd name="adj" fmla="val 41379"/>
            </a:avLst>
          </a:prstGeom>
          <a:solidFill>
            <a:srgbClr val="FFFFFF"/>
          </a:solidFill>
          <a:ln w="12700">
            <a:solidFill>
              <a:srgbClr val="8A959E"/>
            </a:solidFill>
            <a:prstDash val="solid"/>
          </a:ln>
        </p:spPr>
      </p:sp>
      <p:sp>
        <p:nvSpPr>
          <p:cNvPr id="76" name="Text 74"/>
          <p:cNvSpPr txBox="1"/>
          <p:nvPr/>
        </p:nvSpPr>
        <p:spPr>
          <a:xfrm>
            <a:off x="10058400" y="5193792"/>
            <a:ext cx="1371600" cy="265176"/>
          </a:xfrm>
          <a:prstGeom prst="rect">
            <a:avLst/>
          </a:prstGeom>
          <a:noFill/>
          <a:ln/>
        </p:spPr>
        <p:txBody>
          <a:bodyPr wrap="square" lIns="0" tIns="0" rIns="0" bIns="0" rtlCol="0" anchor="ctr"/>
          <a:lstStyle/>
          <a:p>
            <a:pPr algn="ctr" indent="0" marL="0">
              <a:buNone/>
            </a:pPr>
            <a:r>
              <a:rPr lang="en-US" sz="1200" b="1" dirty="0">
                <a:solidFill>
                  <a:srgbClr val="8A959E"/>
                </a:solidFill>
                <a:latin typeface="Calibri" pitchFamily="34" charset="0"/>
                <a:ea typeface="Calibri" pitchFamily="34" charset="-122"/>
                <a:cs typeface="Calibri" pitchFamily="34" charset="-120"/>
              </a:rPr>
              <a:t>Weaker</a:t>
            </a:r>
            <a:endParaRPr lang="en-US" sz="1200" dirty="0"/>
          </a:p>
        </p:txBody>
      </p:sp>
      <p:sp>
        <p:nvSpPr>
          <p:cNvPr id="77" name="Shape 75"/>
          <p:cNvSpPr/>
          <p:nvPr/>
        </p:nvSpPr>
        <p:spPr>
          <a:xfrm>
            <a:off x="457200" y="5541264"/>
            <a:ext cx="11277295" cy="429768"/>
          </a:xfrm>
          <a:prstGeom prst="rect">
            <a:avLst/>
          </a:prstGeom>
          <a:solidFill>
            <a:srgbClr val="F7F8F9"/>
          </a:solidFill>
          <a:ln w="12700">
            <a:solidFill>
              <a:srgbClr val="F7F8F9"/>
            </a:solidFill>
            <a:prstDash val="solid"/>
          </a:ln>
        </p:spPr>
      </p:sp>
      <p:sp>
        <p:nvSpPr>
          <p:cNvPr id="78" name="Text 76"/>
          <p:cNvSpPr txBox="1"/>
          <p:nvPr/>
        </p:nvSpPr>
        <p:spPr>
          <a:xfrm>
            <a:off x="548640" y="5541264"/>
            <a:ext cx="2834640" cy="429768"/>
          </a:xfrm>
          <a:prstGeom prst="rect">
            <a:avLst/>
          </a:prstGeom>
          <a:noFill/>
          <a:ln/>
        </p:spPr>
        <p:txBody>
          <a:bodyPr wrap="square" lIns="0" tIns="0" rIns="0" bIns="0" rtlCol="0" anchor="ctr"/>
          <a:lstStyle/>
          <a:p>
            <a:pPr indent="0" marL="0">
              <a:buNone/>
            </a:pPr>
            <a:r>
              <a:rPr lang="en-US" sz="1400" dirty="0">
                <a:solidFill>
                  <a:srgbClr val="18222B"/>
                </a:solidFill>
                <a:latin typeface="Calibri" pitchFamily="34" charset="0"/>
                <a:ea typeface="Calibri" pitchFamily="34" charset="-122"/>
                <a:cs typeface="Calibri" pitchFamily="34" charset="-120"/>
              </a:rPr>
              <a:t>Everest Fleet app</a:t>
            </a:r>
            <a:endParaRPr lang="en-US" sz="1400" dirty="0"/>
          </a:p>
        </p:txBody>
      </p:sp>
      <p:sp>
        <p:nvSpPr>
          <p:cNvPr id="79" name="Shape 77"/>
          <p:cNvSpPr/>
          <p:nvPr/>
        </p:nvSpPr>
        <p:spPr>
          <a:xfrm>
            <a:off x="3429000" y="5660136"/>
            <a:ext cx="2743200" cy="192024"/>
          </a:xfrm>
          <a:prstGeom prst="rect">
            <a:avLst/>
          </a:prstGeom>
          <a:solidFill>
            <a:srgbClr val="E4E8EB"/>
          </a:solidFill>
          <a:ln w="12700">
            <a:solidFill>
              <a:srgbClr val="E4E8EB"/>
            </a:solidFill>
            <a:prstDash val="solid"/>
          </a:ln>
        </p:spPr>
      </p:sp>
      <p:sp>
        <p:nvSpPr>
          <p:cNvPr id="80" name="Shape 78"/>
          <p:cNvSpPr/>
          <p:nvPr/>
        </p:nvSpPr>
        <p:spPr>
          <a:xfrm>
            <a:off x="3429000" y="5660136"/>
            <a:ext cx="1645920" cy="192024"/>
          </a:xfrm>
          <a:prstGeom prst="rect">
            <a:avLst/>
          </a:prstGeom>
          <a:solidFill>
            <a:srgbClr val="5E7481"/>
          </a:solidFill>
          <a:ln w="12700">
            <a:solidFill>
              <a:srgbClr val="5E7481"/>
            </a:solidFill>
            <a:prstDash val="solid"/>
          </a:ln>
        </p:spPr>
      </p:sp>
      <p:sp>
        <p:nvSpPr>
          <p:cNvPr id="81" name="Text 79"/>
          <p:cNvSpPr txBox="1"/>
          <p:nvPr/>
        </p:nvSpPr>
        <p:spPr>
          <a:xfrm>
            <a:off x="6263640" y="5541264"/>
            <a:ext cx="548640" cy="429768"/>
          </a:xfrm>
          <a:prstGeom prst="rect">
            <a:avLst/>
          </a:prstGeom>
          <a:noFill/>
          <a:ln/>
        </p:spPr>
        <p:txBody>
          <a:bodyPr wrap="square" lIns="0" tIns="0" rIns="0" bIns="0" rtlCol="0" anchor="ctr"/>
          <a:lstStyle/>
          <a:p>
            <a:pPr indent="0" marL="0">
              <a:buNone/>
            </a:pPr>
            <a:r>
              <a:rPr lang="en-US" sz="1400" b="1" dirty="0">
                <a:solidFill>
                  <a:srgbClr val="18222B"/>
                </a:solidFill>
                <a:latin typeface="Calibri" pitchFamily="34" charset="0"/>
                <a:ea typeface="Calibri" pitchFamily="34" charset="-122"/>
                <a:cs typeface="Calibri" pitchFamily="34" charset="-120"/>
              </a:rPr>
              <a:t>3.0</a:t>
            </a:r>
            <a:endParaRPr lang="en-US" sz="1400" dirty="0"/>
          </a:p>
        </p:txBody>
      </p:sp>
      <p:sp>
        <p:nvSpPr>
          <p:cNvPr id="82" name="Text 80"/>
          <p:cNvSpPr txBox="1"/>
          <p:nvPr/>
        </p:nvSpPr>
        <p:spPr>
          <a:xfrm>
            <a:off x="6903720" y="5541264"/>
            <a:ext cx="1280160" cy="429768"/>
          </a:xfrm>
          <a:prstGeom prst="rect">
            <a:avLst/>
          </a:prstGeom>
          <a:noFill/>
          <a:ln/>
        </p:spPr>
        <p:txBody>
          <a:bodyPr wrap="square" lIns="0" tIns="0" rIns="0" bIns="0" rtlCol="0" anchor="ctr"/>
          <a:lstStyle/>
          <a:p>
            <a:pPr algn="ctr" indent="0" marL="0">
              <a:buNone/>
            </a:pPr>
            <a:r>
              <a:rPr lang="en-US" sz="1400" dirty="0">
                <a:solidFill>
                  <a:srgbClr val="18222B"/>
                </a:solidFill>
                <a:latin typeface="Calibri" pitchFamily="34" charset="0"/>
                <a:ea typeface="Calibri" pitchFamily="34" charset="-122"/>
                <a:cs typeface="Calibri" pitchFamily="34" charset="-120"/>
              </a:rPr>
              <a:t>27%</a:t>
            </a:r>
            <a:endParaRPr lang="en-US" sz="1400" dirty="0"/>
          </a:p>
        </p:txBody>
      </p:sp>
      <p:sp>
        <p:nvSpPr>
          <p:cNvPr id="83" name="Text 81"/>
          <p:cNvSpPr txBox="1"/>
          <p:nvPr/>
        </p:nvSpPr>
        <p:spPr>
          <a:xfrm>
            <a:off x="8412480" y="5541264"/>
            <a:ext cx="1280160" cy="429768"/>
          </a:xfrm>
          <a:prstGeom prst="rect">
            <a:avLst/>
          </a:prstGeom>
          <a:noFill/>
          <a:ln/>
        </p:spPr>
        <p:txBody>
          <a:bodyPr wrap="square" lIns="0" tIns="0" rIns="0" bIns="0" rtlCol="0" anchor="ctr"/>
          <a:lstStyle/>
          <a:p>
            <a:pPr algn="ctr" indent="0" marL="0">
              <a:buNone/>
            </a:pPr>
            <a:r>
              <a:rPr lang="en-US" sz="1400" dirty="0">
                <a:solidFill>
                  <a:srgbClr val="56636E"/>
                </a:solidFill>
                <a:latin typeface="Calibri" pitchFamily="34" charset="0"/>
                <a:ea typeface="Calibri" pitchFamily="34" charset="-122"/>
                <a:cs typeface="Calibri" pitchFamily="34" charset="-120"/>
              </a:rPr>
              <a:t>2.7</a:t>
            </a:r>
            <a:endParaRPr lang="en-US" sz="1400" dirty="0"/>
          </a:p>
        </p:txBody>
      </p:sp>
      <p:sp>
        <p:nvSpPr>
          <p:cNvPr id="84" name="Shape 82"/>
          <p:cNvSpPr/>
          <p:nvPr/>
        </p:nvSpPr>
        <p:spPr>
          <a:xfrm>
            <a:off x="10058400" y="5623560"/>
            <a:ext cx="1371600" cy="265176"/>
          </a:xfrm>
          <a:prstGeom prst="roundRect">
            <a:avLst>
              <a:gd name="adj" fmla="val 41379"/>
            </a:avLst>
          </a:prstGeom>
          <a:solidFill>
            <a:srgbClr val="FFFFFF"/>
          </a:solidFill>
          <a:ln w="12700">
            <a:solidFill>
              <a:srgbClr val="8A959E"/>
            </a:solidFill>
            <a:prstDash val="solid"/>
          </a:ln>
        </p:spPr>
      </p:sp>
      <p:sp>
        <p:nvSpPr>
          <p:cNvPr id="85" name="Text 83"/>
          <p:cNvSpPr txBox="1"/>
          <p:nvPr/>
        </p:nvSpPr>
        <p:spPr>
          <a:xfrm>
            <a:off x="10058400" y="5623560"/>
            <a:ext cx="1371600" cy="265176"/>
          </a:xfrm>
          <a:prstGeom prst="rect">
            <a:avLst/>
          </a:prstGeom>
          <a:noFill/>
          <a:ln/>
        </p:spPr>
        <p:txBody>
          <a:bodyPr wrap="square" lIns="0" tIns="0" rIns="0" bIns="0" rtlCol="0" anchor="ctr"/>
          <a:lstStyle/>
          <a:p>
            <a:pPr algn="ctr" indent="0" marL="0">
              <a:buNone/>
            </a:pPr>
            <a:r>
              <a:rPr lang="en-US" sz="1200" b="1" dirty="0">
                <a:solidFill>
                  <a:srgbClr val="8A959E"/>
                </a:solidFill>
                <a:latin typeface="Calibri" pitchFamily="34" charset="0"/>
                <a:ea typeface="Calibri" pitchFamily="34" charset="-122"/>
                <a:cs typeface="Calibri" pitchFamily="34" charset="-120"/>
              </a:rPr>
              <a:t>Weaker</a:t>
            </a:r>
            <a:endParaRPr lang="en-US" sz="1200" dirty="0"/>
          </a:p>
        </p:txBody>
      </p:sp>
      <p:sp>
        <p:nvSpPr>
          <p:cNvPr id="86" name="Text 84"/>
          <p:cNvSpPr txBox="1"/>
          <p:nvPr/>
        </p:nvSpPr>
        <p:spPr>
          <a:xfrm>
            <a:off x="548640" y="6172200"/>
            <a:ext cx="10058400" cy="228600"/>
          </a:xfrm>
          <a:prstGeom prst="rect">
            <a:avLst/>
          </a:prstGeom>
          <a:noFill/>
          <a:ln/>
        </p:spPr>
        <p:txBody>
          <a:bodyPr wrap="square" lIns="0" tIns="0" rIns="0" bIns="0" rtlCol="0" anchor="t"/>
          <a:lstStyle/>
          <a:p>
            <a:pPr indent="0" marL="0">
              <a:buNone/>
            </a:pPr>
            <a:r>
              <a:rPr lang="en-US" sz="1100" dirty="0">
                <a:solidFill>
                  <a:srgbClr val="8A959E"/>
                </a:solidFill>
                <a:latin typeface="Calibri" pitchFamily="34" charset="0"/>
                <a:ea typeface="Calibri" pitchFamily="34" charset="-122"/>
                <a:cs typeface="Calibri" pitchFamily="34" charset="-120"/>
              </a:rPr>
              <a:t>Link to loyalty: how closely a driver's rating moves with how likely they are to recommend Everest.</a:t>
            </a:r>
            <a:endParaRPr lang="en-US" sz="1100" dirty="0"/>
          </a:p>
        </p:txBody>
      </p:sp>
      <p:sp>
        <p:nvSpPr>
          <p:cNvPr id="87" name="Text 8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Support holds up until the problem has to be solved</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Everest Support Rating, Active drivers, 1 to 5, in journey order</a:t>
            </a:r>
            <a:endParaRPr lang="en-US" sz="1600" dirty="0"/>
          </a:p>
        </p:txBody>
      </p:sp>
      <p:sp>
        <p:nvSpPr>
          <p:cNvPr id="4" name="Shape 2"/>
          <p:cNvSpPr/>
          <p:nvPr/>
        </p:nvSpPr>
        <p:spPr>
          <a:xfrm>
            <a:off x="548640" y="1783080"/>
            <a:ext cx="1737360" cy="2514600"/>
          </a:xfrm>
          <a:prstGeom prst="roundRect">
            <a:avLst>
              <a:gd name="adj" fmla="val 4211"/>
            </a:avLst>
          </a:prstGeom>
          <a:solidFill>
            <a:srgbClr val="F1F3F5"/>
          </a:solidFill>
          <a:ln w="12700">
            <a:solidFill>
              <a:srgbClr val="F1F3F5"/>
            </a:solidFill>
            <a:prstDash val="solid"/>
          </a:ln>
        </p:spPr>
      </p:sp>
      <p:sp>
        <p:nvSpPr>
          <p:cNvPr id="5" name="Text 3"/>
          <p:cNvSpPr txBox="1"/>
          <p:nvPr/>
        </p:nvSpPr>
        <p:spPr>
          <a:xfrm>
            <a:off x="731520" y="1920240"/>
            <a:ext cx="457200" cy="274320"/>
          </a:xfrm>
          <a:prstGeom prst="rect">
            <a:avLst/>
          </a:prstGeom>
          <a:noFill/>
          <a:ln/>
        </p:spPr>
        <p:txBody>
          <a:bodyPr wrap="square" lIns="0" tIns="0" rIns="0" bIns="0" rtlCol="0" anchor="t"/>
          <a:lstStyle/>
          <a:p>
            <a:pPr indent="0" marL="0">
              <a:buNone/>
            </a:pPr>
            <a:r>
              <a:rPr lang="en-US" sz="1200" b="1" dirty="0">
                <a:solidFill>
                  <a:srgbClr val="56636E"/>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731520"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Calling support</a:t>
            </a:r>
            <a:endParaRPr lang="en-US" sz="1400" dirty="0"/>
          </a:p>
        </p:txBody>
      </p:sp>
      <p:sp>
        <p:nvSpPr>
          <p:cNvPr id="7" name="Text 5"/>
          <p:cNvSpPr txBox="1"/>
          <p:nvPr/>
        </p:nvSpPr>
        <p:spPr>
          <a:xfrm>
            <a:off x="731520" y="2834640"/>
            <a:ext cx="1417320" cy="731520"/>
          </a:xfrm>
          <a:prstGeom prst="rect">
            <a:avLst/>
          </a:prstGeom>
          <a:noFill/>
          <a:ln/>
        </p:spPr>
        <p:txBody>
          <a:bodyPr wrap="square" lIns="0" tIns="0" rIns="0" bIns="0" rtlCol="0" anchor="t"/>
          <a:lstStyle/>
          <a:p>
            <a:pPr indent="0" marL="0">
              <a:buNone/>
            </a:pPr>
            <a:r>
              <a:rPr lang="en-US" sz="3800" b="1" dirty="0">
                <a:solidFill>
                  <a:srgbClr val="18222B"/>
                </a:solidFill>
                <a:latin typeface="Cambria" pitchFamily="34" charset="0"/>
                <a:ea typeface="Cambria" pitchFamily="34" charset="-122"/>
                <a:cs typeface="Cambria" pitchFamily="34" charset="-120"/>
              </a:rPr>
              <a:t>2.4</a:t>
            </a:r>
            <a:endParaRPr lang="en-US" sz="3800" dirty="0"/>
          </a:p>
        </p:txBody>
      </p:sp>
      <p:sp>
        <p:nvSpPr>
          <p:cNvPr id="8" name="Text 6"/>
          <p:cNvSpPr txBox="1"/>
          <p:nvPr/>
        </p:nvSpPr>
        <p:spPr>
          <a:xfrm>
            <a:off x="731520"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45% gave it a 1</a:t>
            </a:r>
            <a:endParaRPr lang="en-US" sz="1200" dirty="0"/>
          </a:p>
        </p:txBody>
      </p:sp>
      <p:sp>
        <p:nvSpPr>
          <p:cNvPr id="9" name="Shape 7"/>
          <p:cNvSpPr/>
          <p:nvPr/>
        </p:nvSpPr>
        <p:spPr>
          <a:xfrm>
            <a:off x="2419502" y="1783080"/>
            <a:ext cx="1737360" cy="2514600"/>
          </a:xfrm>
          <a:prstGeom prst="roundRect">
            <a:avLst>
              <a:gd name="adj" fmla="val 4211"/>
            </a:avLst>
          </a:prstGeom>
          <a:solidFill>
            <a:srgbClr val="F1F3F5"/>
          </a:solidFill>
          <a:ln w="12700">
            <a:solidFill>
              <a:srgbClr val="F1F3F5"/>
            </a:solidFill>
            <a:prstDash val="solid"/>
          </a:ln>
        </p:spPr>
      </p:sp>
      <p:sp>
        <p:nvSpPr>
          <p:cNvPr id="10" name="Text 8"/>
          <p:cNvSpPr txBox="1"/>
          <p:nvPr/>
        </p:nvSpPr>
        <p:spPr>
          <a:xfrm>
            <a:off x="2602382" y="1920240"/>
            <a:ext cx="457200" cy="274320"/>
          </a:xfrm>
          <a:prstGeom prst="rect">
            <a:avLst/>
          </a:prstGeom>
          <a:noFill/>
          <a:ln/>
        </p:spPr>
        <p:txBody>
          <a:bodyPr wrap="square" lIns="0" tIns="0" rIns="0" bIns="0" rtlCol="0" anchor="t"/>
          <a:lstStyle/>
          <a:p>
            <a:pPr indent="0" marL="0">
              <a:buNone/>
            </a:pPr>
            <a:r>
              <a:rPr lang="en-US" sz="1200" b="1" dirty="0">
                <a:solidFill>
                  <a:srgbClr val="56636E"/>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2602382"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Raising a ticket</a:t>
            </a:r>
            <a:endParaRPr lang="en-US" sz="1400" dirty="0"/>
          </a:p>
        </p:txBody>
      </p:sp>
      <p:sp>
        <p:nvSpPr>
          <p:cNvPr id="12" name="Text 10"/>
          <p:cNvSpPr txBox="1"/>
          <p:nvPr/>
        </p:nvSpPr>
        <p:spPr>
          <a:xfrm>
            <a:off x="2602382" y="2834640"/>
            <a:ext cx="1417320" cy="731520"/>
          </a:xfrm>
          <a:prstGeom prst="rect">
            <a:avLst/>
          </a:prstGeom>
          <a:noFill/>
          <a:ln/>
        </p:spPr>
        <p:txBody>
          <a:bodyPr wrap="square" lIns="0" tIns="0" rIns="0" bIns="0" rtlCol="0" anchor="t"/>
          <a:lstStyle/>
          <a:p>
            <a:pPr indent="0" marL="0">
              <a:buNone/>
            </a:pPr>
            <a:r>
              <a:rPr lang="en-US" sz="3800" b="1" dirty="0">
                <a:solidFill>
                  <a:srgbClr val="18222B"/>
                </a:solidFill>
                <a:latin typeface="Cambria" pitchFamily="34" charset="0"/>
                <a:ea typeface="Cambria" pitchFamily="34" charset="-122"/>
                <a:cs typeface="Cambria" pitchFamily="34" charset="-120"/>
              </a:rPr>
              <a:t>2.6</a:t>
            </a:r>
            <a:endParaRPr lang="en-US" sz="3800" dirty="0"/>
          </a:p>
        </p:txBody>
      </p:sp>
      <p:sp>
        <p:nvSpPr>
          <p:cNvPr id="13" name="Text 11"/>
          <p:cNvSpPr txBox="1"/>
          <p:nvPr/>
        </p:nvSpPr>
        <p:spPr>
          <a:xfrm>
            <a:off x="2602382"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36% gave it a 1</a:t>
            </a:r>
            <a:endParaRPr lang="en-US" sz="1200" dirty="0"/>
          </a:p>
        </p:txBody>
      </p:sp>
      <p:sp>
        <p:nvSpPr>
          <p:cNvPr id="14" name="Shape 12"/>
          <p:cNvSpPr/>
          <p:nvPr/>
        </p:nvSpPr>
        <p:spPr>
          <a:xfrm>
            <a:off x="4290365" y="1783080"/>
            <a:ext cx="1737360" cy="2514600"/>
          </a:xfrm>
          <a:prstGeom prst="roundRect">
            <a:avLst>
              <a:gd name="adj" fmla="val 4211"/>
            </a:avLst>
          </a:prstGeom>
          <a:solidFill>
            <a:srgbClr val="F1F3F5"/>
          </a:solidFill>
          <a:ln w="12700">
            <a:solidFill>
              <a:srgbClr val="F1F3F5"/>
            </a:solidFill>
            <a:prstDash val="solid"/>
          </a:ln>
        </p:spPr>
      </p:sp>
      <p:sp>
        <p:nvSpPr>
          <p:cNvPr id="15" name="Text 13"/>
          <p:cNvSpPr txBox="1"/>
          <p:nvPr/>
        </p:nvSpPr>
        <p:spPr>
          <a:xfrm>
            <a:off x="4473245" y="1920240"/>
            <a:ext cx="457200" cy="274320"/>
          </a:xfrm>
          <a:prstGeom prst="rect">
            <a:avLst/>
          </a:prstGeom>
          <a:noFill/>
          <a:ln/>
        </p:spPr>
        <p:txBody>
          <a:bodyPr wrap="square" lIns="0" tIns="0" rIns="0" bIns="0" rtlCol="0" anchor="t"/>
          <a:lstStyle/>
          <a:p>
            <a:pPr indent="0" marL="0">
              <a:buNone/>
            </a:pPr>
            <a:r>
              <a:rPr lang="en-US" sz="1200" b="1" dirty="0">
                <a:solidFill>
                  <a:srgbClr val="56636E"/>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4473245"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Executive behaviour</a:t>
            </a:r>
            <a:endParaRPr lang="en-US" sz="1400" dirty="0"/>
          </a:p>
        </p:txBody>
      </p:sp>
      <p:sp>
        <p:nvSpPr>
          <p:cNvPr id="17" name="Text 15"/>
          <p:cNvSpPr txBox="1"/>
          <p:nvPr/>
        </p:nvSpPr>
        <p:spPr>
          <a:xfrm>
            <a:off x="4473245" y="2834640"/>
            <a:ext cx="1417320" cy="731520"/>
          </a:xfrm>
          <a:prstGeom prst="rect">
            <a:avLst/>
          </a:prstGeom>
          <a:noFill/>
          <a:ln/>
        </p:spPr>
        <p:txBody>
          <a:bodyPr wrap="square" lIns="0" tIns="0" rIns="0" bIns="0" rtlCol="0" anchor="t"/>
          <a:lstStyle/>
          <a:p>
            <a:pPr indent="0" marL="0">
              <a:buNone/>
            </a:pPr>
            <a:r>
              <a:rPr lang="en-US" sz="3800" b="1" dirty="0">
                <a:solidFill>
                  <a:srgbClr val="18222B"/>
                </a:solidFill>
                <a:latin typeface="Cambria" pitchFamily="34" charset="0"/>
                <a:ea typeface="Cambria" pitchFamily="34" charset="-122"/>
                <a:cs typeface="Cambria" pitchFamily="34" charset="-120"/>
              </a:rPr>
              <a:t>2.5</a:t>
            </a:r>
            <a:endParaRPr lang="en-US" sz="3800" dirty="0"/>
          </a:p>
        </p:txBody>
      </p:sp>
      <p:sp>
        <p:nvSpPr>
          <p:cNvPr id="18" name="Text 16"/>
          <p:cNvSpPr txBox="1"/>
          <p:nvPr/>
        </p:nvSpPr>
        <p:spPr>
          <a:xfrm>
            <a:off x="4473245"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40% gave it a 1</a:t>
            </a:r>
            <a:endParaRPr lang="en-US" sz="1200" dirty="0"/>
          </a:p>
        </p:txBody>
      </p:sp>
      <p:sp>
        <p:nvSpPr>
          <p:cNvPr id="19" name="Shape 17"/>
          <p:cNvSpPr/>
          <p:nvPr/>
        </p:nvSpPr>
        <p:spPr>
          <a:xfrm>
            <a:off x="6161227" y="1783080"/>
            <a:ext cx="1737360" cy="2514600"/>
          </a:xfrm>
          <a:prstGeom prst="roundRect">
            <a:avLst>
              <a:gd name="adj" fmla="val 4211"/>
            </a:avLst>
          </a:prstGeom>
          <a:solidFill>
            <a:srgbClr val="F6D9D3"/>
          </a:solidFill>
          <a:ln w="12700">
            <a:solidFill>
              <a:srgbClr val="F6D9D3"/>
            </a:solidFill>
            <a:prstDash val="solid"/>
          </a:ln>
        </p:spPr>
      </p:sp>
      <p:sp>
        <p:nvSpPr>
          <p:cNvPr id="20" name="Text 18"/>
          <p:cNvSpPr txBox="1"/>
          <p:nvPr/>
        </p:nvSpPr>
        <p:spPr>
          <a:xfrm>
            <a:off x="6344107" y="1920240"/>
            <a:ext cx="457200" cy="274320"/>
          </a:xfrm>
          <a:prstGeom prst="rect">
            <a:avLst/>
          </a:prstGeom>
          <a:noFill/>
          <a:ln/>
        </p:spPr>
        <p:txBody>
          <a:bodyPr wrap="square" lIns="0" tIns="0" rIns="0" bIns="0" rtlCol="0" anchor="t"/>
          <a:lstStyle/>
          <a:p>
            <a:pPr indent="0" marL="0">
              <a:buNone/>
            </a:pPr>
            <a:r>
              <a:rPr lang="en-US" sz="1200" b="1" dirty="0">
                <a:solidFill>
                  <a:srgbClr val="D9432B"/>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344107"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Problem understanding</a:t>
            </a:r>
            <a:endParaRPr lang="en-US" sz="1400" dirty="0"/>
          </a:p>
        </p:txBody>
      </p:sp>
      <p:sp>
        <p:nvSpPr>
          <p:cNvPr id="22" name="Text 20"/>
          <p:cNvSpPr txBox="1"/>
          <p:nvPr/>
        </p:nvSpPr>
        <p:spPr>
          <a:xfrm>
            <a:off x="6344107" y="2834640"/>
            <a:ext cx="1417320" cy="731520"/>
          </a:xfrm>
          <a:prstGeom prst="rect">
            <a:avLst/>
          </a:prstGeom>
          <a:noFill/>
          <a:ln/>
        </p:spPr>
        <p:txBody>
          <a:bodyPr wrap="square" lIns="0" tIns="0" rIns="0" bIns="0" rtlCol="0" anchor="t"/>
          <a:lstStyle/>
          <a:p>
            <a:pPr indent="0" marL="0">
              <a:buNone/>
            </a:pPr>
            <a:r>
              <a:rPr lang="en-US" sz="3800" b="1" dirty="0">
                <a:solidFill>
                  <a:srgbClr val="D9432B"/>
                </a:solidFill>
                <a:latin typeface="Cambria" pitchFamily="34" charset="0"/>
                <a:ea typeface="Cambria" pitchFamily="34" charset="-122"/>
                <a:cs typeface="Cambria" pitchFamily="34" charset="-120"/>
              </a:rPr>
              <a:t>2.2</a:t>
            </a:r>
            <a:endParaRPr lang="en-US" sz="3800" dirty="0"/>
          </a:p>
        </p:txBody>
      </p:sp>
      <p:sp>
        <p:nvSpPr>
          <p:cNvPr id="23" name="Text 21"/>
          <p:cNvSpPr txBox="1"/>
          <p:nvPr/>
        </p:nvSpPr>
        <p:spPr>
          <a:xfrm>
            <a:off x="6344107"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49% gave it a 1</a:t>
            </a:r>
            <a:endParaRPr lang="en-US" sz="1200" dirty="0"/>
          </a:p>
        </p:txBody>
      </p:sp>
      <p:sp>
        <p:nvSpPr>
          <p:cNvPr id="24" name="Shape 22"/>
          <p:cNvSpPr/>
          <p:nvPr/>
        </p:nvSpPr>
        <p:spPr>
          <a:xfrm>
            <a:off x="8032090" y="1783080"/>
            <a:ext cx="1737360" cy="2514600"/>
          </a:xfrm>
          <a:prstGeom prst="roundRect">
            <a:avLst>
              <a:gd name="adj" fmla="val 4211"/>
            </a:avLst>
          </a:prstGeom>
          <a:solidFill>
            <a:srgbClr val="F6D9D3"/>
          </a:solidFill>
          <a:ln w="12700">
            <a:solidFill>
              <a:srgbClr val="F6D9D3"/>
            </a:solidFill>
            <a:prstDash val="solid"/>
          </a:ln>
        </p:spPr>
      </p:sp>
      <p:sp>
        <p:nvSpPr>
          <p:cNvPr id="25" name="Text 23"/>
          <p:cNvSpPr txBox="1"/>
          <p:nvPr/>
        </p:nvSpPr>
        <p:spPr>
          <a:xfrm>
            <a:off x="8214970" y="1920240"/>
            <a:ext cx="457200" cy="274320"/>
          </a:xfrm>
          <a:prstGeom prst="rect">
            <a:avLst/>
          </a:prstGeom>
          <a:noFill/>
          <a:ln/>
        </p:spPr>
        <p:txBody>
          <a:bodyPr wrap="square" lIns="0" tIns="0" rIns="0" bIns="0" rtlCol="0" anchor="t"/>
          <a:lstStyle/>
          <a:p>
            <a:pPr indent="0" marL="0">
              <a:buNone/>
            </a:pPr>
            <a:r>
              <a:rPr lang="en-US" sz="1200" b="1" dirty="0">
                <a:solidFill>
                  <a:srgbClr val="D9432B"/>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8214970"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Resolution time</a:t>
            </a:r>
            <a:endParaRPr lang="en-US" sz="1400" dirty="0"/>
          </a:p>
        </p:txBody>
      </p:sp>
      <p:sp>
        <p:nvSpPr>
          <p:cNvPr id="27" name="Text 25"/>
          <p:cNvSpPr txBox="1"/>
          <p:nvPr/>
        </p:nvSpPr>
        <p:spPr>
          <a:xfrm>
            <a:off x="8214970" y="2834640"/>
            <a:ext cx="1417320" cy="731520"/>
          </a:xfrm>
          <a:prstGeom prst="rect">
            <a:avLst/>
          </a:prstGeom>
          <a:noFill/>
          <a:ln/>
        </p:spPr>
        <p:txBody>
          <a:bodyPr wrap="square" lIns="0" tIns="0" rIns="0" bIns="0" rtlCol="0" anchor="t"/>
          <a:lstStyle/>
          <a:p>
            <a:pPr indent="0" marL="0">
              <a:buNone/>
            </a:pPr>
            <a:r>
              <a:rPr lang="en-US" sz="3800" b="1" dirty="0">
                <a:solidFill>
                  <a:srgbClr val="D9432B"/>
                </a:solidFill>
                <a:latin typeface="Cambria" pitchFamily="34" charset="0"/>
                <a:ea typeface="Cambria" pitchFamily="34" charset="-122"/>
                <a:cs typeface="Cambria" pitchFamily="34" charset="-120"/>
              </a:rPr>
              <a:t>2.2</a:t>
            </a:r>
            <a:endParaRPr lang="en-US" sz="3800" dirty="0"/>
          </a:p>
        </p:txBody>
      </p:sp>
      <p:sp>
        <p:nvSpPr>
          <p:cNvPr id="28" name="Text 26"/>
          <p:cNvSpPr txBox="1"/>
          <p:nvPr/>
        </p:nvSpPr>
        <p:spPr>
          <a:xfrm>
            <a:off x="8214970"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48% gave it a 1</a:t>
            </a:r>
            <a:endParaRPr lang="en-US" sz="1200" dirty="0"/>
          </a:p>
        </p:txBody>
      </p:sp>
      <p:sp>
        <p:nvSpPr>
          <p:cNvPr id="29" name="Shape 27"/>
          <p:cNvSpPr/>
          <p:nvPr/>
        </p:nvSpPr>
        <p:spPr>
          <a:xfrm>
            <a:off x="9902952" y="1783080"/>
            <a:ext cx="1737360" cy="2514600"/>
          </a:xfrm>
          <a:prstGeom prst="roundRect">
            <a:avLst>
              <a:gd name="adj" fmla="val 4211"/>
            </a:avLst>
          </a:prstGeom>
          <a:solidFill>
            <a:srgbClr val="F6D9D3"/>
          </a:solidFill>
          <a:ln w="12700">
            <a:solidFill>
              <a:srgbClr val="F6D9D3"/>
            </a:solidFill>
            <a:prstDash val="solid"/>
          </a:ln>
        </p:spPr>
      </p:sp>
      <p:sp>
        <p:nvSpPr>
          <p:cNvPr id="30" name="Text 28"/>
          <p:cNvSpPr txBox="1"/>
          <p:nvPr/>
        </p:nvSpPr>
        <p:spPr>
          <a:xfrm>
            <a:off x="10085832" y="1920240"/>
            <a:ext cx="457200" cy="274320"/>
          </a:xfrm>
          <a:prstGeom prst="rect">
            <a:avLst/>
          </a:prstGeom>
          <a:noFill/>
          <a:ln/>
        </p:spPr>
        <p:txBody>
          <a:bodyPr wrap="square" lIns="0" tIns="0" rIns="0" bIns="0" rtlCol="0" anchor="t"/>
          <a:lstStyle/>
          <a:p>
            <a:pPr indent="0" marL="0">
              <a:buNone/>
            </a:pPr>
            <a:r>
              <a:rPr lang="en-US" sz="1200" b="1" dirty="0">
                <a:solidFill>
                  <a:srgbClr val="D9432B"/>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10085832" y="2194560"/>
            <a:ext cx="1417320" cy="59436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Satisfactory resolution</a:t>
            </a:r>
            <a:endParaRPr lang="en-US" sz="1400" dirty="0"/>
          </a:p>
        </p:txBody>
      </p:sp>
      <p:sp>
        <p:nvSpPr>
          <p:cNvPr id="32" name="Text 30"/>
          <p:cNvSpPr txBox="1"/>
          <p:nvPr/>
        </p:nvSpPr>
        <p:spPr>
          <a:xfrm>
            <a:off x="10085832" y="2834640"/>
            <a:ext cx="1417320" cy="731520"/>
          </a:xfrm>
          <a:prstGeom prst="rect">
            <a:avLst/>
          </a:prstGeom>
          <a:noFill/>
          <a:ln/>
        </p:spPr>
        <p:txBody>
          <a:bodyPr wrap="square" lIns="0" tIns="0" rIns="0" bIns="0" rtlCol="0" anchor="t"/>
          <a:lstStyle/>
          <a:p>
            <a:pPr indent="0" marL="0">
              <a:buNone/>
            </a:pPr>
            <a:r>
              <a:rPr lang="en-US" sz="3800" b="1" dirty="0">
                <a:solidFill>
                  <a:srgbClr val="D9432B"/>
                </a:solidFill>
                <a:latin typeface="Cambria" pitchFamily="34" charset="0"/>
                <a:ea typeface="Cambria" pitchFamily="34" charset="-122"/>
                <a:cs typeface="Cambria" pitchFamily="34" charset="-120"/>
              </a:rPr>
              <a:t>2.2</a:t>
            </a:r>
            <a:endParaRPr lang="en-US" sz="3800" dirty="0"/>
          </a:p>
        </p:txBody>
      </p:sp>
      <p:sp>
        <p:nvSpPr>
          <p:cNvPr id="33" name="Text 31"/>
          <p:cNvSpPr txBox="1"/>
          <p:nvPr/>
        </p:nvSpPr>
        <p:spPr>
          <a:xfrm>
            <a:off x="10085832" y="3703320"/>
            <a:ext cx="141732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48% gave it a 1</a:t>
            </a:r>
            <a:endParaRPr lang="en-US" sz="1200" dirty="0"/>
          </a:p>
        </p:txBody>
      </p:sp>
      <p:sp>
        <p:nvSpPr>
          <p:cNvPr id="34" name="Shape 32"/>
          <p:cNvSpPr/>
          <p:nvPr/>
        </p:nvSpPr>
        <p:spPr>
          <a:xfrm>
            <a:off x="548640" y="4572000"/>
            <a:ext cx="3520440" cy="1600200"/>
          </a:xfrm>
          <a:prstGeom prst="roundRect">
            <a:avLst>
              <a:gd name="adj" fmla="val 4571"/>
            </a:avLst>
          </a:prstGeom>
          <a:solidFill>
            <a:srgbClr val="FFFFFF"/>
          </a:solidFill>
          <a:ln w="12700">
            <a:solidFill>
              <a:srgbClr val="D9DEE2"/>
            </a:solidFill>
            <a:prstDash val="solid"/>
          </a:ln>
        </p:spPr>
      </p:sp>
      <p:sp>
        <p:nvSpPr>
          <p:cNvPr id="35" name="Text 33"/>
          <p:cNvSpPr txBox="1"/>
          <p:nvPr/>
        </p:nvSpPr>
        <p:spPr>
          <a:xfrm>
            <a:off x="777240" y="4800600"/>
            <a:ext cx="3063240" cy="365760"/>
          </a:xfrm>
          <a:prstGeom prst="rect">
            <a:avLst/>
          </a:prstGeom>
          <a:noFill/>
          <a:ln/>
        </p:spPr>
        <p:txBody>
          <a:bodyPr wrap="square" lIns="0" tIns="0" rIns="0" bIns="0" rtlCol="0" anchor="t"/>
          <a:lstStyle/>
          <a:p>
            <a:pPr indent="0" marL="0">
              <a:buNone/>
            </a:pPr>
            <a:r>
              <a:rPr lang="en-US" sz="1600" b="1" dirty="0">
                <a:solidFill>
                  <a:srgbClr val="D9432B"/>
                </a:solidFill>
                <a:latin typeface="Calibri" pitchFamily="34" charset="0"/>
                <a:ea typeface="Calibri" pitchFamily="34" charset="-122"/>
                <a:cs typeface="Calibri" pitchFamily="34" charset="-120"/>
              </a:rPr>
              <a:t>Satisfactory resolution</a:t>
            </a:r>
            <a:endParaRPr lang="en-US" sz="1600" dirty="0"/>
          </a:p>
        </p:txBody>
      </p:sp>
      <p:sp>
        <p:nvSpPr>
          <p:cNvPr id="36" name="Text 34"/>
          <p:cNvSpPr txBox="1"/>
          <p:nvPr/>
        </p:nvSpPr>
        <p:spPr>
          <a:xfrm>
            <a:off x="777240" y="5230368"/>
            <a:ext cx="3063240" cy="73152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Strongest link to loyalty of the six touchpoints</a:t>
            </a:r>
            <a:endParaRPr lang="en-US" sz="1400" dirty="0"/>
          </a:p>
        </p:txBody>
      </p:sp>
      <p:sp>
        <p:nvSpPr>
          <p:cNvPr id="37" name="Shape 35"/>
          <p:cNvSpPr/>
          <p:nvPr/>
        </p:nvSpPr>
        <p:spPr>
          <a:xfrm>
            <a:off x="4334256" y="4572000"/>
            <a:ext cx="3520440" cy="1600200"/>
          </a:xfrm>
          <a:prstGeom prst="roundRect">
            <a:avLst>
              <a:gd name="adj" fmla="val 4571"/>
            </a:avLst>
          </a:prstGeom>
          <a:solidFill>
            <a:srgbClr val="FFFFFF"/>
          </a:solidFill>
          <a:ln w="12700">
            <a:solidFill>
              <a:srgbClr val="D9DEE2"/>
            </a:solidFill>
            <a:prstDash val="solid"/>
          </a:ln>
        </p:spPr>
      </p:sp>
      <p:sp>
        <p:nvSpPr>
          <p:cNvPr id="38" name="Text 36"/>
          <p:cNvSpPr txBox="1"/>
          <p:nvPr/>
        </p:nvSpPr>
        <p:spPr>
          <a:xfrm>
            <a:off x="4562856" y="4800600"/>
            <a:ext cx="3063240" cy="365760"/>
          </a:xfrm>
          <a:prstGeom prst="rect">
            <a:avLst/>
          </a:prstGeom>
          <a:noFill/>
          <a:ln/>
        </p:spPr>
        <p:txBody>
          <a:bodyPr wrap="square" lIns="0" tIns="0" rIns="0" bIns="0" rtlCol="0" anchor="t"/>
          <a:lstStyle/>
          <a:p>
            <a:pPr indent="0" marL="0">
              <a:buNone/>
            </a:pPr>
            <a:r>
              <a:rPr lang="en-US" sz="1600" b="1" dirty="0">
                <a:solidFill>
                  <a:srgbClr val="5E7481"/>
                </a:solidFill>
                <a:latin typeface="Calibri" pitchFamily="34" charset="0"/>
                <a:ea typeface="Calibri" pitchFamily="34" charset="-122"/>
                <a:cs typeface="Calibri" pitchFamily="34" charset="-120"/>
              </a:rPr>
              <a:t>Raising a ticket</a:t>
            </a:r>
            <a:endParaRPr lang="en-US" sz="1600" dirty="0"/>
          </a:p>
        </p:txBody>
      </p:sp>
      <p:sp>
        <p:nvSpPr>
          <p:cNvPr id="39" name="Text 37"/>
          <p:cNvSpPr txBox="1"/>
          <p:nvPr/>
        </p:nvSpPr>
        <p:spPr>
          <a:xfrm>
            <a:off x="4562856" y="5230368"/>
            <a:ext cx="3063240" cy="73152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Best-rated step, and the weakest link to loyalty</a:t>
            </a:r>
            <a:endParaRPr lang="en-US" sz="1400" dirty="0"/>
          </a:p>
        </p:txBody>
      </p:sp>
      <p:sp>
        <p:nvSpPr>
          <p:cNvPr id="40" name="Shape 38"/>
          <p:cNvSpPr/>
          <p:nvPr/>
        </p:nvSpPr>
        <p:spPr>
          <a:xfrm>
            <a:off x="8119872" y="4572000"/>
            <a:ext cx="3520440" cy="1600200"/>
          </a:xfrm>
          <a:prstGeom prst="roundRect">
            <a:avLst>
              <a:gd name="adj" fmla="val 4571"/>
            </a:avLst>
          </a:prstGeom>
          <a:solidFill>
            <a:srgbClr val="FFFFFF"/>
          </a:solidFill>
          <a:ln w="12700">
            <a:solidFill>
              <a:srgbClr val="D9DEE2"/>
            </a:solidFill>
            <a:prstDash val="solid"/>
          </a:ln>
        </p:spPr>
      </p:sp>
      <p:sp>
        <p:nvSpPr>
          <p:cNvPr id="41" name="Text 39"/>
          <p:cNvSpPr txBox="1"/>
          <p:nvPr/>
        </p:nvSpPr>
        <p:spPr>
          <a:xfrm>
            <a:off x="8348472" y="4800600"/>
            <a:ext cx="306324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Delhi</a:t>
            </a:r>
            <a:endParaRPr lang="en-US" sz="1600" dirty="0"/>
          </a:p>
        </p:txBody>
      </p:sp>
      <p:sp>
        <p:nvSpPr>
          <p:cNvPr id="42" name="Text 40"/>
          <p:cNvSpPr txBox="1"/>
          <p:nvPr/>
        </p:nvSpPr>
        <p:spPr>
          <a:xfrm>
            <a:off x="8348472" y="5230368"/>
            <a:ext cx="3063240" cy="731520"/>
          </a:xfrm>
          <a:prstGeom prst="rect">
            <a:avLst/>
          </a:prstGeom>
          <a:noFill/>
          <a:ln/>
        </p:spPr>
        <p:txBody>
          <a:bodyPr wrap="square" lIns="0" tIns="0" rIns="0" bIns="0" rtlCol="0" anchor="t"/>
          <a:lstStyle/>
          <a:p>
            <a:pPr indent="0" marL="0">
              <a:buNone/>
            </a:pPr>
            <a:r>
              <a:rPr lang="en-US" sz="1400" dirty="0">
                <a:solidFill>
                  <a:srgbClr val="56636E"/>
                </a:solidFill>
                <a:latin typeface="Calibri" pitchFamily="34" charset="0"/>
                <a:ea typeface="Calibri" pitchFamily="34" charset="-122"/>
                <a:cs typeface="Calibri" pitchFamily="34" charset="-120"/>
              </a:rPr>
              <a:t>Rates lowest of all seven cities on every one of the six</a:t>
            </a:r>
            <a:endParaRPr lang="en-US" sz="1400" dirty="0"/>
          </a:p>
        </p:txBody>
      </p:sp>
      <p:sp>
        <p:nvSpPr>
          <p:cNvPr id="43" name="Text 4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Where Everest rates low and it matters most</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Each attribute by its average rating and how closely it moves with Recommend</a:t>
            </a:r>
            <a:endParaRPr lang="en-US" sz="1600" dirty="0"/>
          </a:p>
        </p:txBody>
      </p:sp>
      <p:sp>
        <p:nvSpPr>
          <p:cNvPr id="4" name="Shape 2"/>
          <p:cNvSpPr/>
          <p:nvPr/>
        </p:nvSpPr>
        <p:spPr>
          <a:xfrm>
            <a:off x="1325880" y="1783080"/>
            <a:ext cx="2867891" cy="2424793"/>
          </a:xfrm>
          <a:prstGeom prst="rect">
            <a:avLst/>
          </a:prstGeom>
          <a:solidFill>
            <a:srgbClr val="FBEAE6"/>
          </a:solidFill>
          <a:ln w="12700">
            <a:solidFill>
              <a:srgbClr val="FBEAE6"/>
            </a:solidFill>
            <a:prstDash val="solid"/>
          </a:ln>
        </p:spPr>
      </p:sp>
      <p:sp>
        <p:nvSpPr>
          <p:cNvPr id="5" name="Shape 3"/>
          <p:cNvSpPr/>
          <p:nvPr/>
        </p:nvSpPr>
        <p:spPr>
          <a:xfrm>
            <a:off x="4193771" y="1783080"/>
            <a:ext cx="3441469" cy="2424793"/>
          </a:xfrm>
          <a:prstGeom prst="rect">
            <a:avLst/>
          </a:prstGeom>
          <a:solidFill>
            <a:srgbClr val="F4F5F7"/>
          </a:solidFill>
          <a:ln w="12700">
            <a:solidFill>
              <a:srgbClr val="F4F5F7"/>
            </a:solidFill>
            <a:prstDash val="solid"/>
          </a:ln>
        </p:spPr>
      </p:sp>
      <p:sp>
        <p:nvSpPr>
          <p:cNvPr id="6" name="Shape 4"/>
          <p:cNvSpPr/>
          <p:nvPr/>
        </p:nvSpPr>
        <p:spPr>
          <a:xfrm>
            <a:off x="1325880" y="4207873"/>
            <a:ext cx="2867891" cy="1690007"/>
          </a:xfrm>
          <a:prstGeom prst="rect">
            <a:avLst/>
          </a:prstGeom>
          <a:solidFill>
            <a:srgbClr val="F9F1E2"/>
          </a:solidFill>
          <a:ln w="12700">
            <a:solidFill>
              <a:srgbClr val="F9F1E2"/>
            </a:solidFill>
            <a:prstDash val="solid"/>
          </a:ln>
        </p:spPr>
      </p:sp>
      <p:sp>
        <p:nvSpPr>
          <p:cNvPr id="7" name="Shape 5"/>
          <p:cNvSpPr/>
          <p:nvPr/>
        </p:nvSpPr>
        <p:spPr>
          <a:xfrm>
            <a:off x="4193771" y="4207873"/>
            <a:ext cx="3441469" cy="1690007"/>
          </a:xfrm>
          <a:prstGeom prst="rect">
            <a:avLst/>
          </a:prstGeom>
          <a:solidFill>
            <a:srgbClr val="F4F5F7"/>
          </a:solidFill>
          <a:ln w="12700">
            <a:solidFill>
              <a:srgbClr val="F4F5F7"/>
            </a:solidFill>
            <a:prstDash val="solid"/>
          </a:ln>
        </p:spPr>
      </p:sp>
      <p:sp>
        <p:nvSpPr>
          <p:cNvPr id="8" name="Text 6"/>
          <p:cNvSpPr txBox="1"/>
          <p:nvPr/>
        </p:nvSpPr>
        <p:spPr>
          <a:xfrm>
            <a:off x="1435608" y="1874520"/>
            <a:ext cx="2743200" cy="274320"/>
          </a:xfrm>
          <a:prstGeom prst="rect">
            <a:avLst/>
          </a:prstGeom>
          <a:noFill/>
          <a:ln/>
        </p:spPr>
        <p:txBody>
          <a:bodyPr wrap="square" lIns="0" tIns="0" rIns="0" bIns="0" rtlCol="0" anchor="t"/>
          <a:lstStyle/>
          <a:p>
            <a:pPr algn="l" indent="0" marL="0">
              <a:buNone/>
            </a:pPr>
            <a:r>
              <a:rPr lang="en-US" sz="1100" b="1" spc="100" kern="0" dirty="0">
                <a:solidFill>
                  <a:srgbClr val="D9432B"/>
                </a:solidFill>
                <a:latin typeface="Calibri" pitchFamily="34" charset="0"/>
                <a:ea typeface="Calibri" pitchFamily="34" charset="-122"/>
                <a:cs typeface="Calibri" pitchFamily="34" charset="-120"/>
              </a:rPr>
              <a:t>RATED LOW, MATTERS MOST</a:t>
            </a:r>
            <a:endParaRPr lang="en-US" sz="1100" dirty="0"/>
          </a:p>
        </p:txBody>
      </p:sp>
      <p:sp>
        <p:nvSpPr>
          <p:cNvPr id="9" name="Text 7"/>
          <p:cNvSpPr txBox="1"/>
          <p:nvPr/>
        </p:nvSpPr>
        <p:spPr>
          <a:xfrm>
            <a:off x="4782312" y="1874520"/>
            <a:ext cx="2743200" cy="274320"/>
          </a:xfrm>
          <a:prstGeom prst="rect">
            <a:avLst/>
          </a:prstGeom>
          <a:noFill/>
          <a:ln/>
        </p:spPr>
        <p:txBody>
          <a:bodyPr wrap="square" lIns="0" tIns="0" rIns="0" bIns="0" rtlCol="0" anchor="t"/>
          <a:lstStyle/>
          <a:p>
            <a:pPr algn="r" indent="0" marL="0">
              <a:buNone/>
            </a:pPr>
            <a:r>
              <a:rPr lang="en-US" sz="1100" b="1" spc="100" kern="0" dirty="0">
                <a:solidFill>
                  <a:srgbClr val="56636E"/>
                </a:solidFill>
                <a:latin typeface="Calibri" pitchFamily="34" charset="0"/>
                <a:ea typeface="Calibri" pitchFamily="34" charset="-122"/>
                <a:cs typeface="Calibri" pitchFamily="34" charset="-120"/>
              </a:rPr>
              <a:t>RATED BETTER, STILL MATTERS</a:t>
            </a:r>
            <a:endParaRPr lang="en-US" sz="1100" dirty="0"/>
          </a:p>
        </p:txBody>
      </p:sp>
      <p:sp>
        <p:nvSpPr>
          <p:cNvPr id="10" name="Text 8"/>
          <p:cNvSpPr txBox="1"/>
          <p:nvPr/>
        </p:nvSpPr>
        <p:spPr>
          <a:xfrm>
            <a:off x="1435608" y="5550408"/>
            <a:ext cx="2743200" cy="274320"/>
          </a:xfrm>
          <a:prstGeom prst="rect">
            <a:avLst/>
          </a:prstGeom>
          <a:noFill/>
          <a:ln/>
        </p:spPr>
        <p:txBody>
          <a:bodyPr wrap="square" lIns="0" tIns="0" rIns="0" bIns="0" rtlCol="0" anchor="t"/>
          <a:lstStyle/>
          <a:p>
            <a:pPr algn="l" indent="0" marL="0">
              <a:buNone/>
            </a:pPr>
            <a:r>
              <a:rPr lang="en-US" sz="1100" b="1" spc="100" kern="0" dirty="0">
                <a:solidFill>
                  <a:srgbClr val="8A5D0E"/>
                </a:solidFill>
                <a:latin typeface="Calibri" pitchFamily="34" charset="0"/>
                <a:ea typeface="Calibri" pitchFamily="34" charset="-122"/>
                <a:cs typeface="Calibri" pitchFamily="34" charset="-120"/>
              </a:rPr>
              <a:t>RATED LOW, MATTERS LESS</a:t>
            </a:r>
            <a:endParaRPr lang="en-US" sz="1100" dirty="0"/>
          </a:p>
        </p:txBody>
      </p:sp>
      <p:sp>
        <p:nvSpPr>
          <p:cNvPr id="11" name="Text 9"/>
          <p:cNvSpPr txBox="1"/>
          <p:nvPr/>
        </p:nvSpPr>
        <p:spPr>
          <a:xfrm>
            <a:off x="4782312" y="5550408"/>
            <a:ext cx="2743200" cy="274320"/>
          </a:xfrm>
          <a:prstGeom prst="rect">
            <a:avLst/>
          </a:prstGeom>
          <a:noFill/>
          <a:ln/>
        </p:spPr>
        <p:txBody>
          <a:bodyPr wrap="square" lIns="0" tIns="0" rIns="0" bIns="0" rtlCol="0" anchor="t"/>
          <a:lstStyle/>
          <a:p>
            <a:pPr algn="r" indent="0" marL="0">
              <a:buNone/>
            </a:pPr>
            <a:r>
              <a:rPr lang="en-US" sz="1100" b="1" spc="100" kern="0" dirty="0">
                <a:solidFill>
                  <a:srgbClr val="56636E"/>
                </a:solidFill>
                <a:latin typeface="Calibri" pitchFamily="34" charset="0"/>
                <a:ea typeface="Calibri" pitchFamily="34" charset="-122"/>
                <a:cs typeface="Calibri" pitchFamily="34" charset="-120"/>
              </a:rPr>
              <a:t>RATED BEST, MATTERS LEAST</a:t>
            </a:r>
            <a:endParaRPr lang="en-US" sz="1100" dirty="0"/>
          </a:p>
        </p:txBody>
      </p:sp>
      <p:sp>
        <p:nvSpPr>
          <p:cNvPr id="12" name="Text 10"/>
          <p:cNvSpPr txBox="1"/>
          <p:nvPr/>
        </p:nvSpPr>
        <p:spPr>
          <a:xfrm>
            <a:off x="1325880" y="5971032"/>
            <a:ext cx="6309360" cy="274320"/>
          </a:xfrm>
          <a:prstGeom prst="rect">
            <a:avLst/>
          </a:prstGeom>
          <a:noFill/>
          <a:ln/>
        </p:spPr>
        <p:txBody>
          <a:bodyPr wrap="square" lIns="0" tIns="0" rIns="0" bIns="0" rtlCol="0" anchor="t"/>
          <a:lstStyle/>
          <a:p>
            <a:pPr algn="ctr" indent="0" marL="0">
              <a:buNone/>
            </a:pPr>
            <a:r>
              <a:rPr lang="en-US" sz="1200" dirty="0">
                <a:solidFill>
                  <a:srgbClr val="56636E"/>
                </a:solidFill>
                <a:latin typeface="Calibri" pitchFamily="34" charset="0"/>
                <a:ea typeface="Calibri" pitchFamily="34" charset="-122"/>
                <a:cs typeface="Calibri" pitchFamily="34" charset="-120"/>
              </a:rPr>
              <a:t>Average rating (1 to 5)  →  better</a:t>
            </a:r>
            <a:endParaRPr lang="en-US" sz="1200" dirty="0"/>
          </a:p>
        </p:txBody>
      </p:sp>
      <p:sp>
        <p:nvSpPr>
          <p:cNvPr id="13" name="Text 11"/>
          <p:cNvSpPr txBox="1"/>
          <p:nvPr/>
        </p:nvSpPr>
        <p:spPr>
          <a:xfrm>
            <a:off x="1143000" y="5971032"/>
            <a:ext cx="365760" cy="274320"/>
          </a:xfrm>
          <a:prstGeom prst="rect">
            <a:avLst/>
          </a:prstGeom>
          <a:noFill/>
          <a:ln/>
        </p:spPr>
        <p:txBody>
          <a:bodyPr wrap="square" lIns="0" tIns="0" rIns="0" bIns="0" rtlCol="0" anchor="t"/>
          <a:lstStyle/>
          <a:p>
            <a:pPr algn="ctr" indent="0" marL="0">
              <a:buNone/>
            </a:pPr>
            <a:r>
              <a:rPr lang="en-US" sz="1100" dirty="0">
                <a:solidFill>
                  <a:srgbClr val="8A959E"/>
                </a:solidFill>
                <a:latin typeface="Calibri" pitchFamily="34" charset="0"/>
                <a:ea typeface="Calibri" pitchFamily="34" charset="-122"/>
                <a:cs typeface="Calibri" pitchFamily="34" charset="-120"/>
              </a:rPr>
              <a:t>2.0</a:t>
            </a:r>
            <a:endParaRPr lang="en-US" sz="1100" dirty="0"/>
          </a:p>
        </p:txBody>
      </p:sp>
      <p:sp>
        <p:nvSpPr>
          <p:cNvPr id="14" name="Text 12"/>
          <p:cNvSpPr txBox="1"/>
          <p:nvPr/>
        </p:nvSpPr>
        <p:spPr>
          <a:xfrm>
            <a:off x="7452360" y="5971032"/>
            <a:ext cx="365760" cy="274320"/>
          </a:xfrm>
          <a:prstGeom prst="rect">
            <a:avLst/>
          </a:prstGeom>
          <a:noFill/>
          <a:ln/>
        </p:spPr>
        <p:txBody>
          <a:bodyPr wrap="square" lIns="0" tIns="0" rIns="0" bIns="0" rtlCol="0" anchor="t"/>
          <a:lstStyle/>
          <a:p>
            <a:pPr algn="ctr" indent="0" marL="0">
              <a:buNone/>
            </a:pPr>
            <a:r>
              <a:rPr lang="en-US" sz="1100" dirty="0">
                <a:solidFill>
                  <a:srgbClr val="8A959E"/>
                </a:solidFill>
                <a:latin typeface="Calibri" pitchFamily="34" charset="0"/>
                <a:ea typeface="Calibri" pitchFamily="34" charset="-122"/>
                <a:cs typeface="Calibri" pitchFamily="34" charset="-120"/>
              </a:rPr>
              <a:t>3.1</a:t>
            </a:r>
            <a:endParaRPr lang="en-US" sz="1100" dirty="0"/>
          </a:p>
        </p:txBody>
      </p:sp>
      <p:sp>
        <p:nvSpPr>
          <p:cNvPr id="15" name="Text 13"/>
          <p:cNvSpPr txBox="1"/>
          <p:nvPr/>
        </p:nvSpPr>
        <p:spPr>
          <a:xfrm rot="16200000">
            <a:off x="-1005840" y="3703320"/>
            <a:ext cx="4114800" cy="274320"/>
          </a:xfrm>
          <a:prstGeom prst="rect">
            <a:avLst/>
          </a:prstGeom>
          <a:noFill/>
          <a:ln/>
        </p:spPr>
        <p:txBody>
          <a:bodyPr wrap="square" lIns="0" tIns="0" rIns="0" bIns="0" rtlCol="0" anchor="t"/>
          <a:lstStyle/>
          <a:p>
            <a:pPr algn="ctr" indent="0" marL="0">
              <a:buNone/>
            </a:pPr>
            <a:r>
              <a:rPr lang="en-US" sz="1200" dirty="0">
                <a:solidFill>
                  <a:srgbClr val="56636E"/>
                </a:solidFill>
                <a:latin typeface="Calibri" pitchFamily="34" charset="0"/>
                <a:ea typeface="Calibri" pitchFamily="34" charset="-122"/>
                <a:cs typeface="Calibri" pitchFamily="34" charset="-120"/>
              </a:rPr>
              <a:t>Link to loyalty  →  stronger</a:t>
            </a:r>
            <a:endParaRPr lang="en-US" sz="1200" dirty="0"/>
          </a:p>
        </p:txBody>
      </p:sp>
      <p:sp>
        <p:nvSpPr>
          <p:cNvPr id="16" name="Shape 14"/>
          <p:cNvSpPr/>
          <p:nvPr/>
        </p:nvSpPr>
        <p:spPr>
          <a:xfrm>
            <a:off x="2496312" y="2426426"/>
            <a:ext cx="182880" cy="182880"/>
          </a:xfrm>
          <a:prstGeom prst="ellipse">
            <a:avLst/>
          </a:prstGeom>
          <a:solidFill>
            <a:srgbClr val="D9432B"/>
          </a:solidFill>
          <a:ln w="12700">
            <a:solidFill>
              <a:srgbClr val="FFFFFF"/>
            </a:solidFill>
            <a:prstDash val="solid"/>
          </a:ln>
        </p:spPr>
      </p:sp>
      <p:sp>
        <p:nvSpPr>
          <p:cNvPr id="17" name="Text 15"/>
          <p:cNvSpPr txBox="1"/>
          <p:nvPr/>
        </p:nvSpPr>
        <p:spPr>
          <a:xfrm>
            <a:off x="1673352" y="2124674"/>
            <a:ext cx="1828800" cy="256032"/>
          </a:xfrm>
          <a:prstGeom prst="rect">
            <a:avLst/>
          </a:prstGeom>
          <a:noFill/>
          <a:ln/>
        </p:spPr>
        <p:txBody>
          <a:bodyPr wrap="square" lIns="0" tIns="0" rIns="0" bIns="0" rtlCol="0" anchor="ctr"/>
          <a:lstStyle/>
          <a:p>
            <a:pPr algn="ctr" indent="0" marL="0">
              <a:buNone/>
            </a:pPr>
            <a:r>
              <a:rPr lang="en-US" sz="1200" b="1" dirty="0">
                <a:solidFill>
                  <a:srgbClr val="18222B"/>
                </a:solidFill>
                <a:latin typeface="Calibri" pitchFamily="34" charset="0"/>
                <a:ea typeface="Calibri" pitchFamily="34" charset="-122"/>
                <a:cs typeface="Calibri" pitchFamily="34" charset="-120"/>
              </a:rPr>
              <a:t>Reality vs expectations</a:t>
            </a:r>
            <a:endParaRPr lang="en-US" sz="1200" dirty="0"/>
          </a:p>
        </p:txBody>
      </p:sp>
      <p:sp>
        <p:nvSpPr>
          <p:cNvPr id="18" name="Shape 16"/>
          <p:cNvSpPr/>
          <p:nvPr/>
        </p:nvSpPr>
        <p:spPr>
          <a:xfrm>
            <a:off x="3586111" y="2573383"/>
            <a:ext cx="182880" cy="182880"/>
          </a:xfrm>
          <a:prstGeom prst="ellipse">
            <a:avLst/>
          </a:prstGeom>
          <a:solidFill>
            <a:srgbClr val="D9432B"/>
          </a:solidFill>
          <a:ln w="12700">
            <a:solidFill>
              <a:srgbClr val="FFFFFF"/>
            </a:solidFill>
            <a:prstDash val="solid"/>
          </a:ln>
        </p:spPr>
      </p:sp>
      <p:sp>
        <p:nvSpPr>
          <p:cNvPr id="19" name="Text 17"/>
          <p:cNvSpPr txBox="1"/>
          <p:nvPr/>
        </p:nvSpPr>
        <p:spPr>
          <a:xfrm>
            <a:off x="3814711" y="2536807"/>
            <a:ext cx="1828800" cy="256032"/>
          </a:xfrm>
          <a:prstGeom prst="rect">
            <a:avLst/>
          </a:prstGeom>
          <a:noFill/>
          <a:ln/>
        </p:spPr>
        <p:txBody>
          <a:bodyPr wrap="square" lIns="0" tIns="0" rIns="0" bIns="0" rtlCol="0" anchor="ctr"/>
          <a:lstStyle/>
          <a:p>
            <a:pPr algn="l" indent="0" marL="0">
              <a:buNone/>
            </a:pPr>
            <a:r>
              <a:rPr lang="en-US" sz="1200" b="1" dirty="0">
                <a:solidFill>
                  <a:srgbClr val="18222B"/>
                </a:solidFill>
                <a:latin typeface="Calibri" pitchFamily="34" charset="0"/>
                <a:ea typeface="Calibri" pitchFamily="34" charset="-122"/>
                <a:cs typeface="Calibri" pitchFamily="34" charset="-120"/>
              </a:rPr>
              <a:t>Trust &amp; honesty</a:t>
            </a:r>
            <a:endParaRPr lang="en-US" sz="1200" dirty="0"/>
          </a:p>
        </p:txBody>
      </p:sp>
      <p:sp>
        <p:nvSpPr>
          <p:cNvPr id="20" name="Shape 18"/>
          <p:cNvSpPr/>
          <p:nvPr/>
        </p:nvSpPr>
        <p:spPr>
          <a:xfrm>
            <a:off x="2496312" y="3749040"/>
            <a:ext cx="182880" cy="182880"/>
          </a:xfrm>
          <a:prstGeom prst="ellipse">
            <a:avLst/>
          </a:prstGeom>
          <a:solidFill>
            <a:srgbClr val="D9432B"/>
          </a:solidFill>
          <a:ln w="12700">
            <a:solidFill>
              <a:srgbClr val="FFFFFF"/>
            </a:solidFill>
            <a:prstDash val="solid"/>
          </a:ln>
        </p:spPr>
      </p:sp>
      <p:sp>
        <p:nvSpPr>
          <p:cNvPr id="21" name="Text 19"/>
          <p:cNvSpPr txBox="1"/>
          <p:nvPr/>
        </p:nvSpPr>
        <p:spPr>
          <a:xfrm>
            <a:off x="621792" y="3712464"/>
            <a:ext cx="1828800" cy="256032"/>
          </a:xfrm>
          <a:prstGeom prst="rect">
            <a:avLst/>
          </a:prstGeom>
          <a:noFill/>
          <a:ln/>
        </p:spPr>
        <p:txBody>
          <a:bodyPr wrap="square" lIns="0" tIns="0" rIns="0" bIns="0" rtlCol="0" anchor="ctr"/>
          <a:lstStyle/>
          <a:p>
            <a:pPr algn="r" indent="0" marL="0">
              <a:buNone/>
            </a:pPr>
            <a:r>
              <a:rPr lang="en-US" sz="1200" b="1" dirty="0">
                <a:solidFill>
                  <a:srgbClr val="18222B"/>
                </a:solidFill>
                <a:latin typeface="Calibri" pitchFamily="34" charset="0"/>
                <a:ea typeface="Calibri" pitchFamily="34" charset="-122"/>
                <a:cs typeface="Calibri" pitchFamily="34" charset="-120"/>
              </a:rPr>
              <a:t>Staff behaviour</a:t>
            </a:r>
            <a:endParaRPr lang="en-US" sz="1200" dirty="0"/>
          </a:p>
        </p:txBody>
      </p:sp>
      <p:sp>
        <p:nvSpPr>
          <p:cNvPr id="22" name="Shape 20"/>
          <p:cNvSpPr/>
          <p:nvPr/>
        </p:nvSpPr>
        <p:spPr>
          <a:xfrm>
            <a:off x="2725743" y="3749040"/>
            <a:ext cx="182880" cy="182880"/>
          </a:xfrm>
          <a:prstGeom prst="ellipse">
            <a:avLst/>
          </a:prstGeom>
          <a:solidFill>
            <a:srgbClr val="D9432B"/>
          </a:solidFill>
          <a:ln w="12700">
            <a:solidFill>
              <a:srgbClr val="FFFFFF"/>
            </a:solidFill>
            <a:prstDash val="solid"/>
          </a:ln>
        </p:spPr>
      </p:sp>
      <p:sp>
        <p:nvSpPr>
          <p:cNvPr id="23" name="Text 21"/>
          <p:cNvSpPr txBox="1"/>
          <p:nvPr/>
        </p:nvSpPr>
        <p:spPr>
          <a:xfrm>
            <a:off x="2954343" y="3712464"/>
            <a:ext cx="1828800" cy="256032"/>
          </a:xfrm>
          <a:prstGeom prst="rect">
            <a:avLst/>
          </a:prstGeom>
          <a:noFill/>
          <a:ln/>
        </p:spPr>
        <p:txBody>
          <a:bodyPr wrap="square" lIns="0" tIns="0" rIns="0" bIns="0" rtlCol="0" anchor="ctr"/>
          <a:lstStyle/>
          <a:p>
            <a:pPr algn="l" indent="0" marL="0">
              <a:buNone/>
            </a:pPr>
            <a:r>
              <a:rPr lang="en-US" sz="1200" b="1" dirty="0">
                <a:solidFill>
                  <a:srgbClr val="18222B"/>
                </a:solidFill>
                <a:latin typeface="Calibri" pitchFamily="34" charset="0"/>
                <a:ea typeface="Calibri" pitchFamily="34" charset="-122"/>
                <a:cs typeface="Calibri" pitchFamily="34" charset="-120"/>
              </a:rPr>
              <a:t>Vehicle condition</a:t>
            </a:r>
            <a:endParaRPr lang="en-US" sz="1200" dirty="0"/>
          </a:p>
        </p:txBody>
      </p:sp>
      <p:sp>
        <p:nvSpPr>
          <p:cNvPr id="24" name="Shape 22"/>
          <p:cNvSpPr/>
          <p:nvPr/>
        </p:nvSpPr>
        <p:spPr>
          <a:xfrm>
            <a:off x="4503836" y="3895997"/>
            <a:ext cx="182880" cy="182880"/>
          </a:xfrm>
          <a:prstGeom prst="ellipse">
            <a:avLst/>
          </a:prstGeom>
          <a:solidFill>
            <a:srgbClr val="5E7481"/>
          </a:solidFill>
          <a:ln w="12700">
            <a:solidFill>
              <a:srgbClr val="FFFFFF"/>
            </a:solidFill>
            <a:prstDash val="solid"/>
          </a:ln>
        </p:spPr>
      </p:sp>
      <p:sp>
        <p:nvSpPr>
          <p:cNvPr id="25" name="Text 23"/>
          <p:cNvSpPr txBox="1"/>
          <p:nvPr/>
        </p:nvSpPr>
        <p:spPr>
          <a:xfrm>
            <a:off x="4732436" y="3859421"/>
            <a:ext cx="1828800" cy="256032"/>
          </a:xfrm>
          <a:prstGeom prst="rect">
            <a:avLst/>
          </a:prstGeom>
          <a:noFill/>
          <a:ln/>
        </p:spPr>
        <p:txBody>
          <a:bodyPr wrap="square" lIns="0" tIns="0" rIns="0" bIns="0" rtlCol="0" anchor="ctr"/>
          <a:lstStyle/>
          <a:p>
            <a:pPr algn="l" indent="0" marL="0">
              <a:buNone/>
            </a:pPr>
            <a:r>
              <a:rPr lang="en-US" sz="1200" b="1" dirty="0">
                <a:solidFill>
                  <a:srgbClr val="18222B"/>
                </a:solidFill>
                <a:latin typeface="Calibri" pitchFamily="34" charset="0"/>
                <a:ea typeface="Calibri" pitchFamily="34" charset="-122"/>
                <a:cs typeface="Calibri" pitchFamily="34" charset="-120"/>
              </a:rPr>
              <a:t>Earnings &amp; payments</a:t>
            </a:r>
            <a:endParaRPr lang="en-US" sz="1200" dirty="0"/>
          </a:p>
        </p:txBody>
      </p:sp>
      <p:sp>
        <p:nvSpPr>
          <p:cNvPr id="26" name="Shape 24"/>
          <p:cNvSpPr/>
          <p:nvPr/>
        </p:nvSpPr>
        <p:spPr>
          <a:xfrm>
            <a:off x="1922734" y="4630783"/>
            <a:ext cx="182880" cy="182880"/>
          </a:xfrm>
          <a:prstGeom prst="ellipse">
            <a:avLst/>
          </a:prstGeom>
          <a:solidFill>
            <a:srgbClr val="C98A1B"/>
          </a:solidFill>
          <a:ln w="12700">
            <a:solidFill>
              <a:srgbClr val="FFFFFF"/>
            </a:solidFill>
            <a:prstDash val="solid"/>
          </a:ln>
        </p:spPr>
      </p:sp>
      <p:sp>
        <p:nvSpPr>
          <p:cNvPr id="27" name="Text 25"/>
          <p:cNvSpPr txBox="1"/>
          <p:nvPr/>
        </p:nvSpPr>
        <p:spPr>
          <a:xfrm>
            <a:off x="2151334" y="4594207"/>
            <a:ext cx="1828800" cy="256032"/>
          </a:xfrm>
          <a:prstGeom prst="rect">
            <a:avLst/>
          </a:prstGeom>
          <a:noFill/>
          <a:ln/>
        </p:spPr>
        <p:txBody>
          <a:bodyPr wrap="square" lIns="0" tIns="0" rIns="0" bIns="0" rtlCol="0" anchor="ctr"/>
          <a:lstStyle/>
          <a:p>
            <a:pPr algn="l" indent="0" marL="0">
              <a:buNone/>
            </a:pPr>
            <a:r>
              <a:rPr lang="en-US" sz="1200" b="1" dirty="0">
                <a:solidFill>
                  <a:srgbClr val="18222B"/>
                </a:solidFill>
                <a:latin typeface="Calibri" pitchFamily="34" charset="0"/>
                <a:ea typeface="Calibri" pitchFamily="34" charset="-122"/>
                <a:cs typeface="Calibri" pitchFamily="34" charset="-120"/>
              </a:rPr>
              <a:t>Garage &amp; repair</a:t>
            </a:r>
            <a:endParaRPr lang="en-US" sz="1200" dirty="0"/>
          </a:p>
        </p:txBody>
      </p:sp>
      <p:sp>
        <p:nvSpPr>
          <p:cNvPr id="28" name="Shape 26"/>
          <p:cNvSpPr/>
          <p:nvPr/>
        </p:nvSpPr>
        <p:spPr>
          <a:xfrm>
            <a:off x="5364203" y="4483826"/>
            <a:ext cx="182880" cy="182880"/>
          </a:xfrm>
          <a:prstGeom prst="ellipse">
            <a:avLst/>
          </a:prstGeom>
          <a:solidFill>
            <a:srgbClr val="8A959E"/>
          </a:solidFill>
          <a:ln w="12700">
            <a:solidFill>
              <a:srgbClr val="FFFFFF"/>
            </a:solidFill>
            <a:prstDash val="solid"/>
          </a:ln>
        </p:spPr>
      </p:sp>
      <p:sp>
        <p:nvSpPr>
          <p:cNvPr id="29" name="Text 27"/>
          <p:cNvSpPr txBox="1"/>
          <p:nvPr/>
        </p:nvSpPr>
        <p:spPr>
          <a:xfrm>
            <a:off x="4541243" y="4182074"/>
            <a:ext cx="1828800" cy="256032"/>
          </a:xfrm>
          <a:prstGeom prst="rect">
            <a:avLst/>
          </a:prstGeom>
          <a:noFill/>
          <a:ln/>
        </p:spPr>
        <p:txBody>
          <a:bodyPr wrap="square" lIns="0" tIns="0" rIns="0" bIns="0" rtlCol="0" anchor="ctr"/>
          <a:lstStyle/>
          <a:p>
            <a:pPr algn="ctr" indent="0" marL="0">
              <a:buNone/>
            </a:pPr>
            <a:r>
              <a:rPr lang="en-US" sz="1200" b="1" dirty="0">
                <a:solidFill>
                  <a:srgbClr val="18222B"/>
                </a:solidFill>
                <a:latin typeface="Calibri" pitchFamily="34" charset="0"/>
                <a:ea typeface="Calibri" pitchFamily="34" charset="-122"/>
                <a:cs typeface="Calibri" pitchFamily="34" charset="-120"/>
              </a:rPr>
              <a:t>Hisaab</a:t>
            </a:r>
            <a:endParaRPr lang="en-US" sz="1200" dirty="0"/>
          </a:p>
        </p:txBody>
      </p:sp>
      <p:sp>
        <p:nvSpPr>
          <p:cNvPr id="30" name="Shape 28"/>
          <p:cNvSpPr/>
          <p:nvPr/>
        </p:nvSpPr>
        <p:spPr>
          <a:xfrm>
            <a:off x="5765708" y="4483826"/>
            <a:ext cx="182880" cy="182880"/>
          </a:xfrm>
          <a:prstGeom prst="ellipse">
            <a:avLst/>
          </a:prstGeom>
          <a:solidFill>
            <a:srgbClr val="8A959E"/>
          </a:solidFill>
          <a:ln w="12700">
            <a:solidFill>
              <a:srgbClr val="FFFFFF"/>
            </a:solidFill>
            <a:prstDash val="solid"/>
          </a:ln>
        </p:spPr>
      </p:sp>
      <p:sp>
        <p:nvSpPr>
          <p:cNvPr id="31" name="Text 29"/>
          <p:cNvSpPr txBox="1"/>
          <p:nvPr/>
        </p:nvSpPr>
        <p:spPr>
          <a:xfrm>
            <a:off x="4942748" y="4703282"/>
            <a:ext cx="1828800" cy="256032"/>
          </a:xfrm>
          <a:prstGeom prst="rect">
            <a:avLst/>
          </a:prstGeom>
          <a:noFill/>
          <a:ln/>
        </p:spPr>
        <p:txBody>
          <a:bodyPr wrap="square" lIns="0" tIns="0" rIns="0" bIns="0" rtlCol="0" anchor="ctr"/>
          <a:lstStyle/>
          <a:p>
            <a:pPr algn="ctr" indent="0" marL="0">
              <a:buNone/>
            </a:pPr>
            <a:r>
              <a:rPr lang="en-US" sz="1200" b="1" dirty="0">
                <a:solidFill>
                  <a:srgbClr val="18222B"/>
                </a:solidFill>
                <a:latin typeface="Calibri" pitchFamily="34" charset="0"/>
                <a:ea typeface="Calibri" pitchFamily="34" charset="-122"/>
                <a:cs typeface="Calibri" pitchFamily="34" charset="-120"/>
              </a:rPr>
              <a:t>Comms</a:t>
            </a:r>
            <a:endParaRPr lang="en-US" sz="1200" dirty="0"/>
          </a:p>
        </p:txBody>
      </p:sp>
      <p:sp>
        <p:nvSpPr>
          <p:cNvPr id="32" name="Shape 30"/>
          <p:cNvSpPr/>
          <p:nvPr/>
        </p:nvSpPr>
        <p:spPr>
          <a:xfrm>
            <a:off x="6912864" y="5218611"/>
            <a:ext cx="182880" cy="182880"/>
          </a:xfrm>
          <a:prstGeom prst="ellipse">
            <a:avLst/>
          </a:prstGeom>
          <a:solidFill>
            <a:srgbClr val="8A959E"/>
          </a:solidFill>
          <a:ln w="12700">
            <a:solidFill>
              <a:srgbClr val="FFFFFF"/>
            </a:solidFill>
            <a:prstDash val="solid"/>
          </a:ln>
        </p:spPr>
      </p:sp>
      <p:sp>
        <p:nvSpPr>
          <p:cNvPr id="33" name="Text 31"/>
          <p:cNvSpPr txBox="1"/>
          <p:nvPr/>
        </p:nvSpPr>
        <p:spPr>
          <a:xfrm>
            <a:off x="5038344" y="5182035"/>
            <a:ext cx="1828800" cy="256032"/>
          </a:xfrm>
          <a:prstGeom prst="rect">
            <a:avLst/>
          </a:prstGeom>
          <a:noFill/>
          <a:ln/>
        </p:spPr>
        <p:txBody>
          <a:bodyPr wrap="square" lIns="0" tIns="0" rIns="0" bIns="0" rtlCol="0" anchor="ctr"/>
          <a:lstStyle/>
          <a:p>
            <a:pPr algn="r" indent="0" marL="0">
              <a:buNone/>
            </a:pPr>
            <a:r>
              <a:rPr lang="en-US" sz="1200" b="1" dirty="0">
                <a:solidFill>
                  <a:srgbClr val="18222B"/>
                </a:solidFill>
                <a:latin typeface="Calibri" pitchFamily="34" charset="0"/>
                <a:ea typeface="Calibri" pitchFamily="34" charset="-122"/>
                <a:cs typeface="Calibri" pitchFamily="34" charset="-120"/>
              </a:rPr>
              <a:t>App</a:t>
            </a:r>
            <a:endParaRPr lang="en-US" sz="1200" dirty="0"/>
          </a:p>
        </p:txBody>
      </p:sp>
      <p:sp>
        <p:nvSpPr>
          <p:cNvPr id="34" name="Shape 32"/>
          <p:cNvSpPr/>
          <p:nvPr/>
        </p:nvSpPr>
        <p:spPr>
          <a:xfrm>
            <a:off x="8092440" y="1783080"/>
            <a:ext cx="3550615" cy="2011680"/>
          </a:xfrm>
          <a:prstGeom prst="roundRect">
            <a:avLst>
              <a:gd name="adj" fmla="val 3636"/>
            </a:avLst>
          </a:prstGeom>
          <a:solidFill>
            <a:srgbClr val="F6D9D3"/>
          </a:solidFill>
          <a:ln w="12700">
            <a:solidFill>
              <a:srgbClr val="F6D9D3"/>
            </a:solidFill>
            <a:prstDash val="solid"/>
          </a:ln>
        </p:spPr>
      </p:sp>
      <p:sp>
        <p:nvSpPr>
          <p:cNvPr id="35" name="Text 33"/>
          <p:cNvSpPr txBox="1"/>
          <p:nvPr/>
        </p:nvSpPr>
        <p:spPr>
          <a:xfrm>
            <a:off x="8321040" y="1965960"/>
            <a:ext cx="3093415" cy="320040"/>
          </a:xfrm>
          <a:prstGeom prst="rect">
            <a:avLst/>
          </a:prstGeom>
          <a:noFill/>
          <a:ln/>
        </p:spPr>
        <p:txBody>
          <a:bodyPr wrap="square" lIns="0" tIns="0" rIns="0" bIns="0" rtlCol="0" anchor="t"/>
          <a:lstStyle/>
          <a:p>
            <a:pPr indent="0" marL="0">
              <a:buNone/>
            </a:pPr>
            <a:r>
              <a:rPr lang="en-US" sz="1500" b="1" dirty="0">
                <a:solidFill>
                  <a:srgbClr val="D9432B"/>
                </a:solidFill>
                <a:latin typeface="Calibri" pitchFamily="34" charset="0"/>
                <a:ea typeface="Calibri" pitchFamily="34" charset="-122"/>
                <a:cs typeface="Calibri" pitchFamily="34" charset="-120"/>
              </a:rPr>
              <a:t>Rated low, matters most</a:t>
            </a:r>
            <a:endParaRPr lang="en-US" sz="1500" dirty="0"/>
          </a:p>
        </p:txBody>
      </p:sp>
      <p:sp>
        <p:nvSpPr>
          <p:cNvPr id="36" name="Text 34"/>
          <p:cNvSpPr txBox="1"/>
          <p:nvPr/>
        </p:nvSpPr>
        <p:spPr>
          <a:xfrm>
            <a:off x="8321040" y="2331720"/>
            <a:ext cx="3093415" cy="1371600"/>
          </a:xfrm>
          <a:prstGeom prst="rect">
            <a:avLst/>
          </a:prstGeom>
          <a:noFill/>
          <a:ln/>
        </p:spPr>
        <p:txBody>
          <a:bodyPr wrap="square" lIns="0" tIns="0" rIns="0" bIns="0" rtlCol="0" anchor="t"/>
          <a:lstStyle/>
          <a:p>
            <a:pPr indent="0" marL="0">
              <a:buNone/>
            </a:pPr>
            <a:r>
              <a:rPr lang="en-US" sz="1300" dirty="0">
                <a:solidFill>
                  <a:srgbClr val="18222B"/>
                </a:solidFill>
                <a:latin typeface="Calibri" pitchFamily="34" charset="0"/>
                <a:ea typeface="Calibri" pitchFamily="34" charset="-122"/>
                <a:cs typeface="Calibri" pitchFamily="34" charset="-120"/>
              </a:rPr>
              <a:t>Reality vs expectations, trust, staff behaviour and vehicle condition all sit between 2.2 and 2.4, and move most closely with whether a driver recommends Everest.</a:t>
            </a:r>
            <a:endParaRPr lang="en-US" sz="1300" dirty="0"/>
          </a:p>
        </p:txBody>
      </p:sp>
      <p:sp>
        <p:nvSpPr>
          <p:cNvPr id="37" name="Shape 35"/>
          <p:cNvSpPr/>
          <p:nvPr/>
        </p:nvSpPr>
        <p:spPr>
          <a:xfrm>
            <a:off x="8092440" y="3977640"/>
            <a:ext cx="3550615" cy="1920240"/>
          </a:xfrm>
          <a:prstGeom prst="roundRect">
            <a:avLst>
              <a:gd name="adj" fmla="val 3810"/>
            </a:avLst>
          </a:prstGeom>
          <a:solidFill>
            <a:srgbClr val="F7EEDC"/>
          </a:solidFill>
          <a:ln w="12700">
            <a:solidFill>
              <a:srgbClr val="F7EEDC"/>
            </a:solidFill>
            <a:prstDash val="solid"/>
          </a:ln>
        </p:spPr>
      </p:sp>
      <p:sp>
        <p:nvSpPr>
          <p:cNvPr id="38" name="Text 36"/>
          <p:cNvSpPr txBox="1"/>
          <p:nvPr/>
        </p:nvSpPr>
        <p:spPr>
          <a:xfrm>
            <a:off x="8321040" y="4160520"/>
            <a:ext cx="3093415" cy="320040"/>
          </a:xfrm>
          <a:prstGeom prst="rect">
            <a:avLst/>
          </a:prstGeom>
          <a:noFill/>
          <a:ln/>
        </p:spPr>
        <p:txBody>
          <a:bodyPr wrap="square" lIns="0" tIns="0" rIns="0" bIns="0" rtlCol="0" anchor="t"/>
          <a:lstStyle/>
          <a:p>
            <a:pPr indent="0" marL="0">
              <a:buNone/>
            </a:pPr>
            <a:r>
              <a:rPr lang="en-US" sz="1500" b="1" dirty="0">
                <a:solidFill>
                  <a:srgbClr val="8A5D0E"/>
                </a:solidFill>
                <a:latin typeface="Calibri" pitchFamily="34" charset="0"/>
                <a:ea typeface="Calibri" pitchFamily="34" charset="-122"/>
                <a:cs typeface="Calibri" pitchFamily="34" charset="-120"/>
              </a:rPr>
              <a:t>Garage &amp; repair</a:t>
            </a:r>
            <a:endParaRPr lang="en-US" sz="1500" dirty="0"/>
          </a:p>
        </p:txBody>
      </p:sp>
      <p:sp>
        <p:nvSpPr>
          <p:cNvPr id="39" name="Text 37"/>
          <p:cNvSpPr txBox="1"/>
          <p:nvPr/>
        </p:nvSpPr>
        <p:spPr>
          <a:xfrm>
            <a:off x="8321040" y="4526280"/>
            <a:ext cx="3093415" cy="1280160"/>
          </a:xfrm>
          <a:prstGeom prst="rect">
            <a:avLst/>
          </a:prstGeom>
          <a:noFill/>
          <a:ln/>
        </p:spPr>
        <p:txBody>
          <a:bodyPr wrap="square" lIns="0" tIns="0" rIns="0" bIns="0" rtlCol="0" anchor="t"/>
          <a:lstStyle/>
          <a:p>
            <a:pPr indent="0" marL="0">
              <a:buNone/>
            </a:pPr>
            <a:r>
              <a:rPr lang="en-US" sz="1300" dirty="0">
                <a:solidFill>
                  <a:srgbClr val="18222B"/>
                </a:solidFill>
                <a:latin typeface="Calibri" pitchFamily="34" charset="0"/>
                <a:ea typeface="Calibri" pitchFamily="34" charset="-122"/>
                <a:cs typeface="Calibri" pitchFamily="34" charset="-120"/>
              </a:rPr>
              <a:t>The lowest-rated attribute (2.1) and the top complaint (51%), but a weaker link to loyalty than the four above.</a:t>
            </a:r>
            <a:endParaRPr lang="en-US" sz="1300" dirty="0"/>
          </a:p>
        </p:txBody>
      </p:sp>
      <p:sp>
        <p:nvSpPr>
          <p:cNvPr id="40" name="Text 38"/>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Ranked by cost, the most common complaint drops to last</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Active drivers citing each issue as a biggest problem</a:t>
            </a:r>
            <a:endParaRPr lang="en-US" sz="1600" dirty="0"/>
          </a:p>
        </p:txBody>
      </p:sp>
      <p:sp>
        <p:nvSpPr>
          <p:cNvPr id="4" name="Text 2"/>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Loyalty cost</a:t>
            </a:r>
            <a:endParaRPr lang="en-US" sz="1600" dirty="0"/>
          </a:p>
        </p:txBody>
      </p:sp>
      <p:sp>
        <p:nvSpPr>
          <p:cNvPr id="5" name="Text 3"/>
          <p:cNvSpPr txBox="1"/>
          <p:nvPr/>
        </p:nvSpPr>
        <p:spPr>
          <a:xfrm>
            <a:off x="548640" y="2103120"/>
            <a:ext cx="585216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Points lower on Recommend (0-10) vs drivers who don't cite it</a:t>
            </a:r>
            <a:endParaRPr lang="en-US" sz="1200" dirty="0"/>
          </a:p>
        </p:txBody>
      </p:sp>
      <p:graphicFrame>
        <p:nvGraphicFramePr>
          <p:cNvPr id="6" name="Chart 0" descr=""/>
          <p:cNvGraphicFramePr/>
          <p:nvPr/>
        </p:nvGraphicFramePr>
        <p:xfrm>
          <a:off x="548640" y="25146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086600" y="1783080"/>
            <a:ext cx="457200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Volume</a:t>
            </a:r>
            <a:endParaRPr lang="en-US" sz="1600" dirty="0"/>
          </a:p>
        </p:txBody>
      </p:sp>
      <p:sp>
        <p:nvSpPr>
          <p:cNvPr id="8" name="Text 5"/>
          <p:cNvSpPr txBox="1"/>
          <p:nvPr/>
        </p:nvSpPr>
        <p:spPr>
          <a:xfrm>
            <a:off x="7086600" y="2103120"/>
            <a:ext cx="4572000" cy="32004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Share of Active drivers citing it</a:t>
            </a:r>
            <a:endParaRPr lang="en-US" sz="1200" dirty="0"/>
          </a:p>
        </p:txBody>
      </p:sp>
      <p:graphicFrame>
        <p:nvGraphicFramePr>
          <p:cNvPr id="9" name="Chart 1" descr=""/>
          <p:cNvGraphicFramePr/>
          <p:nvPr/>
        </p:nvGraphicFramePr>
        <p:xfrm>
          <a:off x="7086600" y="2514600"/>
          <a:ext cx="4572000" cy="35661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What drivers value most isn't always what earns loyalty</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Best part of driving with Everest, Active drivers (up to 3 picks)</a:t>
            </a:r>
            <a:endParaRPr lang="en-US" sz="1600" dirty="0"/>
          </a:p>
        </p:txBody>
      </p:sp>
      <p:sp>
        <p:nvSpPr>
          <p:cNvPr id="4" name="Text 2"/>
          <p:cNvSpPr txBox="1"/>
          <p:nvPr/>
        </p:nvSpPr>
        <p:spPr>
          <a:xfrm>
            <a:off x="548640" y="182880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Ownership opportunity</a:t>
            </a:r>
            <a:endParaRPr lang="en-US" sz="1300" dirty="0"/>
          </a:p>
        </p:txBody>
      </p:sp>
      <p:sp>
        <p:nvSpPr>
          <p:cNvPr id="5" name="Shape 3"/>
          <p:cNvSpPr/>
          <p:nvPr/>
        </p:nvSpPr>
        <p:spPr>
          <a:xfrm>
            <a:off x="3474720" y="1900123"/>
            <a:ext cx="3108960" cy="332842"/>
          </a:xfrm>
          <a:prstGeom prst="rect">
            <a:avLst/>
          </a:prstGeom>
          <a:solidFill>
            <a:srgbClr val="5E7481"/>
          </a:solidFill>
          <a:ln w="12700">
            <a:solidFill>
              <a:srgbClr val="5E7481"/>
            </a:solidFill>
            <a:prstDash val="solid"/>
          </a:ln>
        </p:spPr>
      </p:sp>
      <p:sp>
        <p:nvSpPr>
          <p:cNvPr id="6" name="Text 4"/>
          <p:cNvSpPr txBox="1"/>
          <p:nvPr/>
        </p:nvSpPr>
        <p:spPr>
          <a:xfrm>
            <a:off x="6656832" y="182880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34%</a:t>
            </a:r>
            <a:endParaRPr lang="en-US" sz="1300" dirty="0"/>
          </a:p>
        </p:txBody>
      </p:sp>
      <p:sp>
        <p:nvSpPr>
          <p:cNvPr id="7" name="Text 5"/>
          <p:cNvSpPr txBox="1"/>
          <p:nvPr/>
        </p:nvSpPr>
        <p:spPr>
          <a:xfrm>
            <a:off x="548640" y="242316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On-time payments</a:t>
            </a:r>
            <a:endParaRPr lang="en-US" sz="1300" dirty="0"/>
          </a:p>
        </p:txBody>
      </p:sp>
      <p:sp>
        <p:nvSpPr>
          <p:cNvPr id="8" name="Shape 6"/>
          <p:cNvSpPr/>
          <p:nvPr/>
        </p:nvSpPr>
        <p:spPr>
          <a:xfrm>
            <a:off x="3474720" y="2494483"/>
            <a:ext cx="2926080" cy="332842"/>
          </a:xfrm>
          <a:prstGeom prst="rect">
            <a:avLst/>
          </a:prstGeom>
          <a:solidFill>
            <a:srgbClr val="5E7481"/>
          </a:solidFill>
          <a:ln w="12700">
            <a:solidFill>
              <a:srgbClr val="5E7481"/>
            </a:solidFill>
            <a:prstDash val="solid"/>
          </a:ln>
        </p:spPr>
      </p:sp>
      <p:sp>
        <p:nvSpPr>
          <p:cNvPr id="9" name="Text 7"/>
          <p:cNvSpPr txBox="1"/>
          <p:nvPr/>
        </p:nvSpPr>
        <p:spPr>
          <a:xfrm>
            <a:off x="6473952" y="242316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32%</a:t>
            </a:r>
            <a:endParaRPr lang="en-US" sz="1300" dirty="0"/>
          </a:p>
        </p:txBody>
      </p:sp>
      <p:sp>
        <p:nvSpPr>
          <p:cNvPr id="10" name="Text 8"/>
          <p:cNvSpPr txBox="1"/>
          <p:nvPr/>
        </p:nvSpPr>
        <p:spPr>
          <a:xfrm>
            <a:off x="548640" y="301752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Flexibility in working hours</a:t>
            </a:r>
            <a:endParaRPr lang="en-US" sz="1300" dirty="0"/>
          </a:p>
        </p:txBody>
      </p:sp>
      <p:sp>
        <p:nvSpPr>
          <p:cNvPr id="11" name="Shape 9"/>
          <p:cNvSpPr/>
          <p:nvPr/>
        </p:nvSpPr>
        <p:spPr>
          <a:xfrm>
            <a:off x="3474720" y="3088843"/>
            <a:ext cx="2834640" cy="332842"/>
          </a:xfrm>
          <a:prstGeom prst="rect">
            <a:avLst/>
          </a:prstGeom>
          <a:solidFill>
            <a:srgbClr val="B7C0C7"/>
          </a:solidFill>
          <a:ln w="12700">
            <a:solidFill>
              <a:srgbClr val="B7C0C7"/>
            </a:solidFill>
            <a:prstDash val="solid"/>
          </a:ln>
        </p:spPr>
      </p:sp>
      <p:sp>
        <p:nvSpPr>
          <p:cNvPr id="12" name="Text 10"/>
          <p:cNvSpPr txBox="1"/>
          <p:nvPr/>
        </p:nvSpPr>
        <p:spPr>
          <a:xfrm>
            <a:off x="6382512" y="301752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31%</a:t>
            </a:r>
            <a:endParaRPr lang="en-US" sz="1300" dirty="0"/>
          </a:p>
        </p:txBody>
      </p:sp>
      <p:sp>
        <p:nvSpPr>
          <p:cNvPr id="13" name="Text 11"/>
          <p:cNvSpPr txBox="1"/>
          <p:nvPr/>
        </p:nvSpPr>
        <p:spPr>
          <a:xfrm>
            <a:off x="548640" y="361188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Ease of using the app</a:t>
            </a:r>
            <a:endParaRPr lang="en-US" sz="1300" dirty="0"/>
          </a:p>
        </p:txBody>
      </p:sp>
      <p:sp>
        <p:nvSpPr>
          <p:cNvPr id="14" name="Shape 12"/>
          <p:cNvSpPr/>
          <p:nvPr/>
        </p:nvSpPr>
        <p:spPr>
          <a:xfrm>
            <a:off x="3474720" y="3683203"/>
            <a:ext cx="2651760" cy="332842"/>
          </a:xfrm>
          <a:prstGeom prst="rect">
            <a:avLst/>
          </a:prstGeom>
          <a:solidFill>
            <a:srgbClr val="B7C0C7"/>
          </a:solidFill>
          <a:ln w="12700">
            <a:solidFill>
              <a:srgbClr val="B7C0C7"/>
            </a:solidFill>
            <a:prstDash val="solid"/>
          </a:ln>
        </p:spPr>
      </p:sp>
      <p:sp>
        <p:nvSpPr>
          <p:cNvPr id="15" name="Text 13"/>
          <p:cNvSpPr txBox="1"/>
          <p:nvPr/>
        </p:nvSpPr>
        <p:spPr>
          <a:xfrm>
            <a:off x="6199632" y="361188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29%</a:t>
            </a:r>
            <a:endParaRPr lang="en-US" sz="1300" dirty="0"/>
          </a:p>
        </p:txBody>
      </p:sp>
      <p:sp>
        <p:nvSpPr>
          <p:cNvPr id="16" name="Text 14"/>
          <p:cNvSpPr txBox="1"/>
          <p:nvPr/>
        </p:nvSpPr>
        <p:spPr>
          <a:xfrm>
            <a:off x="548640" y="420624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Support during problems</a:t>
            </a:r>
            <a:endParaRPr lang="en-US" sz="1300" dirty="0"/>
          </a:p>
        </p:txBody>
      </p:sp>
      <p:sp>
        <p:nvSpPr>
          <p:cNvPr id="17" name="Shape 15"/>
          <p:cNvSpPr/>
          <p:nvPr/>
        </p:nvSpPr>
        <p:spPr>
          <a:xfrm>
            <a:off x="3474720" y="4277563"/>
            <a:ext cx="1828800" cy="332842"/>
          </a:xfrm>
          <a:prstGeom prst="rect">
            <a:avLst/>
          </a:prstGeom>
          <a:solidFill>
            <a:srgbClr val="1F7A70"/>
          </a:solidFill>
          <a:ln w="12700">
            <a:solidFill>
              <a:srgbClr val="1F7A70"/>
            </a:solidFill>
            <a:prstDash val="solid"/>
          </a:ln>
        </p:spPr>
      </p:sp>
      <p:sp>
        <p:nvSpPr>
          <p:cNvPr id="18" name="Text 16"/>
          <p:cNvSpPr txBox="1"/>
          <p:nvPr/>
        </p:nvSpPr>
        <p:spPr>
          <a:xfrm>
            <a:off x="5376672" y="420624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20%</a:t>
            </a:r>
            <a:endParaRPr lang="en-US" sz="1300" dirty="0"/>
          </a:p>
        </p:txBody>
      </p:sp>
      <p:sp>
        <p:nvSpPr>
          <p:cNvPr id="19" name="Text 17"/>
          <p:cNvSpPr txBox="1"/>
          <p:nvPr/>
        </p:nvSpPr>
        <p:spPr>
          <a:xfrm>
            <a:off x="548640" y="480060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Vehicle condition &amp; maintenance</a:t>
            </a:r>
            <a:endParaRPr lang="en-US" sz="1300" dirty="0"/>
          </a:p>
        </p:txBody>
      </p:sp>
      <p:sp>
        <p:nvSpPr>
          <p:cNvPr id="20" name="Shape 18"/>
          <p:cNvSpPr/>
          <p:nvPr/>
        </p:nvSpPr>
        <p:spPr>
          <a:xfrm>
            <a:off x="3474720" y="4871923"/>
            <a:ext cx="1463040" cy="332842"/>
          </a:xfrm>
          <a:prstGeom prst="rect">
            <a:avLst/>
          </a:prstGeom>
          <a:solidFill>
            <a:srgbClr val="1F7A70"/>
          </a:solidFill>
          <a:ln w="12700">
            <a:solidFill>
              <a:srgbClr val="1F7A70"/>
            </a:solidFill>
            <a:prstDash val="solid"/>
          </a:ln>
        </p:spPr>
      </p:sp>
      <p:sp>
        <p:nvSpPr>
          <p:cNvPr id="21" name="Text 19"/>
          <p:cNvSpPr txBox="1"/>
          <p:nvPr/>
        </p:nvSpPr>
        <p:spPr>
          <a:xfrm>
            <a:off x="5010912" y="480060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16%</a:t>
            </a:r>
            <a:endParaRPr lang="en-US" sz="1300" dirty="0"/>
          </a:p>
        </p:txBody>
      </p:sp>
      <p:sp>
        <p:nvSpPr>
          <p:cNvPr id="22" name="Text 20"/>
          <p:cNvSpPr txBox="1"/>
          <p:nvPr/>
        </p:nvSpPr>
        <p:spPr>
          <a:xfrm>
            <a:off x="548640" y="5394960"/>
            <a:ext cx="2788920" cy="475488"/>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Staff speak with respect</a:t>
            </a:r>
            <a:endParaRPr lang="en-US" sz="1300" dirty="0"/>
          </a:p>
        </p:txBody>
      </p:sp>
      <p:sp>
        <p:nvSpPr>
          <p:cNvPr id="23" name="Shape 21"/>
          <p:cNvSpPr/>
          <p:nvPr/>
        </p:nvSpPr>
        <p:spPr>
          <a:xfrm>
            <a:off x="3474720" y="5466283"/>
            <a:ext cx="1463040" cy="332842"/>
          </a:xfrm>
          <a:prstGeom prst="rect">
            <a:avLst/>
          </a:prstGeom>
          <a:solidFill>
            <a:srgbClr val="5E7481"/>
          </a:solidFill>
          <a:ln w="12700">
            <a:solidFill>
              <a:srgbClr val="5E7481"/>
            </a:solidFill>
            <a:prstDash val="solid"/>
          </a:ln>
        </p:spPr>
      </p:sp>
      <p:sp>
        <p:nvSpPr>
          <p:cNvPr id="24" name="Text 22"/>
          <p:cNvSpPr txBox="1"/>
          <p:nvPr/>
        </p:nvSpPr>
        <p:spPr>
          <a:xfrm>
            <a:off x="5010912" y="5394960"/>
            <a:ext cx="822960" cy="47548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16%</a:t>
            </a:r>
            <a:endParaRPr lang="en-US" sz="1300" dirty="0"/>
          </a:p>
        </p:txBody>
      </p:sp>
      <p:sp>
        <p:nvSpPr>
          <p:cNvPr id="25" name="Shape 23"/>
          <p:cNvSpPr/>
          <p:nvPr/>
        </p:nvSpPr>
        <p:spPr>
          <a:xfrm>
            <a:off x="7772400" y="1828800"/>
            <a:ext cx="3870655" cy="1920240"/>
          </a:xfrm>
          <a:prstGeom prst="roundRect">
            <a:avLst>
              <a:gd name="adj" fmla="val 3810"/>
            </a:avLst>
          </a:prstGeom>
          <a:solidFill>
            <a:srgbClr val="DDEFEC"/>
          </a:solidFill>
          <a:ln w="12700">
            <a:solidFill>
              <a:srgbClr val="DDEFEC"/>
            </a:solidFill>
            <a:prstDash val="solid"/>
          </a:ln>
        </p:spPr>
      </p:sp>
      <p:sp>
        <p:nvSpPr>
          <p:cNvPr id="26" name="Text 24"/>
          <p:cNvSpPr txBox="1"/>
          <p:nvPr/>
        </p:nvSpPr>
        <p:spPr>
          <a:xfrm>
            <a:off x="8001000" y="1993392"/>
            <a:ext cx="3413455" cy="457200"/>
          </a:xfrm>
          <a:prstGeom prst="rect">
            <a:avLst/>
          </a:prstGeom>
          <a:noFill/>
          <a:ln/>
        </p:spPr>
        <p:txBody>
          <a:bodyPr wrap="square" lIns="0" tIns="0" rIns="0" bIns="0" rtlCol="0" anchor="t"/>
          <a:lstStyle/>
          <a:p>
            <a:pPr indent="0" marL="0">
              <a:buNone/>
            </a:pPr>
            <a:r>
              <a:rPr lang="en-US" sz="2400" b="1" dirty="0">
                <a:solidFill>
                  <a:srgbClr val="1F7A70"/>
                </a:solidFill>
                <a:latin typeface="Cambria" pitchFamily="34" charset="0"/>
                <a:ea typeface="Cambria" pitchFamily="34" charset="-122"/>
                <a:cs typeface="Cambria" pitchFamily="34" charset="-120"/>
              </a:rPr>
              <a:t>About +2 points</a:t>
            </a:r>
            <a:endParaRPr lang="en-US" sz="2400" dirty="0"/>
          </a:p>
        </p:txBody>
      </p:sp>
      <p:sp>
        <p:nvSpPr>
          <p:cNvPr id="27" name="Text 25"/>
          <p:cNvSpPr txBox="1"/>
          <p:nvPr/>
        </p:nvSpPr>
        <p:spPr>
          <a:xfrm>
            <a:off x="8001000" y="2487168"/>
            <a:ext cx="3413455" cy="1097280"/>
          </a:xfrm>
          <a:prstGeom prst="rect">
            <a:avLst/>
          </a:prstGeom>
          <a:noFill/>
          <a:ln/>
        </p:spPr>
        <p:txBody>
          <a:bodyPr wrap="square" lIns="0" tIns="0" rIns="0" bIns="0" rtlCol="0" anchor="t"/>
          <a:lstStyle/>
          <a:p>
            <a:pPr indent="0" marL="0">
              <a:buNone/>
            </a:pPr>
            <a:r>
              <a:rPr lang="en-US" sz="1300" dirty="0">
                <a:solidFill>
                  <a:srgbClr val="18222B"/>
                </a:solidFill>
                <a:latin typeface="Calibri" pitchFamily="34" charset="0"/>
                <a:ea typeface="Calibri" pitchFamily="34" charset="-122"/>
                <a:cs typeface="Calibri" pitchFamily="34" charset="-120"/>
              </a:rPr>
              <a:t>on Recommend when a driver picks support during problems or vehicle condition as a best part</a:t>
            </a:r>
            <a:endParaRPr lang="en-US" sz="1300" dirty="0"/>
          </a:p>
        </p:txBody>
      </p:sp>
      <p:sp>
        <p:nvSpPr>
          <p:cNvPr id="28" name="Shape 26"/>
          <p:cNvSpPr/>
          <p:nvPr/>
        </p:nvSpPr>
        <p:spPr>
          <a:xfrm>
            <a:off x="7772400" y="3931920"/>
            <a:ext cx="3870655" cy="2011680"/>
          </a:xfrm>
          <a:prstGeom prst="roundRect">
            <a:avLst>
              <a:gd name="adj" fmla="val 3636"/>
            </a:avLst>
          </a:prstGeom>
          <a:solidFill>
            <a:srgbClr val="F1F3F5"/>
          </a:solidFill>
          <a:ln w="12700">
            <a:solidFill>
              <a:srgbClr val="F1F3F5"/>
            </a:solidFill>
            <a:prstDash val="solid"/>
          </a:ln>
        </p:spPr>
      </p:sp>
      <p:sp>
        <p:nvSpPr>
          <p:cNvPr id="29" name="Text 27"/>
          <p:cNvSpPr txBox="1"/>
          <p:nvPr/>
        </p:nvSpPr>
        <p:spPr>
          <a:xfrm>
            <a:off x="8001000" y="4096512"/>
            <a:ext cx="3413455" cy="457200"/>
          </a:xfrm>
          <a:prstGeom prst="rect">
            <a:avLst/>
          </a:prstGeom>
          <a:noFill/>
          <a:ln/>
        </p:spPr>
        <p:txBody>
          <a:bodyPr wrap="square" lIns="0" tIns="0" rIns="0" bIns="0" rtlCol="0" anchor="t"/>
          <a:lstStyle/>
          <a:p>
            <a:pPr indent="0" marL="0">
              <a:buNone/>
            </a:pPr>
            <a:r>
              <a:rPr lang="en-US" sz="2400" b="1" dirty="0">
                <a:solidFill>
                  <a:srgbClr val="56636E"/>
                </a:solidFill>
                <a:latin typeface="Cambria" pitchFamily="34" charset="0"/>
                <a:ea typeface="Cambria" pitchFamily="34" charset="-122"/>
                <a:cs typeface="Cambria" pitchFamily="34" charset="-120"/>
              </a:rPr>
              <a:t>Almost no lift</a:t>
            </a:r>
            <a:endParaRPr lang="en-US" sz="2400" dirty="0"/>
          </a:p>
        </p:txBody>
      </p:sp>
      <p:sp>
        <p:nvSpPr>
          <p:cNvPr id="30" name="Text 28"/>
          <p:cNvSpPr txBox="1"/>
          <p:nvPr/>
        </p:nvSpPr>
        <p:spPr>
          <a:xfrm>
            <a:off x="8001000" y="4590288"/>
            <a:ext cx="3413455" cy="1188720"/>
          </a:xfrm>
          <a:prstGeom prst="rect">
            <a:avLst/>
          </a:prstGeom>
          <a:noFill/>
          <a:ln/>
        </p:spPr>
        <p:txBody>
          <a:bodyPr wrap="square" lIns="0" tIns="0" rIns="0" bIns="0" rtlCol="0" anchor="t"/>
          <a:lstStyle/>
          <a:p>
            <a:pPr indent="0" marL="0">
              <a:buNone/>
            </a:pPr>
            <a:r>
              <a:rPr lang="en-US" sz="1300" dirty="0">
                <a:solidFill>
                  <a:srgbClr val="18222B"/>
                </a:solidFill>
                <a:latin typeface="Calibri" pitchFamily="34" charset="0"/>
                <a:ea typeface="Calibri" pitchFamily="34" charset="-122"/>
                <a:cs typeface="Calibri" pitchFamily="34" charset="-120"/>
              </a:rPr>
              <a:t>from flexibility or the app, the third and fourth most-picked. They read as baseline features, not reasons to stay.</a:t>
            </a:r>
            <a:endParaRPr lang="en-US" sz="13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Half of drivers first think Everest looks out only for itself</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Active drivers</a:t>
            </a:r>
            <a:endParaRPr lang="en-US" sz="1600" dirty="0"/>
          </a:p>
        </p:txBody>
      </p:sp>
      <p:sp>
        <p:nvSpPr>
          <p:cNvPr id="4" name="Text 2"/>
          <p:cNvSpPr txBox="1"/>
          <p:nvPr/>
        </p:nvSpPr>
        <p:spPr>
          <a:xfrm>
            <a:off x="548640" y="1691640"/>
            <a:ext cx="530352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First thing that comes to mind</a:t>
            </a:r>
            <a:endParaRPr lang="en-US" sz="1600" dirty="0"/>
          </a:p>
        </p:txBody>
      </p:sp>
      <p:sp>
        <p:nvSpPr>
          <p:cNvPr id="5" name="Text 3"/>
          <p:cNvSpPr txBox="1"/>
          <p:nvPr/>
        </p:nvSpPr>
        <p:spPr>
          <a:xfrm>
            <a:off x="548640" y="2148840"/>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Looks out only for itself</a:t>
            </a:r>
            <a:endParaRPr lang="en-US" sz="1300" dirty="0"/>
          </a:p>
        </p:txBody>
      </p:sp>
      <p:sp>
        <p:nvSpPr>
          <p:cNvPr id="6" name="Shape 4"/>
          <p:cNvSpPr/>
          <p:nvPr/>
        </p:nvSpPr>
        <p:spPr>
          <a:xfrm>
            <a:off x="3200400" y="2210288"/>
            <a:ext cx="2286000" cy="286756"/>
          </a:xfrm>
          <a:prstGeom prst="rect">
            <a:avLst/>
          </a:prstGeom>
          <a:solidFill>
            <a:srgbClr val="D9432B"/>
          </a:solidFill>
          <a:ln w="12700">
            <a:solidFill>
              <a:srgbClr val="D9432B"/>
            </a:solidFill>
            <a:prstDash val="solid"/>
          </a:ln>
        </p:spPr>
      </p:sp>
      <p:sp>
        <p:nvSpPr>
          <p:cNvPr id="7" name="Text 5"/>
          <p:cNvSpPr txBox="1"/>
          <p:nvPr/>
        </p:nvSpPr>
        <p:spPr>
          <a:xfrm>
            <a:off x="5559552" y="2148840"/>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50%</a:t>
            </a:r>
            <a:endParaRPr lang="en-US" sz="1300" dirty="0"/>
          </a:p>
        </p:txBody>
      </p:sp>
      <p:sp>
        <p:nvSpPr>
          <p:cNvPr id="8" name="Text 6"/>
          <p:cNvSpPr txBox="1"/>
          <p:nvPr/>
        </p:nvSpPr>
        <p:spPr>
          <a:xfrm>
            <a:off x="548640" y="2660904"/>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Easy to work with</a:t>
            </a:r>
            <a:endParaRPr lang="en-US" sz="1300" dirty="0"/>
          </a:p>
        </p:txBody>
      </p:sp>
      <p:sp>
        <p:nvSpPr>
          <p:cNvPr id="9" name="Shape 7"/>
          <p:cNvSpPr/>
          <p:nvPr/>
        </p:nvSpPr>
        <p:spPr>
          <a:xfrm>
            <a:off x="3200400" y="2722352"/>
            <a:ext cx="777240" cy="286756"/>
          </a:xfrm>
          <a:prstGeom prst="rect">
            <a:avLst/>
          </a:prstGeom>
          <a:solidFill>
            <a:srgbClr val="5E7481"/>
          </a:solidFill>
          <a:ln w="12700">
            <a:solidFill>
              <a:srgbClr val="5E7481"/>
            </a:solidFill>
            <a:prstDash val="solid"/>
          </a:ln>
        </p:spPr>
      </p:sp>
      <p:sp>
        <p:nvSpPr>
          <p:cNvPr id="10" name="Text 8"/>
          <p:cNvSpPr txBox="1"/>
          <p:nvPr/>
        </p:nvSpPr>
        <p:spPr>
          <a:xfrm>
            <a:off x="4050792" y="2660904"/>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17%</a:t>
            </a:r>
            <a:endParaRPr lang="en-US" sz="1300" dirty="0"/>
          </a:p>
        </p:txBody>
      </p:sp>
      <p:sp>
        <p:nvSpPr>
          <p:cNvPr id="11" name="Text 9"/>
          <p:cNvSpPr txBox="1"/>
          <p:nvPr/>
        </p:nvSpPr>
        <p:spPr>
          <a:xfrm>
            <a:off x="548640" y="3172968"/>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Keeps its word</a:t>
            </a:r>
            <a:endParaRPr lang="en-US" sz="1300" dirty="0"/>
          </a:p>
        </p:txBody>
      </p:sp>
      <p:sp>
        <p:nvSpPr>
          <p:cNvPr id="12" name="Shape 10"/>
          <p:cNvSpPr/>
          <p:nvPr/>
        </p:nvSpPr>
        <p:spPr>
          <a:xfrm>
            <a:off x="3200400" y="3234416"/>
            <a:ext cx="594360" cy="286756"/>
          </a:xfrm>
          <a:prstGeom prst="rect">
            <a:avLst/>
          </a:prstGeom>
          <a:solidFill>
            <a:srgbClr val="5E7481"/>
          </a:solidFill>
          <a:ln w="12700">
            <a:solidFill>
              <a:srgbClr val="5E7481"/>
            </a:solidFill>
            <a:prstDash val="solid"/>
          </a:ln>
        </p:spPr>
      </p:sp>
      <p:sp>
        <p:nvSpPr>
          <p:cNvPr id="13" name="Text 11"/>
          <p:cNvSpPr txBox="1"/>
          <p:nvPr/>
        </p:nvSpPr>
        <p:spPr>
          <a:xfrm>
            <a:off x="3867912" y="3172968"/>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13%</a:t>
            </a:r>
            <a:endParaRPr lang="en-US" sz="1300" dirty="0"/>
          </a:p>
        </p:txBody>
      </p:sp>
      <p:sp>
        <p:nvSpPr>
          <p:cNvPr id="14" name="Text 12"/>
          <p:cNvSpPr txBox="1"/>
          <p:nvPr/>
        </p:nvSpPr>
        <p:spPr>
          <a:xfrm>
            <a:off x="548640" y="3685032"/>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Is improving</a:t>
            </a:r>
            <a:endParaRPr lang="en-US" sz="1300" dirty="0"/>
          </a:p>
        </p:txBody>
      </p:sp>
      <p:sp>
        <p:nvSpPr>
          <p:cNvPr id="15" name="Shape 13"/>
          <p:cNvSpPr/>
          <p:nvPr/>
        </p:nvSpPr>
        <p:spPr>
          <a:xfrm>
            <a:off x="3200400" y="3746480"/>
            <a:ext cx="320040" cy="286756"/>
          </a:xfrm>
          <a:prstGeom prst="rect">
            <a:avLst/>
          </a:prstGeom>
          <a:solidFill>
            <a:srgbClr val="5E7481"/>
          </a:solidFill>
          <a:ln w="12700">
            <a:solidFill>
              <a:srgbClr val="5E7481"/>
            </a:solidFill>
            <a:prstDash val="solid"/>
          </a:ln>
        </p:spPr>
      </p:sp>
      <p:sp>
        <p:nvSpPr>
          <p:cNvPr id="16" name="Text 14"/>
          <p:cNvSpPr txBox="1"/>
          <p:nvPr/>
        </p:nvSpPr>
        <p:spPr>
          <a:xfrm>
            <a:off x="3593592" y="3685032"/>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7%</a:t>
            </a:r>
            <a:endParaRPr lang="en-US" sz="1300" dirty="0"/>
          </a:p>
        </p:txBody>
      </p:sp>
      <p:sp>
        <p:nvSpPr>
          <p:cNvPr id="17" name="Text 15"/>
          <p:cNvSpPr txBox="1"/>
          <p:nvPr/>
        </p:nvSpPr>
        <p:spPr>
          <a:xfrm>
            <a:off x="548640" y="4197096"/>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Just another fleet company</a:t>
            </a:r>
            <a:endParaRPr lang="en-US" sz="1300" dirty="0"/>
          </a:p>
        </p:txBody>
      </p:sp>
      <p:sp>
        <p:nvSpPr>
          <p:cNvPr id="18" name="Shape 16"/>
          <p:cNvSpPr/>
          <p:nvPr/>
        </p:nvSpPr>
        <p:spPr>
          <a:xfrm>
            <a:off x="3200400" y="4258544"/>
            <a:ext cx="228600" cy="286756"/>
          </a:xfrm>
          <a:prstGeom prst="rect">
            <a:avLst/>
          </a:prstGeom>
          <a:solidFill>
            <a:srgbClr val="B7C0C7"/>
          </a:solidFill>
          <a:ln w="12700">
            <a:solidFill>
              <a:srgbClr val="B7C0C7"/>
            </a:solidFill>
            <a:prstDash val="solid"/>
          </a:ln>
        </p:spPr>
      </p:sp>
      <p:sp>
        <p:nvSpPr>
          <p:cNvPr id="19" name="Text 17"/>
          <p:cNvSpPr txBox="1"/>
          <p:nvPr/>
        </p:nvSpPr>
        <p:spPr>
          <a:xfrm>
            <a:off x="3502152" y="4197096"/>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6400800" y="1691640"/>
            <a:ext cx="521208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If Everest were a person</a:t>
            </a:r>
            <a:endParaRPr lang="en-US" sz="1600" dirty="0"/>
          </a:p>
        </p:txBody>
      </p:sp>
      <p:sp>
        <p:nvSpPr>
          <p:cNvPr id="21" name="Text 19"/>
          <p:cNvSpPr txBox="1"/>
          <p:nvPr/>
        </p:nvSpPr>
        <p:spPr>
          <a:xfrm>
            <a:off x="6400800" y="2148840"/>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Does not care much</a:t>
            </a:r>
            <a:endParaRPr lang="en-US" sz="1300" dirty="0"/>
          </a:p>
        </p:txBody>
      </p:sp>
      <p:sp>
        <p:nvSpPr>
          <p:cNvPr id="22" name="Shape 20"/>
          <p:cNvSpPr/>
          <p:nvPr/>
        </p:nvSpPr>
        <p:spPr>
          <a:xfrm>
            <a:off x="9052560" y="2210288"/>
            <a:ext cx="2103120" cy="286756"/>
          </a:xfrm>
          <a:prstGeom prst="rect">
            <a:avLst/>
          </a:prstGeom>
          <a:solidFill>
            <a:srgbClr val="D9432B"/>
          </a:solidFill>
          <a:ln w="12700">
            <a:solidFill>
              <a:srgbClr val="D9432B"/>
            </a:solidFill>
            <a:prstDash val="solid"/>
          </a:ln>
        </p:spPr>
      </p:sp>
      <p:sp>
        <p:nvSpPr>
          <p:cNvPr id="23" name="Text 21"/>
          <p:cNvSpPr txBox="1"/>
          <p:nvPr/>
        </p:nvSpPr>
        <p:spPr>
          <a:xfrm>
            <a:off x="11228832" y="2148840"/>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27%</a:t>
            </a:r>
            <a:endParaRPr lang="en-US" sz="1300" dirty="0"/>
          </a:p>
        </p:txBody>
      </p:sp>
      <p:sp>
        <p:nvSpPr>
          <p:cNvPr id="24" name="Text 22"/>
          <p:cNvSpPr txBox="1"/>
          <p:nvPr/>
        </p:nvSpPr>
        <p:spPr>
          <a:xfrm>
            <a:off x="6400800" y="2660904"/>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Talks nice, doesn't deliver</a:t>
            </a:r>
            <a:endParaRPr lang="en-US" sz="1300" dirty="0"/>
          </a:p>
        </p:txBody>
      </p:sp>
      <p:sp>
        <p:nvSpPr>
          <p:cNvPr id="25" name="Shape 23"/>
          <p:cNvSpPr/>
          <p:nvPr/>
        </p:nvSpPr>
        <p:spPr>
          <a:xfrm>
            <a:off x="9052560" y="2722352"/>
            <a:ext cx="2025227" cy="286756"/>
          </a:xfrm>
          <a:prstGeom prst="rect">
            <a:avLst/>
          </a:prstGeom>
          <a:solidFill>
            <a:srgbClr val="D9432B"/>
          </a:solidFill>
          <a:ln w="12700">
            <a:solidFill>
              <a:srgbClr val="D9432B"/>
            </a:solidFill>
            <a:prstDash val="solid"/>
          </a:ln>
        </p:spPr>
      </p:sp>
      <p:sp>
        <p:nvSpPr>
          <p:cNvPr id="26" name="Text 24"/>
          <p:cNvSpPr txBox="1"/>
          <p:nvPr/>
        </p:nvSpPr>
        <p:spPr>
          <a:xfrm>
            <a:off x="11150939" y="2660904"/>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26%</a:t>
            </a:r>
            <a:endParaRPr lang="en-US" sz="1300" dirty="0"/>
          </a:p>
        </p:txBody>
      </p:sp>
      <p:sp>
        <p:nvSpPr>
          <p:cNvPr id="27" name="Text 25"/>
          <p:cNvSpPr txBox="1"/>
          <p:nvPr/>
        </p:nvSpPr>
        <p:spPr>
          <a:xfrm>
            <a:off x="6400800" y="3172968"/>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Good some days, bad others</a:t>
            </a:r>
            <a:endParaRPr lang="en-US" sz="1300" dirty="0"/>
          </a:p>
        </p:txBody>
      </p:sp>
      <p:sp>
        <p:nvSpPr>
          <p:cNvPr id="28" name="Shape 26"/>
          <p:cNvSpPr/>
          <p:nvPr/>
        </p:nvSpPr>
        <p:spPr>
          <a:xfrm>
            <a:off x="9052560" y="3234416"/>
            <a:ext cx="1246293" cy="286756"/>
          </a:xfrm>
          <a:prstGeom prst="rect">
            <a:avLst/>
          </a:prstGeom>
          <a:solidFill>
            <a:srgbClr val="B7C0C7"/>
          </a:solidFill>
          <a:ln w="12700">
            <a:solidFill>
              <a:srgbClr val="B7C0C7"/>
            </a:solidFill>
            <a:prstDash val="solid"/>
          </a:ln>
        </p:spPr>
      </p:sp>
      <p:sp>
        <p:nvSpPr>
          <p:cNvPr id="29" name="Text 27"/>
          <p:cNvSpPr txBox="1"/>
          <p:nvPr/>
        </p:nvSpPr>
        <p:spPr>
          <a:xfrm>
            <a:off x="10372005" y="3172968"/>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16%</a:t>
            </a:r>
            <a:endParaRPr lang="en-US" sz="1300" dirty="0"/>
          </a:p>
        </p:txBody>
      </p:sp>
      <p:sp>
        <p:nvSpPr>
          <p:cNvPr id="30" name="Text 28"/>
          <p:cNvSpPr txBox="1"/>
          <p:nvPr/>
        </p:nvSpPr>
        <p:spPr>
          <a:xfrm>
            <a:off x="6400800" y="3685032"/>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A reliable old companion</a:t>
            </a:r>
            <a:endParaRPr lang="en-US" sz="1300" dirty="0"/>
          </a:p>
        </p:txBody>
      </p:sp>
      <p:sp>
        <p:nvSpPr>
          <p:cNvPr id="31" name="Shape 29"/>
          <p:cNvSpPr/>
          <p:nvPr/>
        </p:nvSpPr>
        <p:spPr>
          <a:xfrm>
            <a:off x="9052560" y="3746480"/>
            <a:ext cx="1012613" cy="286756"/>
          </a:xfrm>
          <a:prstGeom prst="rect">
            <a:avLst/>
          </a:prstGeom>
          <a:solidFill>
            <a:srgbClr val="1F7A70"/>
          </a:solidFill>
          <a:ln w="12700">
            <a:solidFill>
              <a:srgbClr val="1F7A70"/>
            </a:solidFill>
            <a:prstDash val="solid"/>
          </a:ln>
        </p:spPr>
      </p:sp>
      <p:sp>
        <p:nvSpPr>
          <p:cNvPr id="32" name="Text 30"/>
          <p:cNvSpPr txBox="1"/>
          <p:nvPr/>
        </p:nvSpPr>
        <p:spPr>
          <a:xfrm>
            <a:off x="10138325" y="3685032"/>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13%</a:t>
            </a:r>
            <a:endParaRPr lang="en-US" sz="1300" dirty="0"/>
          </a:p>
        </p:txBody>
      </p:sp>
      <p:sp>
        <p:nvSpPr>
          <p:cNvPr id="33" name="Text 31"/>
          <p:cNvSpPr txBox="1"/>
          <p:nvPr/>
        </p:nvSpPr>
        <p:spPr>
          <a:xfrm>
            <a:off x="6400800" y="4197096"/>
            <a:ext cx="2514600" cy="409651"/>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A caring older sibling</a:t>
            </a:r>
            <a:endParaRPr lang="en-US" sz="1300" dirty="0"/>
          </a:p>
        </p:txBody>
      </p:sp>
      <p:sp>
        <p:nvSpPr>
          <p:cNvPr id="34" name="Shape 32"/>
          <p:cNvSpPr/>
          <p:nvPr/>
        </p:nvSpPr>
        <p:spPr>
          <a:xfrm>
            <a:off x="9052560" y="4258544"/>
            <a:ext cx="934720" cy="286756"/>
          </a:xfrm>
          <a:prstGeom prst="rect">
            <a:avLst/>
          </a:prstGeom>
          <a:solidFill>
            <a:srgbClr val="1F7A70"/>
          </a:solidFill>
          <a:ln w="12700">
            <a:solidFill>
              <a:srgbClr val="1F7A70"/>
            </a:solidFill>
            <a:prstDash val="solid"/>
          </a:ln>
        </p:spPr>
      </p:sp>
      <p:sp>
        <p:nvSpPr>
          <p:cNvPr id="35" name="Text 33"/>
          <p:cNvSpPr txBox="1"/>
          <p:nvPr/>
        </p:nvSpPr>
        <p:spPr>
          <a:xfrm>
            <a:off x="10060432" y="4197096"/>
            <a:ext cx="822960" cy="409651"/>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12%</a:t>
            </a:r>
            <a:endParaRPr lang="en-US" sz="1300" dirty="0"/>
          </a:p>
        </p:txBody>
      </p:sp>
      <p:sp>
        <p:nvSpPr>
          <p:cNvPr id="36" name="Shape 34"/>
          <p:cNvSpPr/>
          <p:nvPr/>
        </p:nvSpPr>
        <p:spPr>
          <a:xfrm>
            <a:off x="548640" y="4937760"/>
            <a:ext cx="3520440" cy="1234440"/>
          </a:xfrm>
          <a:prstGeom prst="roundRect">
            <a:avLst>
              <a:gd name="adj" fmla="val 5926"/>
            </a:avLst>
          </a:prstGeom>
          <a:solidFill>
            <a:srgbClr val="F1F3F5"/>
          </a:solidFill>
          <a:ln w="12700">
            <a:solidFill>
              <a:srgbClr val="F1F3F5"/>
            </a:solidFill>
            <a:prstDash val="solid"/>
          </a:ln>
        </p:spPr>
      </p:sp>
      <p:sp>
        <p:nvSpPr>
          <p:cNvPr id="37" name="Text 35"/>
          <p:cNvSpPr txBox="1"/>
          <p:nvPr/>
        </p:nvSpPr>
        <p:spPr>
          <a:xfrm>
            <a:off x="777240" y="5029200"/>
            <a:ext cx="1005840" cy="1051560"/>
          </a:xfrm>
          <a:prstGeom prst="rect">
            <a:avLst/>
          </a:prstGeom>
          <a:noFill/>
          <a:ln/>
        </p:spPr>
        <p:txBody>
          <a:bodyPr wrap="square" lIns="0" tIns="0" rIns="0" bIns="0" rtlCol="0" anchor="ctr"/>
          <a:lstStyle/>
          <a:p>
            <a:pPr indent="0" marL="0">
              <a:buNone/>
            </a:pPr>
            <a:r>
              <a:rPr lang="en-US" sz="3200" b="1" dirty="0">
                <a:solidFill>
                  <a:srgbClr val="D9432B"/>
                </a:solidFill>
                <a:latin typeface="Cambria" pitchFamily="34" charset="0"/>
                <a:ea typeface="Cambria" pitchFamily="34" charset="-122"/>
                <a:cs typeface="Cambria" pitchFamily="34" charset="-120"/>
              </a:rPr>
              <a:t>2.5</a:t>
            </a:r>
            <a:endParaRPr lang="en-US" sz="3200" dirty="0"/>
          </a:p>
        </p:txBody>
      </p:sp>
      <p:sp>
        <p:nvSpPr>
          <p:cNvPr id="38" name="Text 36"/>
          <p:cNvSpPr txBox="1"/>
          <p:nvPr/>
        </p:nvSpPr>
        <p:spPr>
          <a:xfrm>
            <a:off x="1783080" y="5029200"/>
            <a:ext cx="2103120" cy="1051560"/>
          </a:xfrm>
          <a:prstGeom prst="rect">
            <a:avLst/>
          </a:prstGeom>
          <a:noFill/>
          <a:ln/>
        </p:spPr>
        <p:txBody>
          <a:bodyPr wrap="square" lIns="0" tIns="0" rIns="0" bIns="0" rtlCol="0" anchor="ctr"/>
          <a:lstStyle/>
          <a:p>
            <a:pPr indent="0" marL="0">
              <a:buNone/>
            </a:pPr>
            <a:r>
              <a:rPr lang="en-US" sz="1200" dirty="0">
                <a:solidFill>
                  <a:srgbClr val="56636E"/>
                </a:solidFill>
                <a:latin typeface="Calibri" pitchFamily="34" charset="0"/>
                <a:ea typeface="Calibri" pitchFamily="34" charset="-122"/>
                <a:cs typeface="Calibri" pitchFamily="34" charset="-120"/>
              </a:rPr>
              <a:t>Avg Recommend of drivers who think “looks out only for itself”</a:t>
            </a:r>
            <a:endParaRPr lang="en-US" sz="1200" dirty="0"/>
          </a:p>
        </p:txBody>
      </p:sp>
      <p:sp>
        <p:nvSpPr>
          <p:cNvPr id="39" name="Shape 37"/>
          <p:cNvSpPr/>
          <p:nvPr/>
        </p:nvSpPr>
        <p:spPr>
          <a:xfrm>
            <a:off x="4334256" y="4937760"/>
            <a:ext cx="3520440" cy="1234440"/>
          </a:xfrm>
          <a:prstGeom prst="roundRect">
            <a:avLst>
              <a:gd name="adj" fmla="val 5926"/>
            </a:avLst>
          </a:prstGeom>
          <a:solidFill>
            <a:srgbClr val="F1F3F5"/>
          </a:solidFill>
          <a:ln w="12700">
            <a:solidFill>
              <a:srgbClr val="F1F3F5"/>
            </a:solidFill>
            <a:prstDash val="solid"/>
          </a:ln>
        </p:spPr>
      </p:sp>
      <p:sp>
        <p:nvSpPr>
          <p:cNvPr id="40" name="Text 38"/>
          <p:cNvSpPr txBox="1"/>
          <p:nvPr/>
        </p:nvSpPr>
        <p:spPr>
          <a:xfrm>
            <a:off x="4562856" y="5029200"/>
            <a:ext cx="1005840" cy="1051560"/>
          </a:xfrm>
          <a:prstGeom prst="rect">
            <a:avLst/>
          </a:prstGeom>
          <a:noFill/>
          <a:ln/>
        </p:spPr>
        <p:txBody>
          <a:bodyPr wrap="square" lIns="0" tIns="0" rIns="0" bIns="0" rtlCol="0" anchor="ctr"/>
          <a:lstStyle/>
          <a:p>
            <a:pPr indent="0" marL="0">
              <a:buNone/>
            </a:pPr>
            <a:r>
              <a:rPr lang="en-US" sz="3200" b="1" dirty="0">
                <a:solidFill>
                  <a:srgbClr val="D9432B"/>
                </a:solidFill>
                <a:latin typeface="Cambria" pitchFamily="34" charset="0"/>
                <a:ea typeface="Cambria" pitchFamily="34" charset="-122"/>
                <a:cs typeface="Cambria" pitchFamily="34" charset="-120"/>
              </a:rPr>
              <a:t>2.0</a:t>
            </a:r>
            <a:endParaRPr lang="en-US" sz="3200" dirty="0"/>
          </a:p>
        </p:txBody>
      </p:sp>
      <p:sp>
        <p:nvSpPr>
          <p:cNvPr id="41" name="Text 39"/>
          <p:cNvSpPr txBox="1"/>
          <p:nvPr/>
        </p:nvSpPr>
        <p:spPr>
          <a:xfrm>
            <a:off x="5568696" y="5029200"/>
            <a:ext cx="2103120" cy="1051560"/>
          </a:xfrm>
          <a:prstGeom prst="rect">
            <a:avLst/>
          </a:prstGeom>
          <a:noFill/>
          <a:ln/>
        </p:spPr>
        <p:txBody>
          <a:bodyPr wrap="square" lIns="0" tIns="0" rIns="0" bIns="0" rtlCol="0" anchor="ctr"/>
          <a:lstStyle/>
          <a:p>
            <a:pPr indent="0" marL="0">
              <a:buNone/>
            </a:pPr>
            <a:r>
              <a:rPr lang="en-US" sz="1200" dirty="0">
                <a:solidFill>
                  <a:srgbClr val="56636E"/>
                </a:solidFill>
                <a:latin typeface="Calibri" pitchFamily="34" charset="0"/>
                <a:ea typeface="Calibri" pitchFamily="34" charset="-122"/>
                <a:cs typeface="Calibri" pitchFamily="34" charset="-120"/>
              </a:rPr>
              <a:t>Avg Recommend of drivers who pick “does not care much”, the lowest</a:t>
            </a:r>
            <a:endParaRPr lang="en-US" sz="1200" dirty="0"/>
          </a:p>
        </p:txBody>
      </p:sp>
      <p:sp>
        <p:nvSpPr>
          <p:cNvPr id="42" name="Shape 40"/>
          <p:cNvSpPr/>
          <p:nvPr/>
        </p:nvSpPr>
        <p:spPr>
          <a:xfrm>
            <a:off x="8119872" y="4937760"/>
            <a:ext cx="3520440" cy="1234440"/>
          </a:xfrm>
          <a:prstGeom prst="roundRect">
            <a:avLst>
              <a:gd name="adj" fmla="val 5926"/>
            </a:avLst>
          </a:prstGeom>
          <a:solidFill>
            <a:srgbClr val="F1F3F5"/>
          </a:solidFill>
          <a:ln w="12700">
            <a:solidFill>
              <a:srgbClr val="F1F3F5"/>
            </a:solidFill>
            <a:prstDash val="solid"/>
          </a:ln>
        </p:spPr>
      </p:sp>
      <p:sp>
        <p:nvSpPr>
          <p:cNvPr id="43" name="Text 41"/>
          <p:cNvSpPr txBox="1"/>
          <p:nvPr/>
        </p:nvSpPr>
        <p:spPr>
          <a:xfrm>
            <a:off x="8348472" y="5029200"/>
            <a:ext cx="1005840" cy="1051560"/>
          </a:xfrm>
          <a:prstGeom prst="rect">
            <a:avLst/>
          </a:prstGeom>
          <a:noFill/>
          <a:ln/>
        </p:spPr>
        <p:txBody>
          <a:bodyPr wrap="square" lIns="0" tIns="0" rIns="0" bIns="0" rtlCol="0" anchor="ctr"/>
          <a:lstStyle/>
          <a:p>
            <a:pPr indent="0" marL="0">
              <a:buNone/>
            </a:pPr>
            <a:r>
              <a:rPr lang="en-US" sz="3200" b="1" dirty="0">
                <a:solidFill>
                  <a:srgbClr val="1F7A70"/>
                </a:solidFill>
                <a:latin typeface="Cambria" pitchFamily="34" charset="0"/>
                <a:ea typeface="Cambria" pitchFamily="34" charset="-122"/>
                <a:cs typeface="Cambria" pitchFamily="34" charset="-120"/>
              </a:rPr>
              <a:t>7+</a:t>
            </a:r>
            <a:endParaRPr lang="en-US" sz="3200" dirty="0"/>
          </a:p>
        </p:txBody>
      </p:sp>
      <p:sp>
        <p:nvSpPr>
          <p:cNvPr id="44" name="Text 42"/>
          <p:cNvSpPr txBox="1"/>
          <p:nvPr/>
        </p:nvSpPr>
        <p:spPr>
          <a:xfrm>
            <a:off x="9354312" y="5029200"/>
            <a:ext cx="2103120" cy="1051560"/>
          </a:xfrm>
          <a:prstGeom prst="rect">
            <a:avLst/>
          </a:prstGeom>
          <a:noFill/>
          <a:ln/>
        </p:spPr>
        <p:txBody>
          <a:bodyPr wrap="square" lIns="0" tIns="0" rIns="0" bIns="0" rtlCol="0" anchor="ctr"/>
          <a:lstStyle/>
          <a:p>
            <a:pPr indent="0" marL="0">
              <a:buNone/>
            </a:pPr>
            <a:r>
              <a:rPr lang="en-US" sz="1200" dirty="0">
                <a:solidFill>
                  <a:srgbClr val="56636E"/>
                </a:solidFill>
                <a:latin typeface="Calibri" pitchFamily="34" charset="0"/>
                <a:ea typeface="Calibri" pitchFamily="34" charset="-122"/>
                <a:cs typeface="Calibri" pitchFamily="34" charset="-120"/>
              </a:rPr>
              <a:t>Avg Recommend of drivers who pick “caring sibling” or “reliable companion”</a:t>
            </a:r>
            <a:endParaRPr lang="en-US" sz="1200" dirty="0"/>
          </a:p>
        </p:txBody>
      </p:sp>
      <p:sp>
        <p:nvSpPr>
          <p:cNvPr id="45" name="Text 4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38% say Everest has got worse, the most common answer</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Change noticed in the last 6 to 8 months, Active drivers</a:t>
            </a:r>
            <a:endParaRPr lang="en-US" sz="1600" dirty="0"/>
          </a:p>
        </p:txBody>
      </p:sp>
      <p:sp>
        <p:nvSpPr>
          <p:cNvPr id="4" name="Shape 2"/>
          <p:cNvSpPr/>
          <p:nvPr/>
        </p:nvSpPr>
        <p:spPr>
          <a:xfrm>
            <a:off x="548640" y="1828800"/>
            <a:ext cx="4174136" cy="822960"/>
          </a:xfrm>
          <a:prstGeom prst="rect">
            <a:avLst/>
          </a:prstGeom>
          <a:solidFill>
            <a:srgbClr val="D9432B"/>
          </a:solidFill>
          <a:ln w="25400">
            <a:solidFill>
              <a:srgbClr val="FFFFFF"/>
            </a:solidFill>
            <a:prstDash val="solid"/>
          </a:ln>
        </p:spPr>
      </p:sp>
      <p:sp>
        <p:nvSpPr>
          <p:cNvPr id="5" name="Text 3"/>
          <p:cNvSpPr txBox="1"/>
          <p:nvPr/>
        </p:nvSpPr>
        <p:spPr>
          <a:xfrm>
            <a:off x="548640" y="1828800"/>
            <a:ext cx="4174136"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38%</a:t>
            </a:r>
            <a:endParaRPr lang="en-US" sz="2400" dirty="0"/>
          </a:p>
        </p:txBody>
      </p:sp>
      <p:sp>
        <p:nvSpPr>
          <p:cNvPr id="6" name="Text 4"/>
          <p:cNvSpPr txBox="1"/>
          <p:nvPr/>
        </p:nvSpPr>
        <p:spPr>
          <a:xfrm>
            <a:off x="548640" y="2724912"/>
            <a:ext cx="4174136" cy="320040"/>
          </a:xfrm>
          <a:prstGeom prst="rect">
            <a:avLst/>
          </a:prstGeom>
          <a:noFill/>
          <a:ln/>
        </p:spPr>
        <p:txBody>
          <a:bodyPr wrap="square" lIns="0" tIns="0" rIns="0" bIns="0" rtlCol="0" anchor="t"/>
          <a:lstStyle/>
          <a:p>
            <a:pPr algn="ctr" indent="0" marL="0">
              <a:buNone/>
            </a:pPr>
            <a:r>
              <a:rPr lang="en-US" sz="1300" dirty="0">
                <a:solidFill>
                  <a:srgbClr val="56636E"/>
                </a:solidFill>
                <a:latin typeface="Calibri" pitchFamily="34" charset="0"/>
                <a:ea typeface="Calibri" pitchFamily="34" charset="-122"/>
                <a:cs typeface="Calibri" pitchFamily="34" charset="-120"/>
              </a:rPr>
              <a:t>It has become worse</a:t>
            </a:r>
            <a:endParaRPr lang="en-US" sz="1300" dirty="0"/>
          </a:p>
        </p:txBody>
      </p:sp>
      <p:sp>
        <p:nvSpPr>
          <p:cNvPr id="7" name="Shape 5"/>
          <p:cNvSpPr/>
          <p:nvPr/>
        </p:nvSpPr>
        <p:spPr>
          <a:xfrm>
            <a:off x="4722776" y="1828800"/>
            <a:ext cx="2636297" cy="822960"/>
          </a:xfrm>
          <a:prstGeom prst="rect">
            <a:avLst/>
          </a:prstGeom>
          <a:solidFill>
            <a:srgbClr val="B7C0C7"/>
          </a:solidFill>
          <a:ln w="25400">
            <a:solidFill>
              <a:srgbClr val="FFFFFF"/>
            </a:solidFill>
            <a:prstDash val="solid"/>
          </a:ln>
        </p:spPr>
      </p:sp>
      <p:sp>
        <p:nvSpPr>
          <p:cNvPr id="8" name="Text 6"/>
          <p:cNvSpPr txBox="1"/>
          <p:nvPr/>
        </p:nvSpPr>
        <p:spPr>
          <a:xfrm>
            <a:off x="4722776" y="1828800"/>
            <a:ext cx="2636297" cy="822960"/>
          </a:xfrm>
          <a:prstGeom prst="rect">
            <a:avLst/>
          </a:prstGeom>
          <a:noFill/>
          <a:ln/>
        </p:spPr>
        <p:txBody>
          <a:bodyPr wrap="square" lIns="0" tIns="0" rIns="0" bIns="0" rtlCol="0" anchor="ctr"/>
          <a:lstStyle/>
          <a:p>
            <a:pPr algn="ctr" indent="0" marL="0">
              <a:buNone/>
            </a:pPr>
            <a:r>
              <a:rPr lang="en-US" sz="2400" b="1" dirty="0">
                <a:solidFill>
                  <a:srgbClr val="18222B"/>
                </a:solidFill>
                <a:latin typeface="Cambria" pitchFamily="34" charset="0"/>
                <a:ea typeface="Cambria" pitchFamily="34" charset="-122"/>
                <a:cs typeface="Cambria" pitchFamily="34" charset="-120"/>
              </a:rPr>
              <a:t>24%</a:t>
            </a:r>
            <a:endParaRPr lang="en-US" sz="2400" dirty="0"/>
          </a:p>
        </p:txBody>
      </p:sp>
      <p:sp>
        <p:nvSpPr>
          <p:cNvPr id="9" name="Text 7"/>
          <p:cNvSpPr txBox="1"/>
          <p:nvPr/>
        </p:nvSpPr>
        <p:spPr>
          <a:xfrm>
            <a:off x="4722776" y="2724912"/>
            <a:ext cx="2636297" cy="320040"/>
          </a:xfrm>
          <a:prstGeom prst="rect">
            <a:avLst/>
          </a:prstGeom>
          <a:noFill/>
          <a:ln/>
        </p:spPr>
        <p:txBody>
          <a:bodyPr wrap="square" lIns="0" tIns="0" rIns="0" bIns="0" rtlCol="0" anchor="t"/>
          <a:lstStyle/>
          <a:p>
            <a:pPr algn="ctr" indent="0" marL="0">
              <a:buNone/>
            </a:pPr>
            <a:r>
              <a:rPr lang="en-US" sz="1300" dirty="0">
                <a:solidFill>
                  <a:srgbClr val="56636E"/>
                </a:solidFill>
                <a:latin typeface="Calibri" pitchFamily="34" charset="0"/>
                <a:ea typeface="Calibri" pitchFamily="34" charset="-122"/>
                <a:cs typeface="Calibri" pitchFamily="34" charset="-120"/>
              </a:rPr>
              <a:t>No change</a:t>
            </a:r>
            <a:endParaRPr lang="en-US" sz="1300" dirty="0"/>
          </a:p>
        </p:txBody>
      </p:sp>
      <p:sp>
        <p:nvSpPr>
          <p:cNvPr id="10" name="Shape 8"/>
          <p:cNvSpPr/>
          <p:nvPr/>
        </p:nvSpPr>
        <p:spPr>
          <a:xfrm>
            <a:off x="7359073" y="1828800"/>
            <a:ext cx="2636297" cy="822960"/>
          </a:xfrm>
          <a:prstGeom prst="rect">
            <a:avLst/>
          </a:prstGeom>
          <a:solidFill>
            <a:srgbClr val="7FB3AB"/>
          </a:solidFill>
          <a:ln w="25400">
            <a:solidFill>
              <a:srgbClr val="FFFFFF"/>
            </a:solidFill>
            <a:prstDash val="solid"/>
          </a:ln>
        </p:spPr>
      </p:sp>
      <p:sp>
        <p:nvSpPr>
          <p:cNvPr id="11" name="Text 9"/>
          <p:cNvSpPr txBox="1"/>
          <p:nvPr/>
        </p:nvSpPr>
        <p:spPr>
          <a:xfrm>
            <a:off x="7359073" y="1828800"/>
            <a:ext cx="2636297"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24%</a:t>
            </a:r>
            <a:endParaRPr lang="en-US" sz="2400" dirty="0"/>
          </a:p>
        </p:txBody>
      </p:sp>
      <p:sp>
        <p:nvSpPr>
          <p:cNvPr id="12" name="Text 10"/>
          <p:cNvSpPr txBox="1"/>
          <p:nvPr/>
        </p:nvSpPr>
        <p:spPr>
          <a:xfrm>
            <a:off x="7359073" y="2724912"/>
            <a:ext cx="2636297" cy="320040"/>
          </a:xfrm>
          <a:prstGeom prst="rect">
            <a:avLst/>
          </a:prstGeom>
          <a:noFill/>
          <a:ln/>
        </p:spPr>
        <p:txBody>
          <a:bodyPr wrap="square" lIns="0" tIns="0" rIns="0" bIns="0" rtlCol="0" anchor="t"/>
          <a:lstStyle/>
          <a:p>
            <a:pPr algn="ctr" indent="0" marL="0">
              <a:buNone/>
            </a:pPr>
            <a:r>
              <a:rPr lang="en-US" sz="1300" dirty="0">
                <a:solidFill>
                  <a:srgbClr val="56636E"/>
                </a:solidFill>
                <a:latin typeface="Calibri" pitchFamily="34" charset="0"/>
                <a:ea typeface="Calibri" pitchFamily="34" charset="-122"/>
                <a:cs typeface="Calibri" pitchFamily="34" charset="-120"/>
              </a:rPr>
              <a:t>Some improvement</a:t>
            </a:r>
            <a:endParaRPr lang="en-US" sz="1300" dirty="0"/>
          </a:p>
        </p:txBody>
      </p:sp>
      <p:sp>
        <p:nvSpPr>
          <p:cNvPr id="13" name="Shape 11"/>
          <p:cNvSpPr/>
          <p:nvPr/>
        </p:nvSpPr>
        <p:spPr>
          <a:xfrm>
            <a:off x="9995370" y="1828800"/>
            <a:ext cx="1647685" cy="822960"/>
          </a:xfrm>
          <a:prstGeom prst="rect">
            <a:avLst/>
          </a:prstGeom>
          <a:solidFill>
            <a:srgbClr val="1F7A70"/>
          </a:solidFill>
          <a:ln w="25400">
            <a:solidFill>
              <a:srgbClr val="FFFFFF"/>
            </a:solidFill>
            <a:prstDash val="solid"/>
          </a:ln>
        </p:spPr>
      </p:sp>
      <p:sp>
        <p:nvSpPr>
          <p:cNvPr id="14" name="Text 12"/>
          <p:cNvSpPr txBox="1"/>
          <p:nvPr/>
        </p:nvSpPr>
        <p:spPr>
          <a:xfrm>
            <a:off x="9995370" y="1828800"/>
            <a:ext cx="1647685"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15%</a:t>
            </a:r>
            <a:endParaRPr lang="en-US" sz="2400" dirty="0"/>
          </a:p>
        </p:txBody>
      </p:sp>
      <p:sp>
        <p:nvSpPr>
          <p:cNvPr id="15" name="Text 13"/>
          <p:cNvSpPr txBox="1"/>
          <p:nvPr/>
        </p:nvSpPr>
        <p:spPr>
          <a:xfrm>
            <a:off x="9995370" y="2724912"/>
            <a:ext cx="1647685" cy="320040"/>
          </a:xfrm>
          <a:prstGeom prst="rect">
            <a:avLst/>
          </a:prstGeom>
          <a:noFill/>
          <a:ln/>
        </p:spPr>
        <p:txBody>
          <a:bodyPr wrap="square" lIns="0" tIns="0" rIns="0" bIns="0" rtlCol="0" anchor="t"/>
          <a:lstStyle/>
          <a:p>
            <a:pPr algn="ctr" indent="0" marL="0">
              <a:buNone/>
            </a:pPr>
            <a:r>
              <a:rPr lang="en-US" sz="1300" dirty="0">
                <a:solidFill>
                  <a:srgbClr val="56636E"/>
                </a:solidFill>
                <a:latin typeface="Calibri" pitchFamily="34" charset="0"/>
                <a:ea typeface="Calibri" pitchFamily="34" charset="-122"/>
                <a:cs typeface="Calibri" pitchFamily="34" charset="-120"/>
              </a:rPr>
              <a:t>Clear improvement</a:t>
            </a:r>
            <a:endParaRPr lang="en-US" sz="1300" dirty="0"/>
          </a:p>
        </p:txBody>
      </p:sp>
      <p:sp>
        <p:nvSpPr>
          <p:cNvPr id="16" name="Shape 14"/>
          <p:cNvSpPr/>
          <p:nvPr/>
        </p:nvSpPr>
        <p:spPr>
          <a:xfrm>
            <a:off x="548640" y="3520440"/>
            <a:ext cx="3520440" cy="2651760"/>
          </a:xfrm>
          <a:prstGeom prst="roundRect">
            <a:avLst>
              <a:gd name="adj" fmla="val 2759"/>
            </a:avLst>
          </a:prstGeom>
          <a:solidFill>
            <a:srgbClr val="F1F3F5"/>
          </a:solidFill>
          <a:ln w="12700">
            <a:solidFill>
              <a:srgbClr val="F1F3F5"/>
            </a:solidFill>
            <a:prstDash val="solid"/>
          </a:ln>
        </p:spPr>
      </p:sp>
      <p:sp>
        <p:nvSpPr>
          <p:cNvPr id="17" name="Text 15"/>
          <p:cNvSpPr txBox="1"/>
          <p:nvPr/>
        </p:nvSpPr>
        <p:spPr>
          <a:xfrm>
            <a:off x="777240" y="3703320"/>
            <a:ext cx="3063240" cy="32004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Recommend score (0 to 10)</a:t>
            </a:r>
            <a:endParaRPr lang="en-US" sz="1400" dirty="0"/>
          </a:p>
        </p:txBody>
      </p:sp>
      <p:sp>
        <p:nvSpPr>
          <p:cNvPr id="18" name="Text 16"/>
          <p:cNvSpPr txBox="1"/>
          <p:nvPr/>
        </p:nvSpPr>
        <p:spPr>
          <a:xfrm>
            <a:off x="777240" y="4160520"/>
            <a:ext cx="1463040" cy="822960"/>
          </a:xfrm>
          <a:prstGeom prst="rect">
            <a:avLst/>
          </a:prstGeom>
          <a:noFill/>
          <a:ln/>
        </p:spPr>
        <p:txBody>
          <a:bodyPr wrap="square" lIns="0" tIns="0" rIns="0" bIns="0" rtlCol="0" anchor="t"/>
          <a:lstStyle/>
          <a:p>
            <a:pPr indent="0" marL="0">
              <a:buNone/>
            </a:pPr>
            <a:r>
              <a:rPr lang="en-US" sz="4000" b="1" dirty="0">
                <a:solidFill>
                  <a:srgbClr val="D9432B"/>
                </a:solidFill>
                <a:latin typeface="Cambria" pitchFamily="34" charset="0"/>
                <a:ea typeface="Cambria" pitchFamily="34" charset="-122"/>
                <a:cs typeface="Cambria" pitchFamily="34" charset="-120"/>
              </a:rPr>
              <a:t>2.2</a:t>
            </a:r>
            <a:endParaRPr lang="en-US" sz="4000" dirty="0"/>
          </a:p>
        </p:txBody>
      </p:sp>
      <p:sp>
        <p:nvSpPr>
          <p:cNvPr id="19" name="Text 17"/>
          <p:cNvSpPr txBox="1"/>
          <p:nvPr/>
        </p:nvSpPr>
        <p:spPr>
          <a:xfrm>
            <a:off x="777240" y="4983480"/>
            <a:ext cx="1463040" cy="45720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say it got worse</a:t>
            </a:r>
            <a:endParaRPr lang="en-US" sz="1200" dirty="0"/>
          </a:p>
        </p:txBody>
      </p:sp>
      <p:sp>
        <p:nvSpPr>
          <p:cNvPr id="20" name="Text 18"/>
          <p:cNvSpPr txBox="1"/>
          <p:nvPr/>
        </p:nvSpPr>
        <p:spPr>
          <a:xfrm>
            <a:off x="2423160" y="4160520"/>
            <a:ext cx="1463040" cy="822960"/>
          </a:xfrm>
          <a:prstGeom prst="rect">
            <a:avLst/>
          </a:prstGeom>
          <a:noFill/>
          <a:ln/>
        </p:spPr>
        <p:txBody>
          <a:bodyPr wrap="square" lIns="0" tIns="0" rIns="0" bIns="0" rtlCol="0" anchor="t"/>
          <a:lstStyle/>
          <a:p>
            <a:pPr indent="0" marL="0">
              <a:buNone/>
            </a:pPr>
            <a:r>
              <a:rPr lang="en-US" sz="4000" b="1" dirty="0">
                <a:solidFill>
                  <a:srgbClr val="1F7A70"/>
                </a:solidFill>
                <a:latin typeface="Cambria" pitchFamily="34" charset="0"/>
                <a:ea typeface="Cambria" pitchFamily="34" charset="-122"/>
                <a:cs typeface="Cambria" pitchFamily="34" charset="-120"/>
              </a:rPr>
              <a:t>7.7</a:t>
            </a:r>
            <a:endParaRPr lang="en-US" sz="4000" dirty="0"/>
          </a:p>
        </p:txBody>
      </p:sp>
      <p:sp>
        <p:nvSpPr>
          <p:cNvPr id="21" name="Text 19"/>
          <p:cNvSpPr txBox="1"/>
          <p:nvPr/>
        </p:nvSpPr>
        <p:spPr>
          <a:xfrm>
            <a:off x="2423160" y="4983480"/>
            <a:ext cx="1463040" cy="45720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see clear improvement</a:t>
            </a:r>
            <a:endParaRPr lang="en-US" sz="1200" dirty="0"/>
          </a:p>
        </p:txBody>
      </p:sp>
      <p:sp>
        <p:nvSpPr>
          <p:cNvPr id="22" name="Shape 20"/>
          <p:cNvSpPr/>
          <p:nvPr/>
        </p:nvSpPr>
        <p:spPr>
          <a:xfrm>
            <a:off x="4334256" y="3520440"/>
            <a:ext cx="3520440" cy="2651760"/>
          </a:xfrm>
          <a:prstGeom prst="roundRect">
            <a:avLst>
              <a:gd name="adj" fmla="val 2759"/>
            </a:avLst>
          </a:prstGeom>
          <a:solidFill>
            <a:srgbClr val="F1F3F5"/>
          </a:solidFill>
          <a:ln w="12700">
            <a:solidFill>
              <a:srgbClr val="F1F3F5"/>
            </a:solidFill>
            <a:prstDash val="solid"/>
          </a:ln>
        </p:spPr>
      </p:sp>
      <p:sp>
        <p:nvSpPr>
          <p:cNvPr id="23" name="Text 21"/>
          <p:cNvSpPr txBox="1"/>
          <p:nvPr/>
        </p:nvSpPr>
        <p:spPr>
          <a:xfrm>
            <a:off x="4562856" y="3703320"/>
            <a:ext cx="3063240" cy="32004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Clear improvement, by product</a:t>
            </a:r>
            <a:endParaRPr lang="en-US" sz="1400" dirty="0"/>
          </a:p>
        </p:txBody>
      </p:sp>
      <p:sp>
        <p:nvSpPr>
          <p:cNvPr id="24" name="Text 22"/>
          <p:cNvSpPr txBox="1"/>
          <p:nvPr/>
        </p:nvSpPr>
        <p:spPr>
          <a:xfrm>
            <a:off x="4562856" y="4206240"/>
            <a:ext cx="1005840" cy="41148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OwnNow</a:t>
            </a:r>
            <a:endParaRPr lang="en-US" sz="1300" dirty="0"/>
          </a:p>
        </p:txBody>
      </p:sp>
      <p:sp>
        <p:nvSpPr>
          <p:cNvPr id="25" name="Shape 23"/>
          <p:cNvSpPr/>
          <p:nvPr/>
        </p:nvSpPr>
        <p:spPr>
          <a:xfrm>
            <a:off x="5614416" y="4297680"/>
            <a:ext cx="1463040" cy="256032"/>
          </a:xfrm>
          <a:prstGeom prst="rect">
            <a:avLst/>
          </a:prstGeom>
          <a:solidFill>
            <a:srgbClr val="1F7A70"/>
          </a:solidFill>
          <a:ln w="12700">
            <a:solidFill>
              <a:srgbClr val="1F7A70"/>
            </a:solidFill>
            <a:prstDash val="solid"/>
          </a:ln>
        </p:spPr>
      </p:sp>
      <p:sp>
        <p:nvSpPr>
          <p:cNvPr id="26" name="Text 24"/>
          <p:cNvSpPr txBox="1"/>
          <p:nvPr/>
        </p:nvSpPr>
        <p:spPr>
          <a:xfrm>
            <a:off x="7168896" y="4206240"/>
            <a:ext cx="548640" cy="411480"/>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20%</a:t>
            </a:r>
            <a:endParaRPr lang="en-US" sz="1300" dirty="0"/>
          </a:p>
        </p:txBody>
      </p:sp>
      <p:sp>
        <p:nvSpPr>
          <p:cNvPr id="27" name="Text 25"/>
          <p:cNvSpPr txBox="1"/>
          <p:nvPr/>
        </p:nvSpPr>
        <p:spPr>
          <a:xfrm>
            <a:off x="4562856" y="4773168"/>
            <a:ext cx="1005840" cy="41148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DTO</a:t>
            </a:r>
            <a:endParaRPr lang="en-US" sz="1300" dirty="0"/>
          </a:p>
        </p:txBody>
      </p:sp>
      <p:sp>
        <p:nvSpPr>
          <p:cNvPr id="28" name="Shape 26"/>
          <p:cNvSpPr/>
          <p:nvPr/>
        </p:nvSpPr>
        <p:spPr>
          <a:xfrm>
            <a:off x="5614416" y="4864608"/>
            <a:ext cx="950976" cy="256032"/>
          </a:xfrm>
          <a:prstGeom prst="rect">
            <a:avLst/>
          </a:prstGeom>
          <a:solidFill>
            <a:srgbClr val="1F7A70"/>
          </a:solidFill>
          <a:ln w="12700">
            <a:solidFill>
              <a:srgbClr val="1F7A70"/>
            </a:solidFill>
            <a:prstDash val="solid"/>
          </a:ln>
        </p:spPr>
      </p:sp>
      <p:sp>
        <p:nvSpPr>
          <p:cNvPr id="29" name="Text 27"/>
          <p:cNvSpPr txBox="1"/>
          <p:nvPr/>
        </p:nvSpPr>
        <p:spPr>
          <a:xfrm>
            <a:off x="6656832" y="4773168"/>
            <a:ext cx="548640" cy="411480"/>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13%</a:t>
            </a:r>
            <a:endParaRPr lang="en-US" sz="1300" dirty="0"/>
          </a:p>
        </p:txBody>
      </p:sp>
      <p:sp>
        <p:nvSpPr>
          <p:cNvPr id="30" name="Text 28"/>
          <p:cNvSpPr txBox="1"/>
          <p:nvPr/>
        </p:nvSpPr>
        <p:spPr>
          <a:xfrm>
            <a:off x="4562856" y="5340096"/>
            <a:ext cx="1005840" cy="41148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Leasing</a:t>
            </a:r>
            <a:endParaRPr lang="en-US" sz="1300" dirty="0"/>
          </a:p>
        </p:txBody>
      </p:sp>
      <p:sp>
        <p:nvSpPr>
          <p:cNvPr id="31" name="Shape 29"/>
          <p:cNvSpPr/>
          <p:nvPr/>
        </p:nvSpPr>
        <p:spPr>
          <a:xfrm>
            <a:off x="5614416" y="5431536"/>
            <a:ext cx="658368" cy="256032"/>
          </a:xfrm>
          <a:prstGeom prst="rect">
            <a:avLst/>
          </a:prstGeom>
          <a:solidFill>
            <a:srgbClr val="1F7A70"/>
          </a:solidFill>
          <a:ln w="12700">
            <a:solidFill>
              <a:srgbClr val="1F7A70"/>
            </a:solidFill>
            <a:prstDash val="solid"/>
          </a:ln>
        </p:spPr>
      </p:sp>
      <p:sp>
        <p:nvSpPr>
          <p:cNvPr id="32" name="Text 30"/>
          <p:cNvSpPr txBox="1"/>
          <p:nvPr/>
        </p:nvSpPr>
        <p:spPr>
          <a:xfrm>
            <a:off x="6364224" y="5340096"/>
            <a:ext cx="548640" cy="411480"/>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9%</a:t>
            </a:r>
            <a:endParaRPr lang="en-US" sz="1300" dirty="0"/>
          </a:p>
        </p:txBody>
      </p:sp>
      <p:sp>
        <p:nvSpPr>
          <p:cNvPr id="33" name="Shape 31"/>
          <p:cNvSpPr/>
          <p:nvPr/>
        </p:nvSpPr>
        <p:spPr>
          <a:xfrm>
            <a:off x="8119872" y="3520440"/>
            <a:ext cx="3520440" cy="2651760"/>
          </a:xfrm>
          <a:prstGeom prst="roundRect">
            <a:avLst>
              <a:gd name="adj" fmla="val 2759"/>
            </a:avLst>
          </a:prstGeom>
          <a:solidFill>
            <a:srgbClr val="F1F3F5"/>
          </a:solidFill>
          <a:ln w="12700">
            <a:solidFill>
              <a:srgbClr val="F1F3F5"/>
            </a:solidFill>
            <a:prstDash val="solid"/>
          </a:ln>
        </p:spPr>
      </p:sp>
      <p:sp>
        <p:nvSpPr>
          <p:cNvPr id="34" name="Text 32"/>
          <p:cNvSpPr txBox="1"/>
          <p:nvPr/>
        </p:nvSpPr>
        <p:spPr>
          <a:xfrm>
            <a:off x="8348472" y="3703320"/>
            <a:ext cx="3063240" cy="32004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By city</a:t>
            </a:r>
            <a:endParaRPr lang="en-US" sz="1400" dirty="0"/>
          </a:p>
        </p:txBody>
      </p:sp>
      <p:sp>
        <p:nvSpPr>
          <p:cNvPr id="35" name="Text 33"/>
          <p:cNvSpPr txBox="1"/>
          <p:nvPr/>
        </p:nvSpPr>
        <p:spPr>
          <a:xfrm>
            <a:off x="8348472" y="4069080"/>
            <a:ext cx="3063240" cy="2011680"/>
          </a:xfrm>
          <a:prstGeom prst="rect">
            <a:avLst/>
          </a:prstGeom>
          <a:noFill/>
          <a:ln/>
        </p:spPr>
        <p:txBody>
          <a:bodyPr wrap="square" lIns="0" tIns="0" rIns="0" bIns="0" rtlCol="0" anchor="t"/>
          <a:lstStyle/>
          <a:p>
            <a:pPr indent="0" marL="0">
              <a:buNone/>
            </a:pPr>
            <a:r>
              <a:rPr lang="en-US" sz="2800" b="1" dirty="0">
                <a:solidFill>
                  <a:srgbClr val="D9432B"/>
                </a:solidFill>
                <a:latin typeface="Cambria" pitchFamily="34" charset="0"/>
                <a:ea typeface="Cambria" pitchFamily="34" charset="-122"/>
                <a:cs typeface="Cambria" pitchFamily="34" charset="-120"/>
              </a:rPr>
              <a:t>45%</a:t>
            </a:r>
            <a:endParaRPr lang="en-US" sz="2800" dirty="0"/>
          </a:p>
          <a:p>
            <a:pPr indent="0" marL="0">
              <a:buNone/>
            </a:pPr>
            <a:r>
              <a:rPr lang="en-US" sz="1200" dirty="0">
                <a:solidFill>
                  <a:srgbClr val="56636E"/>
                </a:solidFill>
                <a:latin typeface="Calibri" pitchFamily="34" charset="0"/>
                <a:ea typeface="Calibri" pitchFamily="34" charset="-122"/>
                <a:cs typeface="Calibri" pitchFamily="34" charset="-120"/>
              </a:rPr>
              <a:t>of Delhi drivers say worse, the highest</a:t>
            </a:r>
            <a:endParaRPr lang="en-US" sz="2800" dirty="0"/>
          </a:p>
          <a:p>
            <a:pPr indent="0" marL="0">
              <a:buNone/>
            </a:pPr>
            <a:r>
              <a:rPr lang="en-US" sz="800" dirty="0">
                <a:solidFill>
                  <a:srgbClr val="18222B"/>
                </a:solidFill>
                <a:latin typeface="Calibri" pitchFamily="34" charset="0"/>
                <a:ea typeface="Calibri" pitchFamily="34" charset="-122"/>
                <a:cs typeface="Calibri" pitchFamily="34" charset="-120"/>
              </a:rPr>
              <a:t> </a:t>
            </a:r>
            <a:endParaRPr lang="en-US" sz="2800" dirty="0"/>
          </a:p>
          <a:p>
            <a:pPr indent="0" marL="0">
              <a:buNone/>
            </a:pPr>
            <a:r>
              <a:rPr lang="en-US" sz="1500" b="1" dirty="0">
                <a:solidFill>
                  <a:srgbClr val="18222B"/>
                </a:solidFill>
                <a:latin typeface="Calibri" pitchFamily="34" charset="0"/>
                <a:ea typeface="Calibri" pitchFamily="34" charset="-122"/>
                <a:cs typeface="Calibri" pitchFamily="34" charset="-120"/>
              </a:rPr>
              <a:t>Bangalore</a:t>
            </a:r>
            <a:endParaRPr lang="en-US" sz="2800" dirty="0"/>
          </a:p>
          <a:p>
            <a:pPr indent="0" marL="0">
              <a:buNone/>
            </a:pPr>
            <a:r>
              <a:rPr lang="en-US" sz="1200" dirty="0">
                <a:solidFill>
                  <a:srgbClr val="56636E"/>
                </a:solidFill>
                <a:latin typeface="Calibri" pitchFamily="34" charset="0"/>
                <a:ea typeface="Calibri" pitchFamily="34" charset="-122"/>
                <a:cs typeface="Calibri" pitchFamily="34" charset="-120"/>
              </a:rPr>
              <a:t>the only city where clear improvement (25%) roughly matches worse (27%)</a:t>
            </a:r>
            <a:endParaRPr lang="en-US" sz="2800" dirty="0"/>
          </a:p>
        </p:txBody>
      </p:sp>
      <p:sp>
        <p:nvSpPr>
          <p:cNvPr id="36" name="Text 3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Seven cities, three loyalty stories</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Active NPS by city, grouped by what most predicts Recommend there</a:t>
            </a:r>
            <a:endParaRPr lang="en-US" sz="1600" dirty="0"/>
          </a:p>
        </p:txBody>
      </p:sp>
      <p:sp>
        <p:nvSpPr>
          <p:cNvPr id="4" name="Shape 2"/>
          <p:cNvSpPr/>
          <p:nvPr/>
        </p:nvSpPr>
        <p:spPr>
          <a:xfrm>
            <a:off x="548640" y="1783080"/>
            <a:ext cx="3520440" cy="4434840"/>
          </a:xfrm>
          <a:prstGeom prst="roundRect">
            <a:avLst>
              <a:gd name="adj" fmla="val 2078"/>
            </a:avLst>
          </a:prstGeom>
          <a:solidFill>
            <a:srgbClr val="F1F3F5"/>
          </a:solidFill>
          <a:ln w="12700">
            <a:solidFill>
              <a:srgbClr val="F1F3F5"/>
            </a:solidFill>
            <a:prstDash val="solid"/>
          </a:ln>
        </p:spPr>
      </p:sp>
      <p:sp>
        <p:nvSpPr>
          <p:cNvPr id="5" name="Text 3"/>
          <p:cNvSpPr txBox="1"/>
          <p:nvPr/>
        </p:nvSpPr>
        <p:spPr>
          <a:xfrm>
            <a:off x="822960" y="2011680"/>
            <a:ext cx="297180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Trust-driven</a:t>
            </a:r>
            <a:endParaRPr lang="en-US" sz="2200" dirty="0"/>
          </a:p>
        </p:txBody>
      </p:sp>
      <p:sp>
        <p:nvSpPr>
          <p:cNvPr id="6" name="Text 4"/>
          <p:cNvSpPr txBox="1"/>
          <p:nvPr/>
        </p:nvSpPr>
        <p:spPr>
          <a:xfrm>
            <a:off x="822960" y="2496312"/>
            <a:ext cx="2971800" cy="548640"/>
          </a:xfrm>
          <a:prstGeom prst="rect">
            <a:avLst/>
          </a:prstGeom>
          <a:noFill/>
          <a:ln/>
        </p:spPr>
        <p:txBody>
          <a:bodyPr wrap="square" lIns="0" tIns="0" rIns="0" bIns="0" rtlCol="0" anchor="t"/>
          <a:lstStyle/>
          <a:p>
            <a:pPr indent="0" marL="0">
              <a:buNone/>
            </a:pPr>
            <a:r>
              <a:rPr lang="en-US" sz="1300" dirty="0">
                <a:solidFill>
                  <a:srgbClr val="56636E"/>
                </a:solidFill>
                <a:latin typeface="Calibri" pitchFamily="34" charset="0"/>
                <a:ea typeface="Calibri" pitchFamily="34" charset="-122"/>
                <a:cs typeface="Calibri" pitchFamily="34" charset="-120"/>
              </a:rPr>
              <a:t>Trust &amp; Honesty is the top predictor</a:t>
            </a:r>
            <a:endParaRPr lang="en-US" sz="1300" dirty="0"/>
          </a:p>
        </p:txBody>
      </p:sp>
      <p:sp>
        <p:nvSpPr>
          <p:cNvPr id="7" name="Shape 5"/>
          <p:cNvSpPr/>
          <p:nvPr/>
        </p:nvSpPr>
        <p:spPr>
          <a:xfrm>
            <a:off x="777240" y="3246120"/>
            <a:ext cx="3063240" cy="777240"/>
          </a:xfrm>
          <a:prstGeom prst="roundRect">
            <a:avLst>
              <a:gd name="adj" fmla="val 7059"/>
            </a:avLst>
          </a:prstGeom>
          <a:solidFill>
            <a:srgbClr val="FFFFFF"/>
          </a:solidFill>
          <a:ln w="9525">
            <a:solidFill>
              <a:srgbClr val="D9DEE2"/>
            </a:solidFill>
            <a:prstDash val="solid"/>
          </a:ln>
        </p:spPr>
      </p:sp>
      <p:sp>
        <p:nvSpPr>
          <p:cNvPr id="8" name="Text 6"/>
          <p:cNvSpPr txBox="1"/>
          <p:nvPr/>
        </p:nvSpPr>
        <p:spPr>
          <a:xfrm>
            <a:off x="960120" y="333756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Delhi</a:t>
            </a:r>
            <a:endParaRPr lang="en-US" sz="1600" dirty="0"/>
          </a:p>
        </p:txBody>
      </p:sp>
      <p:sp>
        <p:nvSpPr>
          <p:cNvPr id="9" name="Text 7"/>
          <p:cNvSpPr txBox="1"/>
          <p:nvPr/>
        </p:nvSpPr>
        <p:spPr>
          <a:xfrm>
            <a:off x="960120" y="365760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Trust r 0.68</a:t>
            </a:r>
            <a:endParaRPr lang="en-US" sz="1100" dirty="0"/>
          </a:p>
        </p:txBody>
      </p:sp>
      <p:sp>
        <p:nvSpPr>
          <p:cNvPr id="10" name="Text 8"/>
          <p:cNvSpPr txBox="1"/>
          <p:nvPr/>
        </p:nvSpPr>
        <p:spPr>
          <a:xfrm>
            <a:off x="2468880" y="3319272"/>
            <a:ext cx="1234440" cy="640080"/>
          </a:xfrm>
          <a:prstGeom prst="rect">
            <a:avLst/>
          </a:prstGeom>
          <a:noFill/>
          <a:ln/>
        </p:spPr>
        <p:txBody>
          <a:bodyPr wrap="square" lIns="0" tIns="0" rIns="0" bIns="0" rtlCol="0" anchor="ctr"/>
          <a:lstStyle/>
          <a:p>
            <a:pPr algn="r" indent="0" marL="0">
              <a:buNone/>
            </a:pPr>
            <a:r>
              <a:rPr lang="en-US" sz="3000" b="1" dirty="0">
                <a:solidFill>
                  <a:srgbClr val="D9432B"/>
                </a:solidFill>
                <a:latin typeface="Cambria" pitchFamily="34" charset="0"/>
                <a:ea typeface="Cambria" pitchFamily="34" charset="-122"/>
                <a:cs typeface="Cambria" pitchFamily="34" charset="-120"/>
              </a:rPr>
              <a:t>-72</a:t>
            </a:r>
            <a:endParaRPr lang="en-US" sz="3000" dirty="0"/>
          </a:p>
        </p:txBody>
      </p:sp>
      <p:sp>
        <p:nvSpPr>
          <p:cNvPr id="11" name="Shape 9"/>
          <p:cNvSpPr/>
          <p:nvPr/>
        </p:nvSpPr>
        <p:spPr>
          <a:xfrm>
            <a:off x="777240" y="4206240"/>
            <a:ext cx="3063240" cy="777240"/>
          </a:xfrm>
          <a:prstGeom prst="roundRect">
            <a:avLst>
              <a:gd name="adj" fmla="val 7059"/>
            </a:avLst>
          </a:prstGeom>
          <a:solidFill>
            <a:srgbClr val="FFFFFF"/>
          </a:solidFill>
          <a:ln w="9525">
            <a:solidFill>
              <a:srgbClr val="D9DEE2"/>
            </a:solidFill>
            <a:prstDash val="solid"/>
          </a:ln>
        </p:spPr>
      </p:sp>
      <p:sp>
        <p:nvSpPr>
          <p:cNvPr id="12" name="Text 10"/>
          <p:cNvSpPr txBox="1"/>
          <p:nvPr/>
        </p:nvSpPr>
        <p:spPr>
          <a:xfrm>
            <a:off x="960120" y="429768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Chennai</a:t>
            </a:r>
            <a:endParaRPr lang="en-US" sz="1600" dirty="0"/>
          </a:p>
        </p:txBody>
      </p:sp>
      <p:sp>
        <p:nvSpPr>
          <p:cNvPr id="13" name="Text 11"/>
          <p:cNvSpPr txBox="1"/>
          <p:nvPr/>
        </p:nvSpPr>
        <p:spPr>
          <a:xfrm>
            <a:off x="960120" y="461772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Trust r 0.66</a:t>
            </a:r>
            <a:endParaRPr lang="en-US" sz="1100" dirty="0"/>
          </a:p>
        </p:txBody>
      </p:sp>
      <p:sp>
        <p:nvSpPr>
          <p:cNvPr id="14" name="Text 12"/>
          <p:cNvSpPr txBox="1"/>
          <p:nvPr/>
        </p:nvSpPr>
        <p:spPr>
          <a:xfrm>
            <a:off x="2468880" y="4279392"/>
            <a:ext cx="1234440" cy="640080"/>
          </a:xfrm>
          <a:prstGeom prst="rect">
            <a:avLst/>
          </a:prstGeom>
          <a:noFill/>
          <a:ln/>
        </p:spPr>
        <p:txBody>
          <a:bodyPr wrap="square" lIns="0" tIns="0" rIns="0" bIns="0" rtlCol="0" anchor="ctr"/>
          <a:lstStyle/>
          <a:p>
            <a:pPr algn="r" indent="0" marL="0">
              <a:buNone/>
            </a:pPr>
            <a:r>
              <a:rPr lang="en-US" sz="3000" b="1" dirty="0">
                <a:solidFill>
                  <a:srgbClr val="18222B"/>
                </a:solidFill>
                <a:latin typeface="Cambria" pitchFamily="34" charset="0"/>
                <a:ea typeface="Cambria" pitchFamily="34" charset="-122"/>
                <a:cs typeface="Cambria" pitchFamily="34" charset="-120"/>
              </a:rPr>
              <a:t>-53</a:t>
            </a:r>
            <a:endParaRPr lang="en-US" sz="3000" dirty="0"/>
          </a:p>
        </p:txBody>
      </p:sp>
      <p:sp>
        <p:nvSpPr>
          <p:cNvPr id="15" name="Shape 13"/>
          <p:cNvSpPr/>
          <p:nvPr/>
        </p:nvSpPr>
        <p:spPr>
          <a:xfrm>
            <a:off x="777240" y="5166360"/>
            <a:ext cx="3063240" cy="777240"/>
          </a:xfrm>
          <a:prstGeom prst="roundRect">
            <a:avLst>
              <a:gd name="adj" fmla="val 7059"/>
            </a:avLst>
          </a:prstGeom>
          <a:solidFill>
            <a:srgbClr val="FFFFFF"/>
          </a:solidFill>
          <a:ln w="9525">
            <a:solidFill>
              <a:srgbClr val="D9DEE2"/>
            </a:solidFill>
            <a:prstDash val="solid"/>
          </a:ln>
        </p:spPr>
      </p:sp>
      <p:sp>
        <p:nvSpPr>
          <p:cNvPr id="16" name="Text 14"/>
          <p:cNvSpPr txBox="1"/>
          <p:nvPr/>
        </p:nvSpPr>
        <p:spPr>
          <a:xfrm>
            <a:off x="960120" y="525780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Bangalore</a:t>
            </a:r>
            <a:endParaRPr lang="en-US" sz="1600" dirty="0"/>
          </a:p>
        </p:txBody>
      </p:sp>
      <p:sp>
        <p:nvSpPr>
          <p:cNvPr id="17" name="Text 15"/>
          <p:cNvSpPr txBox="1"/>
          <p:nvPr/>
        </p:nvSpPr>
        <p:spPr>
          <a:xfrm>
            <a:off x="960120" y="557784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Trust r 0.66</a:t>
            </a:r>
            <a:endParaRPr lang="en-US" sz="1100" dirty="0"/>
          </a:p>
        </p:txBody>
      </p:sp>
      <p:sp>
        <p:nvSpPr>
          <p:cNvPr id="18" name="Text 16"/>
          <p:cNvSpPr txBox="1"/>
          <p:nvPr/>
        </p:nvSpPr>
        <p:spPr>
          <a:xfrm>
            <a:off x="2468880" y="5239512"/>
            <a:ext cx="1234440" cy="640080"/>
          </a:xfrm>
          <a:prstGeom prst="rect">
            <a:avLst/>
          </a:prstGeom>
          <a:noFill/>
          <a:ln/>
        </p:spPr>
        <p:txBody>
          <a:bodyPr wrap="square" lIns="0" tIns="0" rIns="0" bIns="0" rtlCol="0" anchor="ctr"/>
          <a:lstStyle/>
          <a:p>
            <a:pPr algn="r" indent="0" marL="0">
              <a:buNone/>
            </a:pPr>
            <a:r>
              <a:rPr lang="en-US" sz="3000" b="1" dirty="0">
                <a:solidFill>
                  <a:srgbClr val="18222B"/>
                </a:solidFill>
                <a:latin typeface="Cambria" pitchFamily="34" charset="0"/>
                <a:ea typeface="Cambria" pitchFamily="34" charset="-122"/>
                <a:cs typeface="Cambria" pitchFamily="34" charset="-120"/>
              </a:rPr>
              <a:t>-26</a:t>
            </a:r>
            <a:endParaRPr lang="en-US" sz="3000" dirty="0"/>
          </a:p>
        </p:txBody>
      </p:sp>
      <p:sp>
        <p:nvSpPr>
          <p:cNvPr id="19" name="Shape 17"/>
          <p:cNvSpPr/>
          <p:nvPr/>
        </p:nvSpPr>
        <p:spPr>
          <a:xfrm>
            <a:off x="4343400" y="1783080"/>
            <a:ext cx="3520440" cy="4434840"/>
          </a:xfrm>
          <a:prstGeom prst="roundRect">
            <a:avLst>
              <a:gd name="adj" fmla="val 2078"/>
            </a:avLst>
          </a:prstGeom>
          <a:solidFill>
            <a:srgbClr val="F1F3F5"/>
          </a:solidFill>
          <a:ln w="12700">
            <a:solidFill>
              <a:srgbClr val="F1F3F5"/>
            </a:solidFill>
            <a:prstDash val="solid"/>
          </a:ln>
        </p:spPr>
      </p:sp>
      <p:sp>
        <p:nvSpPr>
          <p:cNvPr id="20" name="Text 18"/>
          <p:cNvSpPr txBox="1"/>
          <p:nvPr/>
        </p:nvSpPr>
        <p:spPr>
          <a:xfrm>
            <a:off x="4617720" y="2011680"/>
            <a:ext cx="297180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Staff-driven</a:t>
            </a:r>
            <a:endParaRPr lang="en-US" sz="2200" dirty="0"/>
          </a:p>
        </p:txBody>
      </p:sp>
      <p:sp>
        <p:nvSpPr>
          <p:cNvPr id="21" name="Text 19"/>
          <p:cNvSpPr txBox="1"/>
          <p:nvPr/>
        </p:nvSpPr>
        <p:spPr>
          <a:xfrm>
            <a:off x="4617720" y="2496312"/>
            <a:ext cx="2971800" cy="548640"/>
          </a:xfrm>
          <a:prstGeom prst="rect">
            <a:avLst/>
          </a:prstGeom>
          <a:noFill/>
          <a:ln/>
        </p:spPr>
        <p:txBody>
          <a:bodyPr wrap="square" lIns="0" tIns="0" rIns="0" bIns="0" rtlCol="0" anchor="t"/>
          <a:lstStyle/>
          <a:p>
            <a:pPr indent="0" marL="0">
              <a:buNone/>
            </a:pPr>
            <a:r>
              <a:rPr lang="en-US" sz="1300" dirty="0">
                <a:solidFill>
                  <a:srgbClr val="56636E"/>
                </a:solidFill>
                <a:latin typeface="Calibri" pitchFamily="34" charset="0"/>
                <a:ea typeface="Calibri" pitchFamily="34" charset="-122"/>
                <a:cs typeface="Calibri" pitchFamily="34" charset="-120"/>
              </a:rPr>
              <a:t>Staff behaviour leads or has the widest Detractor gap</a:t>
            </a:r>
            <a:endParaRPr lang="en-US" sz="1300" dirty="0"/>
          </a:p>
        </p:txBody>
      </p:sp>
      <p:sp>
        <p:nvSpPr>
          <p:cNvPr id="22" name="Shape 20"/>
          <p:cNvSpPr/>
          <p:nvPr/>
        </p:nvSpPr>
        <p:spPr>
          <a:xfrm>
            <a:off x="4572000" y="3246120"/>
            <a:ext cx="3063240" cy="777240"/>
          </a:xfrm>
          <a:prstGeom prst="roundRect">
            <a:avLst>
              <a:gd name="adj" fmla="val 7059"/>
            </a:avLst>
          </a:prstGeom>
          <a:solidFill>
            <a:srgbClr val="FFFFFF"/>
          </a:solidFill>
          <a:ln w="9525">
            <a:solidFill>
              <a:srgbClr val="D9DEE2"/>
            </a:solidFill>
            <a:prstDash val="solid"/>
          </a:ln>
        </p:spPr>
      </p:sp>
      <p:sp>
        <p:nvSpPr>
          <p:cNvPr id="23" name="Text 21"/>
          <p:cNvSpPr txBox="1"/>
          <p:nvPr/>
        </p:nvSpPr>
        <p:spPr>
          <a:xfrm>
            <a:off x="4754880" y="333756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Mumbai</a:t>
            </a:r>
            <a:endParaRPr lang="en-US" sz="1600" dirty="0"/>
          </a:p>
        </p:txBody>
      </p:sp>
      <p:sp>
        <p:nvSpPr>
          <p:cNvPr id="24" name="Text 22"/>
          <p:cNvSpPr txBox="1"/>
          <p:nvPr/>
        </p:nvSpPr>
        <p:spPr>
          <a:xfrm>
            <a:off x="4754880" y="365760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Staff gap +20 pts</a:t>
            </a:r>
            <a:endParaRPr lang="en-US" sz="1100" dirty="0"/>
          </a:p>
        </p:txBody>
      </p:sp>
      <p:sp>
        <p:nvSpPr>
          <p:cNvPr id="25" name="Text 23"/>
          <p:cNvSpPr txBox="1"/>
          <p:nvPr/>
        </p:nvSpPr>
        <p:spPr>
          <a:xfrm>
            <a:off x="6263640" y="3319272"/>
            <a:ext cx="1234440" cy="640080"/>
          </a:xfrm>
          <a:prstGeom prst="rect">
            <a:avLst/>
          </a:prstGeom>
          <a:noFill/>
          <a:ln/>
        </p:spPr>
        <p:txBody>
          <a:bodyPr wrap="square" lIns="0" tIns="0" rIns="0" bIns="0" rtlCol="0" anchor="ctr"/>
          <a:lstStyle/>
          <a:p>
            <a:pPr algn="r" indent="0" marL="0">
              <a:buNone/>
            </a:pPr>
            <a:r>
              <a:rPr lang="en-US" sz="3000" b="1" dirty="0">
                <a:solidFill>
                  <a:srgbClr val="18222B"/>
                </a:solidFill>
                <a:latin typeface="Cambria" pitchFamily="34" charset="0"/>
                <a:ea typeface="Cambria" pitchFamily="34" charset="-122"/>
                <a:cs typeface="Cambria" pitchFamily="34" charset="-120"/>
              </a:rPr>
              <a:t>-53</a:t>
            </a:r>
            <a:endParaRPr lang="en-US" sz="3000" dirty="0"/>
          </a:p>
        </p:txBody>
      </p:sp>
      <p:sp>
        <p:nvSpPr>
          <p:cNvPr id="26" name="Shape 24"/>
          <p:cNvSpPr/>
          <p:nvPr/>
        </p:nvSpPr>
        <p:spPr>
          <a:xfrm>
            <a:off x="4572000" y="4206240"/>
            <a:ext cx="3063240" cy="777240"/>
          </a:xfrm>
          <a:prstGeom prst="roundRect">
            <a:avLst>
              <a:gd name="adj" fmla="val 7059"/>
            </a:avLst>
          </a:prstGeom>
          <a:solidFill>
            <a:srgbClr val="FFFFFF"/>
          </a:solidFill>
          <a:ln w="9525">
            <a:solidFill>
              <a:srgbClr val="D9DEE2"/>
            </a:solidFill>
            <a:prstDash val="solid"/>
          </a:ln>
        </p:spPr>
      </p:sp>
      <p:sp>
        <p:nvSpPr>
          <p:cNvPr id="27" name="Text 25"/>
          <p:cNvSpPr txBox="1"/>
          <p:nvPr/>
        </p:nvSpPr>
        <p:spPr>
          <a:xfrm>
            <a:off x="4754880" y="429768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Hyderabad</a:t>
            </a:r>
            <a:endParaRPr lang="en-US" sz="1600" dirty="0"/>
          </a:p>
        </p:txBody>
      </p:sp>
      <p:sp>
        <p:nvSpPr>
          <p:cNvPr id="28" name="Text 26"/>
          <p:cNvSpPr txBox="1"/>
          <p:nvPr/>
        </p:nvSpPr>
        <p:spPr>
          <a:xfrm>
            <a:off x="4754880" y="461772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Staff r 0.66</a:t>
            </a:r>
            <a:endParaRPr lang="en-US" sz="1100" dirty="0"/>
          </a:p>
        </p:txBody>
      </p:sp>
      <p:sp>
        <p:nvSpPr>
          <p:cNvPr id="29" name="Text 27"/>
          <p:cNvSpPr txBox="1"/>
          <p:nvPr/>
        </p:nvSpPr>
        <p:spPr>
          <a:xfrm>
            <a:off x="6263640" y="4279392"/>
            <a:ext cx="1234440" cy="640080"/>
          </a:xfrm>
          <a:prstGeom prst="rect">
            <a:avLst/>
          </a:prstGeom>
          <a:noFill/>
          <a:ln/>
        </p:spPr>
        <p:txBody>
          <a:bodyPr wrap="square" lIns="0" tIns="0" rIns="0" bIns="0" rtlCol="0" anchor="ctr"/>
          <a:lstStyle/>
          <a:p>
            <a:pPr algn="r" indent="0" marL="0">
              <a:buNone/>
            </a:pPr>
            <a:r>
              <a:rPr lang="en-US" sz="3000" b="1" dirty="0">
                <a:solidFill>
                  <a:srgbClr val="18222B"/>
                </a:solidFill>
                <a:latin typeface="Cambria" pitchFamily="34" charset="0"/>
                <a:ea typeface="Cambria" pitchFamily="34" charset="-122"/>
                <a:cs typeface="Cambria" pitchFamily="34" charset="-120"/>
              </a:rPr>
              <a:t>-44</a:t>
            </a:r>
            <a:endParaRPr lang="en-US" sz="3000" dirty="0"/>
          </a:p>
        </p:txBody>
      </p:sp>
      <p:sp>
        <p:nvSpPr>
          <p:cNvPr id="30" name="Shape 28"/>
          <p:cNvSpPr/>
          <p:nvPr/>
        </p:nvSpPr>
        <p:spPr>
          <a:xfrm>
            <a:off x="8138160" y="1783080"/>
            <a:ext cx="3520440" cy="4434840"/>
          </a:xfrm>
          <a:prstGeom prst="roundRect">
            <a:avLst>
              <a:gd name="adj" fmla="val 2078"/>
            </a:avLst>
          </a:prstGeom>
          <a:solidFill>
            <a:srgbClr val="F1F3F5"/>
          </a:solidFill>
          <a:ln w="12700">
            <a:solidFill>
              <a:srgbClr val="F1F3F5"/>
            </a:solidFill>
            <a:prstDash val="solid"/>
          </a:ln>
        </p:spPr>
      </p:sp>
      <p:sp>
        <p:nvSpPr>
          <p:cNvPr id="31" name="Text 29"/>
          <p:cNvSpPr txBox="1"/>
          <p:nvPr/>
        </p:nvSpPr>
        <p:spPr>
          <a:xfrm>
            <a:off x="8412480" y="2011680"/>
            <a:ext cx="297180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Money-driven</a:t>
            </a:r>
            <a:endParaRPr lang="en-US" sz="2200" dirty="0"/>
          </a:p>
        </p:txBody>
      </p:sp>
      <p:sp>
        <p:nvSpPr>
          <p:cNvPr id="32" name="Text 30"/>
          <p:cNvSpPr txBox="1"/>
          <p:nvPr/>
        </p:nvSpPr>
        <p:spPr>
          <a:xfrm>
            <a:off x="8412480" y="2496312"/>
            <a:ext cx="2971800" cy="548640"/>
          </a:xfrm>
          <a:prstGeom prst="rect">
            <a:avLst/>
          </a:prstGeom>
          <a:noFill/>
          <a:ln/>
        </p:spPr>
        <p:txBody>
          <a:bodyPr wrap="square" lIns="0" tIns="0" rIns="0" bIns="0" rtlCol="0" anchor="t"/>
          <a:lstStyle/>
          <a:p>
            <a:pPr indent="0" marL="0">
              <a:buNone/>
            </a:pPr>
            <a:r>
              <a:rPr lang="en-US" sz="1300" dirty="0">
                <a:solidFill>
                  <a:srgbClr val="56636E"/>
                </a:solidFill>
                <a:latin typeface="Calibri" pitchFamily="34" charset="0"/>
                <a:ea typeface="Calibri" pitchFamily="34" charset="-122"/>
                <a:cs typeface="Calibri" pitchFamily="34" charset="-120"/>
              </a:rPr>
              <a:t>Earnings &amp; Payments is the top predictor</a:t>
            </a:r>
            <a:endParaRPr lang="en-US" sz="1300" dirty="0"/>
          </a:p>
        </p:txBody>
      </p:sp>
      <p:sp>
        <p:nvSpPr>
          <p:cNvPr id="33" name="Shape 31"/>
          <p:cNvSpPr/>
          <p:nvPr/>
        </p:nvSpPr>
        <p:spPr>
          <a:xfrm>
            <a:off x="8366760" y="3246120"/>
            <a:ext cx="3063240" cy="777240"/>
          </a:xfrm>
          <a:prstGeom prst="roundRect">
            <a:avLst>
              <a:gd name="adj" fmla="val 7059"/>
            </a:avLst>
          </a:prstGeom>
          <a:solidFill>
            <a:srgbClr val="FFFFFF"/>
          </a:solidFill>
          <a:ln w="9525">
            <a:solidFill>
              <a:srgbClr val="D9DEE2"/>
            </a:solidFill>
            <a:prstDash val="solid"/>
          </a:ln>
        </p:spPr>
      </p:sp>
      <p:sp>
        <p:nvSpPr>
          <p:cNvPr id="34" name="Text 32"/>
          <p:cNvSpPr txBox="1"/>
          <p:nvPr/>
        </p:nvSpPr>
        <p:spPr>
          <a:xfrm>
            <a:off x="8549640" y="333756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Kolkata</a:t>
            </a:r>
            <a:endParaRPr lang="en-US" sz="1600" dirty="0"/>
          </a:p>
        </p:txBody>
      </p:sp>
      <p:sp>
        <p:nvSpPr>
          <p:cNvPr id="35" name="Text 33"/>
          <p:cNvSpPr txBox="1"/>
          <p:nvPr/>
        </p:nvSpPr>
        <p:spPr>
          <a:xfrm>
            <a:off x="8549640" y="365760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Earnings r 0.79</a:t>
            </a:r>
            <a:endParaRPr lang="en-US" sz="1100" dirty="0"/>
          </a:p>
        </p:txBody>
      </p:sp>
      <p:sp>
        <p:nvSpPr>
          <p:cNvPr id="36" name="Text 34"/>
          <p:cNvSpPr txBox="1"/>
          <p:nvPr/>
        </p:nvSpPr>
        <p:spPr>
          <a:xfrm>
            <a:off x="10058400" y="3319272"/>
            <a:ext cx="1234440" cy="640080"/>
          </a:xfrm>
          <a:prstGeom prst="rect">
            <a:avLst/>
          </a:prstGeom>
          <a:noFill/>
          <a:ln/>
        </p:spPr>
        <p:txBody>
          <a:bodyPr wrap="square" lIns="0" tIns="0" rIns="0" bIns="0" rtlCol="0" anchor="ctr"/>
          <a:lstStyle/>
          <a:p>
            <a:pPr algn="r" indent="0" marL="0">
              <a:buNone/>
            </a:pPr>
            <a:r>
              <a:rPr lang="en-US" sz="3000" b="1" dirty="0">
                <a:solidFill>
                  <a:srgbClr val="D9432B"/>
                </a:solidFill>
                <a:latin typeface="Cambria" pitchFamily="34" charset="0"/>
                <a:ea typeface="Cambria" pitchFamily="34" charset="-122"/>
                <a:cs typeface="Cambria" pitchFamily="34" charset="-120"/>
              </a:rPr>
              <a:t>-67</a:t>
            </a:r>
            <a:endParaRPr lang="en-US" sz="3000" dirty="0"/>
          </a:p>
        </p:txBody>
      </p:sp>
      <p:sp>
        <p:nvSpPr>
          <p:cNvPr id="37" name="Shape 35"/>
          <p:cNvSpPr/>
          <p:nvPr/>
        </p:nvSpPr>
        <p:spPr>
          <a:xfrm>
            <a:off x="8366760" y="4206240"/>
            <a:ext cx="3063240" cy="777240"/>
          </a:xfrm>
          <a:prstGeom prst="roundRect">
            <a:avLst>
              <a:gd name="adj" fmla="val 7059"/>
            </a:avLst>
          </a:prstGeom>
          <a:solidFill>
            <a:srgbClr val="FFFFFF"/>
          </a:solidFill>
          <a:ln w="9525">
            <a:solidFill>
              <a:srgbClr val="D9DEE2"/>
            </a:solidFill>
            <a:prstDash val="solid"/>
          </a:ln>
        </p:spPr>
      </p:sp>
      <p:sp>
        <p:nvSpPr>
          <p:cNvPr id="38" name="Text 36"/>
          <p:cNvSpPr txBox="1"/>
          <p:nvPr/>
        </p:nvSpPr>
        <p:spPr>
          <a:xfrm>
            <a:off x="8549640" y="4297680"/>
            <a:ext cx="1463040" cy="320040"/>
          </a:xfrm>
          <a:prstGeom prst="rect">
            <a:avLst/>
          </a:prstGeom>
          <a:noFill/>
          <a:ln/>
        </p:spPr>
        <p:txBody>
          <a:bodyPr wrap="square" lIns="0" tIns="0" rIns="0" bIns="0" rtlCol="0" anchor="ctr"/>
          <a:lstStyle/>
          <a:p>
            <a:pPr indent="0" marL="0">
              <a:buNone/>
            </a:pPr>
            <a:r>
              <a:rPr lang="en-US" sz="1600" b="1" dirty="0">
                <a:solidFill>
                  <a:srgbClr val="18222B"/>
                </a:solidFill>
                <a:latin typeface="Calibri" pitchFamily="34" charset="0"/>
                <a:ea typeface="Calibri" pitchFamily="34" charset="-122"/>
                <a:cs typeface="Calibri" pitchFamily="34" charset="-120"/>
              </a:rPr>
              <a:t>Pune</a:t>
            </a:r>
            <a:endParaRPr lang="en-US" sz="1600" dirty="0"/>
          </a:p>
        </p:txBody>
      </p:sp>
      <p:sp>
        <p:nvSpPr>
          <p:cNvPr id="39" name="Text 37"/>
          <p:cNvSpPr txBox="1"/>
          <p:nvPr/>
        </p:nvSpPr>
        <p:spPr>
          <a:xfrm>
            <a:off x="8549640" y="4617720"/>
            <a:ext cx="1828800" cy="274320"/>
          </a:xfrm>
          <a:prstGeom prst="rect">
            <a:avLst/>
          </a:prstGeom>
          <a:noFill/>
          <a:ln/>
        </p:spPr>
        <p:txBody>
          <a:bodyPr wrap="square" lIns="0" tIns="0" rIns="0" bIns="0" rtlCol="0" anchor="ctr"/>
          <a:lstStyle/>
          <a:p>
            <a:pPr indent="0" marL="0">
              <a:buNone/>
            </a:pPr>
            <a:r>
              <a:rPr lang="en-US" sz="1100" dirty="0">
                <a:solidFill>
                  <a:srgbClr val="56636E"/>
                </a:solidFill>
                <a:latin typeface="Calibri" pitchFamily="34" charset="0"/>
                <a:ea typeface="Calibri" pitchFamily="34" charset="-122"/>
                <a:cs typeface="Calibri" pitchFamily="34" charset="-120"/>
              </a:rPr>
              <a:t>Earnings r 0.61</a:t>
            </a:r>
            <a:endParaRPr lang="en-US" sz="1100" dirty="0"/>
          </a:p>
        </p:txBody>
      </p:sp>
      <p:sp>
        <p:nvSpPr>
          <p:cNvPr id="40" name="Text 38"/>
          <p:cNvSpPr txBox="1"/>
          <p:nvPr/>
        </p:nvSpPr>
        <p:spPr>
          <a:xfrm>
            <a:off x="10058400" y="4279392"/>
            <a:ext cx="1234440" cy="640080"/>
          </a:xfrm>
          <a:prstGeom prst="rect">
            <a:avLst/>
          </a:prstGeom>
          <a:noFill/>
          <a:ln/>
        </p:spPr>
        <p:txBody>
          <a:bodyPr wrap="square" lIns="0" tIns="0" rIns="0" bIns="0" rtlCol="0" anchor="ctr"/>
          <a:lstStyle/>
          <a:p>
            <a:pPr algn="r" indent="0" marL="0">
              <a:buNone/>
            </a:pPr>
            <a:r>
              <a:rPr lang="en-US" sz="3000" b="1" dirty="0">
                <a:solidFill>
                  <a:srgbClr val="18222B"/>
                </a:solidFill>
                <a:latin typeface="Cambria" pitchFamily="34" charset="0"/>
                <a:ea typeface="Cambria" pitchFamily="34" charset="-122"/>
                <a:cs typeface="Cambria" pitchFamily="34" charset="-120"/>
              </a:rPr>
              <a:t>-54</a:t>
            </a:r>
            <a:endParaRPr lang="en-US" sz="3000" dirty="0"/>
          </a:p>
        </p:txBody>
      </p:sp>
      <p:sp>
        <p:nvSpPr>
          <p:cNvPr id="41" name="Text 3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OwnNow scores best and feels the most let down</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Active drivers by current product</a:t>
            </a:r>
            <a:endParaRPr lang="en-US" sz="1600" dirty="0"/>
          </a:p>
        </p:txBody>
      </p:sp>
      <p:sp>
        <p:nvSpPr>
          <p:cNvPr id="4" name="Text 2"/>
          <p:cNvSpPr txBox="1"/>
          <p:nvPr/>
        </p:nvSpPr>
        <p:spPr>
          <a:xfrm>
            <a:off x="548640" y="2331720"/>
            <a:ext cx="1737360" cy="868680"/>
          </a:xfrm>
          <a:prstGeom prst="rect">
            <a:avLst/>
          </a:prstGeom>
          <a:noFill/>
          <a:ln/>
        </p:spPr>
        <p:txBody>
          <a:bodyPr wrap="square" lIns="0" tIns="0" rIns="0" bIns="0" rtlCol="0" anchor="ctr"/>
          <a:lstStyle/>
          <a:p>
            <a:pPr indent="0" marL="0">
              <a:buNone/>
            </a:pPr>
            <a:r>
              <a:rPr lang="en-US" sz="1500" b="1" dirty="0">
                <a:solidFill>
                  <a:srgbClr val="56636E"/>
                </a:solidFill>
                <a:latin typeface="Calibri" pitchFamily="34" charset="0"/>
                <a:ea typeface="Calibri" pitchFamily="34" charset="-122"/>
                <a:cs typeface="Calibri" pitchFamily="34" charset="-120"/>
              </a:rPr>
              <a:t>NPS</a:t>
            </a:r>
            <a:endParaRPr lang="en-US" sz="1500" dirty="0"/>
          </a:p>
        </p:txBody>
      </p:sp>
      <p:sp>
        <p:nvSpPr>
          <p:cNvPr id="5" name="Text 3"/>
          <p:cNvSpPr txBox="1"/>
          <p:nvPr/>
        </p:nvSpPr>
        <p:spPr>
          <a:xfrm>
            <a:off x="548640" y="3291840"/>
            <a:ext cx="1737360" cy="868680"/>
          </a:xfrm>
          <a:prstGeom prst="rect">
            <a:avLst/>
          </a:prstGeom>
          <a:noFill/>
          <a:ln/>
        </p:spPr>
        <p:txBody>
          <a:bodyPr wrap="square" lIns="0" tIns="0" rIns="0" bIns="0" rtlCol="0" anchor="ctr"/>
          <a:lstStyle/>
          <a:p>
            <a:pPr indent="0" marL="0">
              <a:buNone/>
            </a:pPr>
            <a:r>
              <a:rPr lang="en-US" sz="1500" b="1" dirty="0">
                <a:solidFill>
                  <a:srgbClr val="56636E"/>
                </a:solidFill>
                <a:latin typeface="Calibri" pitchFamily="34" charset="0"/>
                <a:ea typeface="Calibri" pitchFamily="34" charset="-122"/>
                <a:cs typeface="Calibri" pitchFamily="34" charset="-120"/>
              </a:rPr>
              <a:t>Top value driver</a:t>
            </a:r>
            <a:endParaRPr lang="en-US" sz="1500" dirty="0"/>
          </a:p>
        </p:txBody>
      </p:sp>
      <p:sp>
        <p:nvSpPr>
          <p:cNvPr id="6" name="Text 4"/>
          <p:cNvSpPr txBox="1"/>
          <p:nvPr/>
        </p:nvSpPr>
        <p:spPr>
          <a:xfrm>
            <a:off x="548640" y="4251960"/>
            <a:ext cx="1737360" cy="868680"/>
          </a:xfrm>
          <a:prstGeom prst="rect">
            <a:avLst/>
          </a:prstGeom>
          <a:noFill/>
          <a:ln/>
        </p:spPr>
        <p:txBody>
          <a:bodyPr wrap="square" lIns="0" tIns="0" rIns="0" bIns="0" rtlCol="0" anchor="ctr"/>
          <a:lstStyle/>
          <a:p>
            <a:pPr indent="0" marL="0">
              <a:buNone/>
            </a:pPr>
            <a:r>
              <a:rPr lang="en-US" sz="1500" b="1" dirty="0">
                <a:solidFill>
                  <a:srgbClr val="56636E"/>
                </a:solidFill>
                <a:latin typeface="Calibri" pitchFamily="34" charset="0"/>
                <a:ea typeface="Calibri" pitchFamily="34" charset="-122"/>
                <a:cs typeface="Calibri" pitchFamily="34" charset="-120"/>
              </a:rPr>
              <a:t>Top complaint</a:t>
            </a:r>
            <a:endParaRPr lang="en-US" sz="1500" dirty="0"/>
          </a:p>
        </p:txBody>
      </p:sp>
      <p:sp>
        <p:nvSpPr>
          <p:cNvPr id="7" name="Shape 5"/>
          <p:cNvSpPr/>
          <p:nvPr/>
        </p:nvSpPr>
        <p:spPr>
          <a:xfrm>
            <a:off x="2286000" y="1691640"/>
            <a:ext cx="2971800" cy="4434840"/>
          </a:xfrm>
          <a:prstGeom prst="roundRect">
            <a:avLst>
              <a:gd name="adj" fmla="val 2462"/>
            </a:avLst>
          </a:prstGeom>
          <a:solidFill>
            <a:srgbClr val="F1F3F5"/>
          </a:solidFill>
          <a:ln w="12700">
            <a:solidFill>
              <a:srgbClr val="F1F3F5"/>
            </a:solidFill>
            <a:prstDash val="solid"/>
          </a:ln>
        </p:spPr>
      </p:sp>
      <p:sp>
        <p:nvSpPr>
          <p:cNvPr id="8" name="Text 6"/>
          <p:cNvSpPr txBox="1"/>
          <p:nvPr/>
        </p:nvSpPr>
        <p:spPr>
          <a:xfrm>
            <a:off x="2560320" y="1828800"/>
            <a:ext cx="242316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DTO</a:t>
            </a:r>
            <a:endParaRPr lang="en-US" sz="2200" dirty="0"/>
          </a:p>
        </p:txBody>
      </p:sp>
      <p:sp>
        <p:nvSpPr>
          <p:cNvPr id="9" name="Text 7"/>
          <p:cNvSpPr txBox="1"/>
          <p:nvPr/>
        </p:nvSpPr>
        <p:spPr>
          <a:xfrm>
            <a:off x="2560320" y="2331720"/>
            <a:ext cx="2423160" cy="868680"/>
          </a:xfrm>
          <a:prstGeom prst="rect">
            <a:avLst/>
          </a:prstGeom>
          <a:noFill/>
          <a:ln/>
        </p:spPr>
        <p:txBody>
          <a:bodyPr wrap="square" lIns="0" tIns="0" rIns="0" bIns="0" rtlCol="0" anchor="ctr"/>
          <a:lstStyle/>
          <a:p>
            <a:pPr indent="0" marL="0">
              <a:buNone/>
            </a:pPr>
            <a:r>
              <a:rPr lang="en-US" sz="4000" b="1" dirty="0">
                <a:solidFill>
                  <a:srgbClr val="D9432B"/>
                </a:solidFill>
                <a:latin typeface="Cambria" pitchFamily="34" charset="0"/>
                <a:ea typeface="Cambria" pitchFamily="34" charset="-122"/>
                <a:cs typeface="Cambria" pitchFamily="34" charset="-120"/>
              </a:rPr>
              <a:t>-61</a:t>
            </a:r>
            <a:endParaRPr lang="en-US" sz="4000" dirty="0"/>
          </a:p>
        </p:txBody>
      </p:sp>
      <p:sp>
        <p:nvSpPr>
          <p:cNvPr id="10" name="Text 8"/>
          <p:cNvSpPr txBox="1"/>
          <p:nvPr/>
        </p:nvSpPr>
        <p:spPr>
          <a:xfrm>
            <a:off x="2560320" y="3291840"/>
            <a:ext cx="2514600" cy="868680"/>
          </a:xfrm>
          <a:prstGeom prst="rect">
            <a:avLst/>
          </a:prstGeom>
          <a:noFill/>
          <a:ln/>
        </p:spPr>
        <p:txBody>
          <a:bodyPr wrap="square" lIns="0" tIns="0" rIns="0" bIns="0" rtlCol="0" anchor="ctr"/>
          <a:lstStyle/>
          <a:p>
            <a:pPr indent="0" marL="0">
              <a:buNone/>
            </a:pPr>
            <a:r>
              <a:rPr lang="en-US" sz="2600" b="1" dirty="0">
                <a:solidFill>
                  <a:srgbClr val="18222B"/>
                </a:solidFill>
                <a:latin typeface="Cambria" pitchFamily="34" charset="0"/>
                <a:ea typeface="Cambria" pitchFamily="34" charset="-122"/>
                <a:cs typeface="Cambria" pitchFamily="34" charset="-120"/>
              </a:rPr>
              <a:t>42%</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Ownership opportunity</a:t>
            </a:r>
            <a:endParaRPr lang="en-US" sz="2600" dirty="0"/>
          </a:p>
        </p:txBody>
      </p:sp>
      <p:sp>
        <p:nvSpPr>
          <p:cNvPr id="11" name="Text 9"/>
          <p:cNvSpPr txBox="1"/>
          <p:nvPr/>
        </p:nvSpPr>
        <p:spPr>
          <a:xfrm>
            <a:off x="2560320" y="4251960"/>
            <a:ext cx="2514600" cy="868680"/>
          </a:xfrm>
          <a:prstGeom prst="rect">
            <a:avLst/>
          </a:prstGeom>
          <a:noFill/>
          <a:ln/>
        </p:spPr>
        <p:txBody>
          <a:bodyPr wrap="square" lIns="0" tIns="0" rIns="0" bIns="0" rtlCol="0" anchor="ctr"/>
          <a:lstStyle/>
          <a:p>
            <a:pPr indent="0" marL="0">
              <a:buNone/>
            </a:pPr>
            <a:r>
              <a:rPr lang="en-US" sz="2600" b="1" dirty="0">
                <a:solidFill>
                  <a:srgbClr val="18222B"/>
                </a:solidFill>
                <a:latin typeface="Cambria" pitchFamily="34" charset="0"/>
                <a:ea typeface="Cambria" pitchFamily="34" charset="-122"/>
                <a:cs typeface="Cambria" pitchFamily="34" charset="-120"/>
              </a:rPr>
              <a:t>49%</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Vehicle or garage delays</a:t>
            </a:r>
            <a:endParaRPr lang="en-US" sz="2600" dirty="0"/>
          </a:p>
        </p:txBody>
      </p:sp>
      <p:sp>
        <p:nvSpPr>
          <p:cNvPr id="12" name="Shape 10"/>
          <p:cNvSpPr/>
          <p:nvPr/>
        </p:nvSpPr>
        <p:spPr>
          <a:xfrm>
            <a:off x="5440680" y="1691640"/>
            <a:ext cx="2971800" cy="4434840"/>
          </a:xfrm>
          <a:prstGeom prst="roundRect">
            <a:avLst>
              <a:gd name="adj" fmla="val 2462"/>
            </a:avLst>
          </a:prstGeom>
          <a:solidFill>
            <a:srgbClr val="F1F3F5"/>
          </a:solidFill>
          <a:ln w="12700">
            <a:solidFill>
              <a:srgbClr val="F1F3F5"/>
            </a:solidFill>
            <a:prstDash val="solid"/>
          </a:ln>
        </p:spPr>
      </p:sp>
      <p:sp>
        <p:nvSpPr>
          <p:cNvPr id="13" name="Text 11"/>
          <p:cNvSpPr txBox="1"/>
          <p:nvPr/>
        </p:nvSpPr>
        <p:spPr>
          <a:xfrm>
            <a:off x="5715000" y="1828800"/>
            <a:ext cx="242316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Leasing</a:t>
            </a:r>
            <a:endParaRPr lang="en-US" sz="2200" dirty="0"/>
          </a:p>
        </p:txBody>
      </p:sp>
      <p:sp>
        <p:nvSpPr>
          <p:cNvPr id="14" name="Text 12"/>
          <p:cNvSpPr txBox="1"/>
          <p:nvPr/>
        </p:nvSpPr>
        <p:spPr>
          <a:xfrm>
            <a:off x="5715000" y="2331720"/>
            <a:ext cx="2423160" cy="868680"/>
          </a:xfrm>
          <a:prstGeom prst="rect">
            <a:avLst/>
          </a:prstGeom>
          <a:noFill/>
          <a:ln/>
        </p:spPr>
        <p:txBody>
          <a:bodyPr wrap="square" lIns="0" tIns="0" rIns="0" bIns="0" rtlCol="0" anchor="ctr"/>
          <a:lstStyle/>
          <a:p>
            <a:pPr indent="0" marL="0">
              <a:buNone/>
            </a:pPr>
            <a:r>
              <a:rPr lang="en-US" sz="4000" b="1" dirty="0">
                <a:solidFill>
                  <a:srgbClr val="18222B"/>
                </a:solidFill>
                <a:latin typeface="Cambria" pitchFamily="34" charset="0"/>
                <a:ea typeface="Cambria" pitchFamily="34" charset="-122"/>
                <a:cs typeface="Cambria" pitchFamily="34" charset="-120"/>
              </a:rPr>
              <a:t>-57</a:t>
            </a:r>
            <a:endParaRPr lang="en-US" sz="4000" dirty="0"/>
          </a:p>
        </p:txBody>
      </p:sp>
      <p:sp>
        <p:nvSpPr>
          <p:cNvPr id="15" name="Text 13"/>
          <p:cNvSpPr txBox="1"/>
          <p:nvPr/>
        </p:nvSpPr>
        <p:spPr>
          <a:xfrm>
            <a:off x="5715000" y="3291840"/>
            <a:ext cx="2514600" cy="868680"/>
          </a:xfrm>
          <a:prstGeom prst="rect">
            <a:avLst/>
          </a:prstGeom>
          <a:noFill/>
          <a:ln/>
        </p:spPr>
        <p:txBody>
          <a:bodyPr wrap="square" lIns="0" tIns="0" rIns="0" bIns="0" rtlCol="0" anchor="ctr"/>
          <a:lstStyle/>
          <a:p>
            <a:pPr indent="0" marL="0">
              <a:buNone/>
            </a:pPr>
            <a:r>
              <a:rPr lang="en-US" sz="2600" b="1" dirty="0">
                <a:solidFill>
                  <a:srgbClr val="18222B"/>
                </a:solidFill>
                <a:latin typeface="Cambria" pitchFamily="34" charset="0"/>
                <a:ea typeface="Cambria" pitchFamily="34" charset="-122"/>
                <a:cs typeface="Cambria" pitchFamily="34" charset="-120"/>
              </a:rPr>
              <a:t>40%</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On-time payments</a:t>
            </a:r>
            <a:endParaRPr lang="en-US" sz="2600" dirty="0"/>
          </a:p>
        </p:txBody>
      </p:sp>
      <p:sp>
        <p:nvSpPr>
          <p:cNvPr id="16" name="Text 14"/>
          <p:cNvSpPr txBox="1"/>
          <p:nvPr/>
        </p:nvSpPr>
        <p:spPr>
          <a:xfrm>
            <a:off x="5715000" y="4251960"/>
            <a:ext cx="2514600" cy="868680"/>
          </a:xfrm>
          <a:prstGeom prst="rect">
            <a:avLst/>
          </a:prstGeom>
          <a:noFill/>
          <a:ln/>
        </p:spPr>
        <p:txBody>
          <a:bodyPr wrap="square" lIns="0" tIns="0" rIns="0" bIns="0" rtlCol="0" anchor="ctr"/>
          <a:lstStyle/>
          <a:p>
            <a:pPr indent="0" marL="0">
              <a:buNone/>
            </a:pPr>
            <a:r>
              <a:rPr lang="en-US" sz="2600" b="1" dirty="0">
                <a:solidFill>
                  <a:srgbClr val="18222B"/>
                </a:solidFill>
                <a:latin typeface="Cambria" pitchFamily="34" charset="0"/>
                <a:ea typeface="Cambria" pitchFamily="34" charset="-122"/>
                <a:cs typeface="Cambria" pitchFamily="34" charset="-120"/>
              </a:rPr>
              <a:t>67%</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Vehicle or garage delays</a:t>
            </a:r>
            <a:endParaRPr lang="en-US" sz="2600" dirty="0"/>
          </a:p>
        </p:txBody>
      </p:sp>
      <p:sp>
        <p:nvSpPr>
          <p:cNvPr id="17" name="Shape 15"/>
          <p:cNvSpPr/>
          <p:nvPr/>
        </p:nvSpPr>
        <p:spPr>
          <a:xfrm>
            <a:off x="8595360" y="1691640"/>
            <a:ext cx="2971800" cy="4434840"/>
          </a:xfrm>
          <a:prstGeom prst="roundRect">
            <a:avLst>
              <a:gd name="adj" fmla="val 2462"/>
            </a:avLst>
          </a:prstGeom>
          <a:solidFill>
            <a:srgbClr val="F6D9D3"/>
          </a:solidFill>
          <a:ln w="12700">
            <a:solidFill>
              <a:srgbClr val="F6D9D3"/>
            </a:solidFill>
            <a:prstDash val="solid"/>
          </a:ln>
        </p:spPr>
      </p:sp>
      <p:sp>
        <p:nvSpPr>
          <p:cNvPr id="18" name="Text 16"/>
          <p:cNvSpPr txBox="1"/>
          <p:nvPr/>
        </p:nvSpPr>
        <p:spPr>
          <a:xfrm>
            <a:off x="8869680" y="1828800"/>
            <a:ext cx="2423160" cy="457200"/>
          </a:xfrm>
          <a:prstGeom prst="rect">
            <a:avLst/>
          </a:prstGeom>
          <a:noFill/>
          <a:ln/>
        </p:spPr>
        <p:txBody>
          <a:bodyPr wrap="square" lIns="0" tIns="0" rIns="0" bIns="0" rtlCol="0" anchor="t"/>
          <a:lstStyle/>
          <a:p>
            <a:pPr indent="0" marL="0">
              <a:buNone/>
            </a:pPr>
            <a:r>
              <a:rPr lang="en-US" sz="2200" b="1" dirty="0">
                <a:solidFill>
                  <a:srgbClr val="18222B"/>
                </a:solidFill>
                <a:latin typeface="Cambria" pitchFamily="34" charset="0"/>
                <a:ea typeface="Cambria" pitchFamily="34" charset="-122"/>
                <a:cs typeface="Cambria" pitchFamily="34" charset="-120"/>
              </a:rPr>
              <a:t>OwnNow</a:t>
            </a:r>
            <a:endParaRPr lang="en-US" sz="2200" dirty="0"/>
          </a:p>
        </p:txBody>
      </p:sp>
      <p:sp>
        <p:nvSpPr>
          <p:cNvPr id="19" name="Text 17"/>
          <p:cNvSpPr txBox="1"/>
          <p:nvPr/>
        </p:nvSpPr>
        <p:spPr>
          <a:xfrm>
            <a:off x="8869680" y="2331720"/>
            <a:ext cx="2423160" cy="868680"/>
          </a:xfrm>
          <a:prstGeom prst="rect">
            <a:avLst/>
          </a:prstGeom>
          <a:noFill/>
          <a:ln/>
        </p:spPr>
        <p:txBody>
          <a:bodyPr wrap="square" lIns="0" tIns="0" rIns="0" bIns="0" rtlCol="0" anchor="ctr"/>
          <a:lstStyle/>
          <a:p>
            <a:pPr indent="0" marL="0">
              <a:buNone/>
            </a:pPr>
            <a:r>
              <a:rPr lang="en-US" sz="4000" b="1" dirty="0">
                <a:solidFill>
                  <a:srgbClr val="18222B"/>
                </a:solidFill>
                <a:latin typeface="Cambria" pitchFamily="34" charset="0"/>
                <a:ea typeface="Cambria" pitchFamily="34" charset="-122"/>
                <a:cs typeface="Cambria" pitchFamily="34" charset="-120"/>
              </a:rPr>
              <a:t>-45</a:t>
            </a:r>
            <a:endParaRPr lang="en-US" sz="4000" dirty="0"/>
          </a:p>
        </p:txBody>
      </p:sp>
      <p:sp>
        <p:nvSpPr>
          <p:cNvPr id="20" name="Text 18"/>
          <p:cNvSpPr txBox="1"/>
          <p:nvPr/>
        </p:nvSpPr>
        <p:spPr>
          <a:xfrm>
            <a:off x="8869680" y="3291840"/>
            <a:ext cx="2514600" cy="868680"/>
          </a:xfrm>
          <a:prstGeom prst="rect">
            <a:avLst/>
          </a:prstGeom>
          <a:noFill/>
          <a:ln/>
        </p:spPr>
        <p:txBody>
          <a:bodyPr wrap="square" lIns="0" tIns="0" rIns="0" bIns="0" rtlCol="0" anchor="ctr"/>
          <a:lstStyle/>
          <a:p>
            <a:pPr indent="0" marL="0">
              <a:buNone/>
            </a:pPr>
            <a:r>
              <a:rPr lang="en-US" sz="2600" b="1" dirty="0">
                <a:solidFill>
                  <a:srgbClr val="18222B"/>
                </a:solidFill>
                <a:latin typeface="Cambria" pitchFamily="34" charset="0"/>
                <a:ea typeface="Cambria" pitchFamily="34" charset="-122"/>
                <a:cs typeface="Cambria" pitchFamily="34" charset="-120"/>
              </a:rPr>
              <a:t>56%</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Ownership opportunity</a:t>
            </a:r>
            <a:endParaRPr lang="en-US" sz="2600" dirty="0"/>
          </a:p>
        </p:txBody>
      </p:sp>
      <p:sp>
        <p:nvSpPr>
          <p:cNvPr id="21" name="Text 19"/>
          <p:cNvSpPr txBox="1"/>
          <p:nvPr/>
        </p:nvSpPr>
        <p:spPr>
          <a:xfrm>
            <a:off x="8869680" y="4251960"/>
            <a:ext cx="2514600" cy="868680"/>
          </a:xfrm>
          <a:prstGeom prst="rect">
            <a:avLst/>
          </a:prstGeom>
          <a:noFill/>
          <a:ln/>
        </p:spPr>
        <p:txBody>
          <a:bodyPr wrap="square" lIns="0" tIns="0" rIns="0" bIns="0" rtlCol="0" anchor="ctr"/>
          <a:lstStyle/>
          <a:p>
            <a:pPr indent="0" marL="0">
              <a:buNone/>
            </a:pPr>
            <a:r>
              <a:rPr lang="en-US" sz="2600" b="1" dirty="0">
                <a:solidFill>
                  <a:srgbClr val="D9432B"/>
                </a:solidFill>
                <a:latin typeface="Cambria" pitchFamily="34" charset="0"/>
                <a:ea typeface="Cambria" pitchFamily="34" charset="-122"/>
                <a:cs typeface="Cambria" pitchFamily="34" charset="-120"/>
              </a:rPr>
              <a:t>46%</a:t>
            </a:r>
            <a:endParaRPr lang="en-US" sz="2600" dirty="0"/>
          </a:p>
          <a:p>
            <a:pPr indent="0" marL="0">
              <a:buNone/>
            </a:pPr>
            <a:r>
              <a:rPr lang="en-US" sz="1400" dirty="0">
                <a:solidFill>
                  <a:srgbClr val="18222B"/>
                </a:solidFill>
                <a:latin typeface="Calibri" pitchFamily="34" charset="0"/>
                <a:ea typeface="Calibri" pitchFamily="34" charset="-122"/>
                <a:cs typeface="Calibri" pitchFamily="34" charset="-120"/>
              </a:rPr>
              <a:t>Promises not matched</a:t>
            </a:r>
            <a:endParaRPr lang="en-US" sz="2600" dirty="0"/>
          </a:p>
        </p:txBody>
      </p:sp>
      <p:sp>
        <p:nvSpPr>
          <p:cNvPr id="22" name="Text 20"/>
          <p:cNvSpPr txBox="1"/>
          <p:nvPr/>
        </p:nvSpPr>
        <p:spPr>
          <a:xfrm>
            <a:off x="8869680" y="5257800"/>
            <a:ext cx="2423160" cy="731520"/>
          </a:xfrm>
          <a:prstGeom prst="rect">
            <a:avLst/>
          </a:prstGeom>
          <a:noFill/>
          <a:ln/>
        </p:spPr>
        <p:txBody>
          <a:bodyPr wrap="square" lIns="0" tIns="0" rIns="0" bIns="0" rtlCol="0" anchor="t"/>
          <a:lstStyle/>
          <a:p>
            <a:pPr indent="0" marL="0">
              <a:buNone/>
            </a:pPr>
            <a:r>
              <a:rPr lang="en-US" sz="1200" i="1" dirty="0">
                <a:solidFill>
                  <a:srgbClr val="7A2A1C"/>
                </a:solidFill>
                <a:latin typeface="Calibri" pitchFamily="34" charset="0"/>
                <a:ea typeface="Calibri" pitchFamily="34" charset="-122"/>
                <a:cs typeface="Calibri" pitchFamily="34" charset="-120"/>
              </a:rPr>
              <a:t>OwnNow is the only product where “Talks nice, doesn’t deliver” is the top pick for Everest’s personality.</a:t>
            </a:r>
            <a:endParaRPr lang="en-US" sz="1200" dirty="0"/>
          </a:p>
        </p:txBody>
      </p:sp>
      <p:sp>
        <p:nvSpPr>
          <p:cNvPr id="23"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Staff and pay drive exits equally. Staff exits hurt more</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Inactive drivers (278)</a:t>
            </a:r>
            <a:endParaRPr lang="en-US" sz="1600" dirty="0"/>
          </a:p>
        </p:txBody>
      </p:sp>
      <p:sp>
        <p:nvSpPr>
          <p:cNvPr id="4" name="Text 2"/>
          <p:cNvSpPr txBox="1"/>
          <p:nvPr/>
        </p:nvSpPr>
        <p:spPr>
          <a:xfrm>
            <a:off x="548640" y="1691640"/>
            <a:ext cx="585216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Primary reason for leaving</a:t>
            </a:r>
            <a:endParaRPr lang="en-US" sz="1600" dirty="0"/>
          </a:p>
        </p:txBody>
      </p:sp>
      <p:sp>
        <p:nvSpPr>
          <p:cNvPr id="5" name="Text 3"/>
          <p:cNvSpPr txBox="1"/>
          <p:nvPr/>
        </p:nvSpPr>
        <p:spPr>
          <a:xfrm>
            <a:off x="548640" y="214884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Staff or management behaviour</a:t>
            </a:r>
            <a:endParaRPr lang="en-US" sz="1300" dirty="0"/>
          </a:p>
        </p:txBody>
      </p:sp>
      <p:sp>
        <p:nvSpPr>
          <p:cNvPr id="6" name="Shape 4"/>
          <p:cNvSpPr/>
          <p:nvPr/>
        </p:nvSpPr>
        <p:spPr>
          <a:xfrm>
            <a:off x="3383280" y="2209190"/>
            <a:ext cx="2194560" cy="281635"/>
          </a:xfrm>
          <a:prstGeom prst="rect">
            <a:avLst/>
          </a:prstGeom>
          <a:solidFill>
            <a:srgbClr val="D9432B"/>
          </a:solidFill>
          <a:ln w="12700">
            <a:solidFill>
              <a:srgbClr val="D9432B"/>
            </a:solidFill>
            <a:prstDash val="solid"/>
          </a:ln>
        </p:spPr>
      </p:sp>
      <p:sp>
        <p:nvSpPr>
          <p:cNvPr id="7" name="Text 5"/>
          <p:cNvSpPr txBox="1"/>
          <p:nvPr/>
        </p:nvSpPr>
        <p:spPr>
          <a:xfrm>
            <a:off x="5650992" y="214884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21%</a:t>
            </a:r>
            <a:endParaRPr lang="en-US" sz="1300" dirty="0"/>
          </a:p>
        </p:txBody>
      </p:sp>
      <p:sp>
        <p:nvSpPr>
          <p:cNvPr id="8" name="Text 6"/>
          <p:cNvSpPr txBox="1"/>
          <p:nvPr/>
        </p:nvSpPr>
        <p:spPr>
          <a:xfrm>
            <a:off x="548640" y="265176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Pay / earnings dissatisfaction</a:t>
            </a:r>
            <a:endParaRPr lang="en-US" sz="1300" dirty="0"/>
          </a:p>
        </p:txBody>
      </p:sp>
      <p:sp>
        <p:nvSpPr>
          <p:cNvPr id="9" name="Shape 7"/>
          <p:cNvSpPr/>
          <p:nvPr/>
        </p:nvSpPr>
        <p:spPr>
          <a:xfrm>
            <a:off x="3383280" y="2712110"/>
            <a:ext cx="2194560" cy="281635"/>
          </a:xfrm>
          <a:prstGeom prst="rect">
            <a:avLst/>
          </a:prstGeom>
          <a:solidFill>
            <a:srgbClr val="5E7481"/>
          </a:solidFill>
          <a:ln w="12700">
            <a:solidFill>
              <a:srgbClr val="5E7481"/>
            </a:solidFill>
            <a:prstDash val="solid"/>
          </a:ln>
        </p:spPr>
      </p:sp>
      <p:sp>
        <p:nvSpPr>
          <p:cNvPr id="10" name="Text 8"/>
          <p:cNvSpPr txBox="1"/>
          <p:nvPr/>
        </p:nvSpPr>
        <p:spPr>
          <a:xfrm>
            <a:off x="5650992" y="265176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21%</a:t>
            </a:r>
            <a:endParaRPr lang="en-US" sz="1300" dirty="0"/>
          </a:p>
        </p:txBody>
      </p:sp>
      <p:sp>
        <p:nvSpPr>
          <p:cNvPr id="11" name="Text 9"/>
          <p:cNvSpPr txBox="1"/>
          <p:nvPr/>
        </p:nvSpPr>
        <p:spPr>
          <a:xfrm>
            <a:off x="548640" y="315468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Promised didn't match reality</a:t>
            </a:r>
            <a:endParaRPr lang="en-US" sz="1300" dirty="0"/>
          </a:p>
        </p:txBody>
      </p:sp>
      <p:sp>
        <p:nvSpPr>
          <p:cNvPr id="12" name="Shape 10"/>
          <p:cNvSpPr/>
          <p:nvPr/>
        </p:nvSpPr>
        <p:spPr>
          <a:xfrm>
            <a:off x="3383280" y="3215030"/>
            <a:ext cx="1776549" cy="281635"/>
          </a:xfrm>
          <a:prstGeom prst="rect">
            <a:avLst/>
          </a:prstGeom>
          <a:solidFill>
            <a:srgbClr val="5E7481"/>
          </a:solidFill>
          <a:ln w="12700">
            <a:solidFill>
              <a:srgbClr val="5E7481"/>
            </a:solidFill>
            <a:prstDash val="solid"/>
          </a:ln>
        </p:spPr>
      </p:sp>
      <p:sp>
        <p:nvSpPr>
          <p:cNvPr id="13" name="Text 11"/>
          <p:cNvSpPr txBox="1"/>
          <p:nvPr/>
        </p:nvSpPr>
        <p:spPr>
          <a:xfrm>
            <a:off x="5232981" y="315468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17%</a:t>
            </a:r>
            <a:endParaRPr lang="en-US" sz="1300" dirty="0"/>
          </a:p>
        </p:txBody>
      </p:sp>
      <p:sp>
        <p:nvSpPr>
          <p:cNvPr id="14" name="Text 12"/>
          <p:cNvSpPr txBox="1"/>
          <p:nvPr/>
        </p:nvSpPr>
        <p:spPr>
          <a:xfrm>
            <a:off x="548640" y="365760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Personal reasons</a:t>
            </a:r>
            <a:endParaRPr lang="en-US" sz="1300" dirty="0"/>
          </a:p>
        </p:txBody>
      </p:sp>
      <p:sp>
        <p:nvSpPr>
          <p:cNvPr id="15" name="Shape 13"/>
          <p:cNvSpPr/>
          <p:nvPr/>
        </p:nvSpPr>
        <p:spPr>
          <a:xfrm>
            <a:off x="3383280" y="3717950"/>
            <a:ext cx="1045029" cy="281635"/>
          </a:xfrm>
          <a:prstGeom prst="rect">
            <a:avLst/>
          </a:prstGeom>
          <a:solidFill>
            <a:srgbClr val="B7C0C7"/>
          </a:solidFill>
          <a:ln w="12700">
            <a:solidFill>
              <a:srgbClr val="B7C0C7"/>
            </a:solidFill>
            <a:prstDash val="solid"/>
          </a:ln>
        </p:spPr>
      </p:sp>
      <p:sp>
        <p:nvSpPr>
          <p:cNvPr id="16" name="Text 14"/>
          <p:cNvSpPr txBox="1"/>
          <p:nvPr/>
        </p:nvSpPr>
        <p:spPr>
          <a:xfrm>
            <a:off x="4501461" y="365760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10%</a:t>
            </a:r>
            <a:endParaRPr lang="en-US" sz="1300" dirty="0"/>
          </a:p>
        </p:txBody>
      </p:sp>
      <p:sp>
        <p:nvSpPr>
          <p:cNvPr id="17" name="Text 15"/>
          <p:cNvSpPr txBox="1"/>
          <p:nvPr/>
        </p:nvSpPr>
        <p:spPr>
          <a:xfrm>
            <a:off x="548640" y="416052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Vehicle or garage issues</a:t>
            </a:r>
            <a:endParaRPr lang="en-US" sz="1300" dirty="0"/>
          </a:p>
        </p:txBody>
      </p:sp>
      <p:sp>
        <p:nvSpPr>
          <p:cNvPr id="18" name="Shape 16"/>
          <p:cNvSpPr/>
          <p:nvPr/>
        </p:nvSpPr>
        <p:spPr>
          <a:xfrm>
            <a:off x="3383280" y="4220870"/>
            <a:ext cx="836023" cy="281635"/>
          </a:xfrm>
          <a:prstGeom prst="rect">
            <a:avLst/>
          </a:prstGeom>
          <a:solidFill>
            <a:srgbClr val="B7C0C7"/>
          </a:solidFill>
          <a:ln w="12700">
            <a:solidFill>
              <a:srgbClr val="B7C0C7"/>
            </a:solidFill>
            <a:prstDash val="solid"/>
          </a:ln>
        </p:spPr>
      </p:sp>
      <p:sp>
        <p:nvSpPr>
          <p:cNvPr id="19" name="Text 17"/>
          <p:cNvSpPr txBox="1"/>
          <p:nvPr/>
        </p:nvSpPr>
        <p:spPr>
          <a:xfrm>
            <a:off x="4292455" y="416052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8%</a:t>
            </a:r>
            <a:endParaRPr lang="en-US" sz="1300" dirty="0"/>
          </a:p>
        </p:txBody>
      </p:sp>
      <p:sp>
        <p:nvSpPr>
          <p:cNvPr id="20" name="Text 18"/>
          <p:cNvSpPr txBox="1"/>
          <p:nvPr/>
        </p:nvSpPr>
        <p:spPr>
          <a:xfrm>
            <a:off x="548640" y="466344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Account or earnings blocked</a:t>
            </a:r>
            <a:endParaRPr lang="en-US" sz="1300" dirty="0"/>
          </a:p>
        </p:txBody>
      </p:sp>
      <p:sp>
        <p:nvSpPr>
          <p:cNvPr id="21" name="Shape 19"/>
          <p:cNvSpPr/>
          <p:nvPr/>
        </p:nvSpPr>
        <p:spPr>
          <a:xfrm>
            <a:off x="3383280" y="4723790"/>
            <a:ext cx="522514" cy="281635"/>
          </a:xfrm>
          <a:prstGeom prst="rect">
            <a:avLst/>
          </a:prstGeom>
          <a:solidFill>
            <a:srgbClr val="B7C0C7"/>
          </a:solidFill>
          <a:ln w="12700">
            <a:solidFill>
              <a:srgbClr val="B7C0C7"/>
            </a:solidFill>
            <a:prstDash val="solid"/>
          </a:ln>
        </p:spPr>
      </p:sp>
      <p:sp>
        <p:nvSpPr>
          <p:cNvPr id="22" name="Text 20"/>
          <p:cNvSpPr txBox="1"/>
          <p:nvPr/>
        </p:nvSpPr>
        <p:spPr>
          <a:xfrm>
            <a:off x="3978946" y="466344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548640" y="5166360"/>
            <a:ext cx="2697480" cy="402336"/>
          </a:xfrm>
          <a:prstGeom prst="rect">
            <a:avLst/>
          </a:prstGeom>
          <a:noFill/>
          <a:ln/>
        </p:spPr>
        <p:txBody>
          <a:bodyPr wrap="square" lIns="0" tIns="0" rIns="0" bIns="0" rtlCol="0" anchor="ctr"/>
          <a:lstStyle/>
          <a:p>
            <a:pPr algn="r" indent="0" marL="0">
              <a:buNone/>
            </a:pPr>
            <a:r>
              <a:rPr lang="en-US" sz="1300" dirty="0">
                <a:solidFill>
                  <a:srgbClr val="18222B"/>
                </a:solidFill>
                <a:latin typeface="Calibri" pitchFamily="34" charset="0"/>
                <a:ea typeface="Calibri" pitchFamily="34" charset="-122"/>
                <a:cs typeface="Calibri" pitchFamily="34" charset="-120"/>
              </a:rPr>
              <a:t>Better opportunity elsewhere</a:t>
            </a:r>
            <a:endParaRPr lang="en-US" sz="1300" dirty="0"/>
          </a:p>
        </p:txBody>
      </p:sp>
      <p:sp>
        <p:nvSpPr>
          <p:cNvPr id="24" name="Shape 22"/>
          <p:cNvSpPr/>
          <p:nvPr/>
        </p:nvSpPr>
        <p:spPr>
          <a:xfrm>
            <a:off x="3383280" y="5226710"/>
            <a:ext cx="313509" cy="281635"/>
          </a:xfrm>
          <a:prstGeom prst="rect">
            <a:avLst/>
          </a:prstGeom>
          <a:solidFill>
            <a:srgbClr val="B7C0C7"/>
          </a:solidFill>
          <a:ln w="12700">
            <a:solidFill>
              <a:srgbClr val="B7C0C7"/>
            </a:solidFill>
            <a:prstDash val="solid"/>
          </a:ln>
        </p:spPr>
      </p:sp>
      <p:sp>
        <p:nvSpPr>
          <p:cNvPr id="25" name="Text 23"/>
          <p:cNvSpPr txBox="1"/>
          <p:nvPr/>
        </p:nvSpPr>
        <p:spPr>
          <a:xfrm>
            <a:off x="3769941" y="5166360"/>
            <a:ext cx="822960" cy="402336"/>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3%</a:t>
            </a:r>
            <a:endParaRPr lang="en-US" sz="1300" dirty="0"/>
          </a:p>
        </p:txBody>
      </p:sp>
      <p:sp>
        <p:nvSpPr>
          <p:cNvPr id="26" name="Text 24"/>
          <p:cNvSpPr txBox="1"/>
          <p:nvPr/>
        </p:nvSpPr>
        <p:spPr>
          <a:xfrm>
            <a:off x="548640" y="5715000"/>
            <a:ext cx="5486400" cy="274320"/>
          </a:xfrm>
          <a:prstGeom prst="rect">
            <a:avLst/>
          </a:prstGeom>
          <a:noFill/>
          <a:ln/>
        </p:spPr>
        <p:txBody>
          <a:bodyPr wrap="square" lIns="0" tIns="0" rIns="0" bIns="0" rtlCol="0" anchor="t"/>
          <a:lstStyle/>
          <a:p>
            <a:pPr indent="0" marL="0">
              <a:buNone/>
            </a:pPr>
            <a:r>
              <a:rPr lang="en-US" sz="1100" dirty="0">
                <a:solidFill>
                  <a:srgbClr val="8A959E"/>
                </a:solidFill>
                <a:latin typeface="Calibri" pitchFamily="34" charset="0"/>
                <a:ea typeface="Calibri" pitchFamily="34" charset="-122"/>
                <a:cs typeface="Calibri" pitchFamily="34" charset="-120"/>
              </a:rPr>
              <a:t>14% typed their own reason.</a:t>
            </a:r>
            <a:endParaRPr lang="en-US" sz="1100" dirty="0"/>
          </a:p>
        </p:txBody>
      </p:sp>
      <p:sp>
        <p:nvSpPr>
          <p:cNvPr id="27" name="Shape 25"/>
          <p:cNvSpPr/>
          <p:nvPr/>
        </p:nvSpPr>
        <p:spPr>
          <a:xfrm>
            <a:off x="6675120" y="1783080"/>
            <a:ext cx="4967935" cy="1737360"/>
          </a:xfrm>
          <a:prstGeom prst="roundRect">
            <a:avLst>
              <a:gd name="adj" fmla="val 4211"/>
            </a:avLst>
          </a:prstGeom>
          <a:solidFill>
            <a:srgbClr val="F6D9D3"/>
          </a:solidFill>
          <a:ln w="12700">
            <a:solidFill>
              <a:srgbClr val="F6D9D3"/>
            </a:solidFill>
            <a:prstDash val="solid"/>
          </a:ln>
        </p:spPr>
      </p:sp>
      <p:sp>
        <p:nvSpPr>
          <p:cNvPr id="28" name="Text 26"/>
          <p:cNvSpPr txBox="1"/>
          <p:nvPr/>
        </p:nvSpPr>
        <p:spPr>
          <a:xfrm>
            <a:off x="6903720" y="1920240"/>
            <a:ext cx="4510735" cy="32004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Recommend score of leavers (0 to 10)</a:t>
            </a:r>
            <a:endParaRPr lang="en-US" sz="1400" dirty="0"/>
          </a:p>
        </p:txBody>
      </p:sp>
      <p:sp>
        <p:nvSpPr>
          <p:cNvPr id="29" name="Text 27"/>
          <p:cNvSpPr txBox="1"/>
          <p:nvPr/>
        </p:nvSpPr>
        <p:spPr>
          <a:xfrm>
            <a:off x="6903720" y="2286000"/>
            <a:ext cx="1463040" cy="640080"/>
          </a:xfrm>
          <a:prstGeom prst="rect">
            <a:avLst/>
          </a:prstGeom>
          <a:noFill/>
          <a:ln/>
        </p:spPr>
        <p:txBody>
          <a:bodyPr wrap="square" lIns="0" tIns="0" rIns="0" bIns="0" rtlCol="0" anchor="t"/>
          <a:lstStyle/>
          <a:p>
            <a:pPr indent="0" marL="0">
              <a:buNone/>
            </a:pPr>
            <a:r>
              <a:rPr lang="en-US" sz="3200" b="1" dirty="0">
                <a:solidFill>
                  <a:srgbClr val="D9432B"/>
                </a:solidFill>
                <a:latin typeface="Cambria" pitchFamily="34" charset="0"/>
                <a:ea typeface="Cambria" pitchFamily="34" charset="-122"/>
                <a:cs typeface="Cambria" pitchFamily="34" charset="-120"/>
              </a:rPr>
              <a:t>2.3</a:t>
            </a:r>
            <a:endParaRPr lang="en-US" sz="3200" dirty="0"/>
          </a:p>
        </p:txBody>
      </p:sp>
      <p:sp>
        <p:nvSpPr>
          <p:cNvPr id="30" name="Text 28"/>
          <p:cNvSpPr txBox="1"/>
          <p:nvPr/>
        </p:nvSpPr>
        <p:spPr>
          <a:xfrm>
            <a:off x="6903720" y="2926080"/>
            <a:ext cx="1463040" cy="45720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left over staff</a:t>
            </a:r>
            <a:endParaRPr lang="en-US" sz="1200" dirty="0"/>
          </a:p>
        </p:txBody>
      </p:sp>
      <p:sp>
        <p:nvSpPr>
          <p:cNvPr id="31" name="Text 29"/>
          <p:cNvSpPr txBox="1"/>
          <p:nvPr/>
        </p:nvSpPr>
        <p:spPr>
          <a:xfrm>
            <a:off x="8503920" y="2286000"/>
            <a:ext cx="1463040" cy="640080"/>
          </a:xfrm>
          <a:prstGeom prst="rect">
            <a:avLst/>
          </a:prstGeom>
          <a:noFill/>
          <a:ln/>
        </p:spPr>
        <p:txBody>
          <a:bodyPr wrap="square" lIns="0" tIns="0" rIns="0" bIns="0" rtlCol="0" anchor="t"/>
          <a:lstStyle/>
          <a:p>
            <a:pPr indent="0" marL="0">
              <a:buNone/>
            </a:pPr>
            <a:r>
              <a:rPr lang="en-US" sz="3200" b="1" dirty="0">
                <a:solidFill>
                  <a:srgbClr val="18222B"/>
                </a:solidFill>
                <a:latin typeface="Cambria" pitchFamily="34" charset="0"/>
                <a:ea typeface="Cambria" pitchFamily="34" charset="-122"/>
                <a:cs typeface="Cambria" pitchFamily="34" charset="-120"/>
              </a:rPr>
              <a:t>2.9</a:t>
            </a:r>
            <a:endParaRPr lang="en-US" sz="3200" dirty="0"/>
          </a:p>
        </p:txBody>
      </p:sp>
      <p:sp>
        <p:nvSpPr>
          <p:cNvPr id="32" name="Text 30"/>
          <p:cNvSpPr txBox="1"/>
          <p:nvPr/>
        </p:nvSpPr>
        <p:spPr>
          <a:xfrm>
            <a:off x="8503920" y="2926080"/>
            <a:ext cx="1463040" cy="45720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left over pay</a:t>
            </a:r>
            <a:endParaRPr lang="en-US" sz="1200" dirty="0"/>
          </a:p>
        </p:txBody>
      </p:sp>
      <p:sp>
        <p:nvSpPr>
          <p:cNvPr id="33" name="Text 31"/>
          <p:cNvSpPr txBox="1"/>
          <p:nvPr/>
        </p:nvSpPr>
        <p:spPr>
          <a:xfrm>
            <a:off x="10104120" y="2286000"/>
            <a:ext cx="1463040" cy="640080"/>
          </a:xfrm>
          <a:prstGeom prst="rect">
            <a:avLst/>
          </a:prstGeom>
          <a:noFill/>
          <a:ln/>
        </p:spPr>
        <p:txBody>
          <a:bodyPr wrap="square" lIns="0" tIns="0" rIns="0" bIns="0" rtlCol="0" anchor="t"/>
          <a:lstStyle/>
          <a:p>
            <a:pPr indent="0" marL="0">
              <a:buNone/>
            </a:pPr>
            <a:r>
              <a:rPr lang="en-US" sz="3200" b="1" dirty="0">
                <a:solidFill>
                  <a:srgbClr val="1F7A70"/>
                </a:solidFill>
                <a:latin typeface="Cambria" pitchFamily="34" charset="0"/>
                <a:ea typeface="Cambria" pitchFamily="34" charset="-122"/>
                <a:cs typeface="Cambria" pitchFamily="34" charset="-120"/>
              </a:rPr>
              <a:t>6.1</a:t>
            </a:r>
            <a:endParaRPr lang="en-US" sz="3200" dirty="0"/>
          </a:p>
        </p:txBody>
      </p:sp>
      <p:sp>
        <p:nvSpPr>
          <p:cNvPr id="34" name="Text 32"/>
          <p:cNvSpPr txBox="1"/>
          <p:nvPr/>
        </p:nvSpPr>
        <p:spPr>
          <a:xfrm>
            <a:off x="10104120" y="2926080"/>
            <a:ext cx="1463040" cy="457200"/>
          </a:xfrm>
          <a:prstGeom prst="rect">
            <a:avLst/>
          </a:prstGeom>
          <a:noFill/>
          <a:ln/>
        </p:spPr>
        <p:txBody>
          <a:bodyPr wrap="square" lIns="0" tIns="0" rIns="0" bIns="0" rtlCol="0" anchor="t"/>
          <a:lstStyle/>
          <a:p>
            <a:pPr indent="0" marL="0">
              <a:buNone/>
            </a:pPr>
            <a:r>
              <a:rPr lang="en-US" sz="1200" dirty="0">
                <a:solidFill>
                  <a:srgbClr val="56636E"/>
                </a:solidFill>
                <a:latin typeface="Calibri" pitchFamily="34" charset="0"/>
                <a:ea typeface="Calibri" pitchFamily="34" charset="-122"/>
                <a:cs typeface="Calibri" pitchFamily="34" charset="-120"/>
              </a:rPr>
              <a:t>left for personal reasons</a:t>
            </a:r>
            <a:endParaRPr lang="en-US" sz="1200" dirty="0"/>
          </a:p>
        </p:txBody>
      </p:sp>
      <p:sp>
        <p:nvSpPr>
          <p:cNvPr id="35" name="Shape 33"/>
          <p:cNvSpPr/>
          <p:nvPr/>
        </p:nvSpPr>
        <p:spPr>
          <a:xfrm>
            <a:off x="6675120" y="3703320"/>
            <a:ext cx="4967935" cy="2468880"/>
          </a:xfrm>
          <a:prstGeom prst="roundRect">
            <a:avLst>
              <a:gd name="adj" fmla="val 2963"/>
            </a:avLst>
          </a:prstGeom>
          <a:solidFill>
            <a:srgbClr val="F1F3F5"/>
          </a:solidFill>
          <a:ln w="12700">
            <a:solidFill>
              <a:srgbClr val="F1F3F5"/>
            </a:solidFill>
            <a:prstDash val="solid"/>
          </a:ln>
        </p:spPr>
      </p:sp>
      <p:sp>
        <p:nvSpPr>
          <p:cNvPr id="36" name="Text 34"/>
          <p:cNvSpPr txBox="1"/>
          <p:nvPr/>
        </p:nvSpPr>
        <p:spPr>
          <a:xfrm>
            <a:off x="6903720" y="3840480"/>
            <a:ext cx="4510735" cy="320040"/>
          </a:xfrm>
          <a:prstGeom prst="rect">
            <a:avLst/>
          </a:prstGeom>
          <a:noFill/>
          <a:ln/>
        </p:spPr>
        <p:txBody>
          <a:bodyPr wrap="square" lIns="0" tIns="0" rIns="0" bIns="0" rtlCol="0" anchor="t"/>
          <a:lstStyle/>
          <a:p>
            <a:pPr indent="0" marL="0">
              <a:buNone/>
            </a:pPr>
            <a:r>
              <a:rPr lang="en-US" sz="1400" b="1" dirty="0">
                <a:solidFill>
                  <a:srgbClr val="18222B"/>
                </a:solidFill>
                <a:latin typeface="Calibri" pitchFamily="34" charset="0"/>
                <a:ea typeface="Calibri" pitchFamily="34" charset="-122"/>
                <a:cs typeface="Calibri" pitchFamily="34" charset="-120"/>
              </a:rPr>
              <a:t>How leavers feel now</a:t>
            </a:r>
            <a:endParaRPr lang="en-US" sz="1400" dirty="0"/>
          </a:p>
        </p:txBody>
      </p:sp>
      <p:sp>
        <p:nvSpPr>
          <p:cNvPr id="37" name="Text 35"/>
          <p:cNvSpPr txBox="1"/>
          <p:nvPr/>
        </p:nvSpPr>
        <p:spPr>
          <a:xfrm>
            <a:off x="6903720" y="4224528"/>
            <a:ext cx="822960" cy="365760"/>
          </a:xfrm>
          <a:prstGeom prst="rect">
            <a:avLst/>
          </a:prstGeom>
          <a:noFill/>
          <a:ln/>
        </p:spPr>
        <p:txBody>
          <a:bodyPr wrap="square" lIns="0" tIns="0" rIns="0" bIns="0" rtlCol="0" anchor="ctr"/>
          <a:lstStyle/>
          <a:p>
            <a:pPr indent="0" marL="0">
              <a:buNone/>
            </a:pPr>
            <a:r>
              <a:rPr lang="en-US" sz="1800" b="1" dirty="0">
                <a:solidFill>
                  <a:srgbClr val="D9432B"/>
                </a:solidFill>
                <a:latin typeface="Cambria" pitchFamily="34" charset="0"/>
                <a:ea typeface="Cambria" pitchFamily="34" charset="-122"/>
                <a:cs typeface="Cambria" pitchFamily="34" charset="-120"/>
              </a:rPr>
              <a:t>40%</a:t>
            </a:r>
            <a:endParaRPr lang="en-US" sz="1800" dirty="0"/>
          </a:p>
        </p:txBody>
      </p:sp>
      <p:sp>
        <p:nvSpPr>
          <p:cNvPr id="38" name="Text 36"/>
          <p:cNvSpPr txBox="1"/>
          <p:nvPr/>
        </p:nvSpPr>
        <p:spPr>
          <a:xfrm>
            <a:off x="7726680" y="4224528"/>
            <a:ext cx="3687775" cy="36576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Still frustrated about how it ended</a:t>
            </a:r>
            <a:endParaRPr lang="en-US" sz="1300" dirty="0"/>
          </a:p>
        </p:txBody>
      </p:sp>
      <p:sp>
        <p:nvSpPr>
          <p:cNvPr id="39" name="Text 37"/>
          <p:cNvSpPr txBox="1"/>
          <p:nvPr/>
        </p:nvSpPr>
        <p:spPr>
          <a:xfrm>
            <a:off x="6903720" y="4608576"/>
            <a:ext cx="822960" cy="365760"/>
          </a:xfrm>
          <a:prstGeom prst="rect">
            <a:avLst/>
          </a:prstGeom>
          <a:noFill/>
          <a:ln/>
        </p:spPr>
        <p:txBody>
          <a:bodyPr wrap="square" lIns="0" tIns="0" rIns="0" bIns="0" rtlCol="0" anchor="ctr"/>
          <a:lstStyle/>
          <a:p>
            <a:pPr indent="0" marL="0">
              <a:buNone/>
            </a:pPr>
            <a:r>
              <a:rPr lang="en-US" sz="1800" b="1" dirty="0">
                <a:solidFill>
                  <a:srgbClr val="18222B"/>
                </a:solidFill>
                <a:latin typeface="Cambria" pitchFamily="34" charset="0"/>
                <a:ea typeface="Cambria" pitchFamily="34" charset="-122"/>
                <a:cs typeface="Cambria" pitchFamily="34" charset="-120"/>
              </a:rPr>
              <a:t>22%</a:t>
            </a:r>
            <a:endParaRPr lang="en-US" sz="1800" dirty="0"/>
          </a:p>
        </p:txBody>
      </p:sp>
      <p:sp>
        <p:nvSpPr>
          <p:cNvPr id="40" name="Text 38"/>
          <p:cNvSpPr txBox="1"/>
          <p:nvPr/>
        </p:nvSpPr>
        <p:spPr>
          <a:xfrm>
            <a:off x="7726680" y="4608576"/>
            <a:ext cx="3687775" cy="36576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Relieved</a:t>
            </a:r>
            <a:endParaRPr lang="en-US" sz="1300" dirty="0"/>
          </a:p>
        </p:txBody>
      </p:sp>
      <p:sp>
        <p:nvSpPr>
          <p:cNvPr id="41" name="Text 39"/>
          <p:cNvSpPr txBox="1"/>
          <p:nvPr/>
        </p:nvSpPr>
        <p:spPr>
          <a:xfrm>
            <a:off x="6903720" y="4992624"/>
            <a:ext cx="822960" cy="365760"/>
          </a:xfrm>
          <a:prstGeom prst="rect">
            <a:avLst/>
          </a:prstGeom>
          <a:noFill/>
          <a:ln/>
        </p:spPr>
        <p:txBody>
          <a:bodyPr wrap="square" lIns="0" tIns="0" rIns="0" bIns="0" rtlCol="0" anchor="ctr"/>
          <a:lstStyle/>
          <a:p>
            <a:pPr indent="0" marL="0">
              <a:buNone/>
            </a:pPr>
            <a:r>
              <a:rPr lang="en-US" sz="1800" b="1" dirty="0">
                <a:solidFill>
                  <a:srgbClr val="18222B"/>
                </a:solidFill>
                <a:latin typeface="Cambria" pitchFamily="34" charset="0"/>
                <a:ea typeface="Cambria" pitchFamily="34" charset="-122"/>
                <a:cs typeface="Cambria" pitchFamily="34" charset="-120"/>
              </a:rPr>
              <a:t>19%</a:t>
            </a:r>
            <a:endParaRPr lang="en-US" sz="1800" dirty="0"/>
          </a:p>
        </p:txBody>
      </p:sp>
      <p:sp>
        <p:nvSpPr>
          <p:cNvPr id="42" name="Text 40"/>
          <p:cNvSpPr txBox="1"/>
          <p:nvPr/>
        </p:nvSpPr>
        <p:spPr>
          <a:xfrm>
            <a:off x="7726680" y="4992624"/>
            <a:ext cx="3687775" cy="36576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Regretful</a:t>
            </a:r>
            <a:endParaRPr lang="en-US" sz="1300" dirty="0"/>
          </a:p>
        </p:txBody>
      </p:sp>
      <p:sp>
        <p:nvSpPr>
          <p:cNvPr id="43" name="Text 41"/>
          <p:cNvSpPr txBox="1"/>
          <p:nvPr/>
        </p:nvSpPr>
        <p:spPr>
          <a:xfrm>
            <a:off x="6903720" y="5376672"/>
            <a:ext cx="822960" cy="365760"/>
          </a:xfrm>
          <a:prstGeom prst="rect">
            <a:avLst/>
          </a:prstGeom>
          <a:noFill/>
          <a:ln/>
        </p:spPr>
        <p:txBody>
          <a:bodyPr wrap="square" lIns="0" tIns="0" rIns="0" bIns="0" rtlCol="0" anchor="ctr"/>
          <a:lstStyle/>
          <a:p>
            <a:pPr indent="0" marL="0">
              <a:buNone/>
            </a:pPr>
            <a:r>
              <a:rPr lang="en-US" sz="1800" b="1" dirty="0">
                <a:solidFill>
                  <a:srgbClr val="18222B"/>
                </a:solidFill>
                <a:latin typeface="Cambria" pitchFamily="34" charset="0"/>
                <a:ea typeface="Cambria" pitchFamily="34" charset="-122"/>
                <a:cs typeface="Cambria" pitchFamily="34" charset="-120"/>
              </a:rPr>
              <a:t>16%</a:t>
            </a:r>
            <a:endParaRPr lang="en-US" sz="1800" dirty="0"/>
          </a:p>
        </p:txBody>
      </p:sp>
      <p:sp>
        <p:nvSpPr>
          <p:cNvPr id="44" name="Text 42"/>
          <p:cNvSpPr txBox="1"/>
          <p:nvPr/>
        </p:nvSpPr>
        <p:spPr>
          <a:xfrm>
            <a:off x="7726680" y="5376672"/>
            <a:ext cx="3687775" cy="365760"/>
          </a:xfrm>
          <a:prstGeom prst="rect">
            <a:avLst/>
          </a:prstGeom>
          <a:noFill/>
          <a:ln/>
        </p:spPr>
        <p:txBody>
          <a:bodyPr wrap="square" lIns="0" tIns="0" rIns="0" bIns="0" rtlCol="0" anchor="ctr"/>
          <a:lstStyle/>
          <a:p>
            <a:pPr indent="0" marL="0">
              <a:buNone/>
            </a:pPr>
            <a:r>
              <a:rPr lang="en-US" sz="1300" dirty="0">
                <a:solidFill>
                  <a:srgbClr val="18222B"/>
                </a:solidFill>
                <a:latin typeface="Calibri" pitchFamily="34" charset="0"/>
                <a:ea typeface="Calibri" pitchFamily="34" charset="-122"/>
                <a:cs typeface="Calibri" pitchFamily="34" charset="-120"/>
              </a:rPr>
              <a:t>Neutral</a:t>
            </a:r>
            <a:endParaRPr lang="en-US" sz="1300" dirty="0"/>
          </a:p>
        </p:txBody>
      </p:sp>
      <p:sp>
        <p:nvSpPr>
          <p:cNvPr id="45" name="Text 43"/>
          <p:cNvSpPr txBox="1"/>
          <p:nvPr/>
        </p:nvSpPr>
        <p:spPr>
          <a:xfrm>
            <a:off x="6903720" y="5760720"/>
            <a:ext cx="4510735" cy="365760"/>
          </a:xfrm>
          <a:prstGeom prst="rect">
            <a:avLst/>
          </a:prstGeom>
          <a:noFill/>
          <a:ln/>
        </p:spPr>
        <p:txBody>
          <a:bodyPr wrap="square" lIns="0" tIns="0" rIns="0" bIns="0" rtlCol="0" anchor="t"/>
          <a:lstStyle/>
          <a:p>
            <a:pPr indent="0" marL="0">
              <a:buNone/>
            </a:pPr>
            <a:r>
              <a:rPr lang="en-US" sz="1200" i="1" dirty="0">
                <a:solidFill>
                  <a:srgbClr val="56636E"/>
                </a:solidFill>
                <a:latin typeface="Calibri" pitchFamily="34" charset="0"/>
                <a:ea typeface="Calibri" pitchFamily="34" charset="-122"/>
                <a:cs typeface="Calibri" pitchFamily="34" charset="-120"/>
              </a:rPr>
              <a:t>Relieved leavers score as low on Recommend (1.9) as frustrated ones (1.8).</a:t>
            </a:r>
            <a:endParaRPr lang="en-US" sz="1200" dirty="0"/>
          </a:p>
        </p:txBody>
      </p:sp>
      <p:sp>
        <p:nvSpPr>
          <p:cNvPr id="46" name="Text 4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18222B"/>
                </a:solidFill>
                <a:latin typeface="Cambria" pitchFamily="34" charset="0"/>
                <a:ea typeface="Cambria" pitchFamily="34" charset="-122"/>
                <a:cs typeface="Cambria" pitchFamily="34" charset="-120"/>
              </a:rPr>
              <a:t>More leavers are idle than at a rival, and 58% would return</a:t>
            </a:r>
            <a:endParaRPr lang="en-US" sz="3200" dirty="0"/>
          </a:p>
        </p:txBody>
      </p:sp>
      <p:sp>
        <p:nvSpPr>
          <p:cNvPr id="3" name="Text 1"/>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36E"/>
                </a:solidFill>
                <a:latin typeface="Calibri" pitchFamily="34" charset="0"/>
                <a:ea typeface="Calibri" pitchFamily="34" charset="-122"/>
                <a:cs typeface="Calibri" pitchFamily="34" charset="-120"/>
              </a:rPr>
              <a:t>Inactive drivers (278)</a:t>
            </a:r>
            <a:endParaRPr lang="en-US" sz="1600" dirty="0"/>
          </a:p>
        </p:txBody>
      </p:sp>
      <p:sp>
        <p:nvSpPr>
          <p:cNvPr id="4" name="Text 2"/>
          <p:cNvSpPr txBox="1"/>
          <p:nvPr/>
        </p:nvSpPr>
        <p:spPr>
          <a:xfrm>
            <a:off x="548640" y="1783080"/>
            <a:ext cx="5669280"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Would you return to Everest?</a:t>
            </a:r>
            <a:endParaRPr lang="en-US" sz="1600" dirty="0"/>
          </a:p>
        </p:txBody>
      </p:sp>
      <p:graphicFrame>
        <p:nvGraphicFramePr>
          <p:cNvPr id="5" name="Chart 0" descr=""/>
          <p:cNvGraphicFramePr/>
          <p:nvPr/>
        </p:nvGraphicFramePr>
        <p:xfrm>
          <a:off x="548640" y="219456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120640"/>
            <a:ext cx="5669280" cy="1097280"/>
          </a:xfrm>
          <a:prstGeom prst="roundRect">
            <a:avLst>
              <a:gd name="adj" fmla="val 6667"/>
            </a:avLst>
          </a:prstGeom>
          <a:solidFill>
            <a:srgbClr val="DDEFEC"/>
          </a:solidFill>
          <a:ln w="12700">
            <a:solidFill>
              <a:srgbClr val="DDEFEC"/>
            </a:solidFill>
            <a:prstDash val="solid"/>
          </a:ln>
        </p:spPr>
      </p:sp>
      <p:sp>
        <p:nvSpPr>
          <p:cNvPr id="7" name="Text 4"/>
          <p:cNvSpPr txBox="1"/>
          <p:nvPr/>
        </p:nvSpPr>
        <p:spPr>
          <a:xfrm>
            <a:off x="822960" y="5212080"/>
            <a:ext cx="1737360" cy="914400"/>
          </a:xfrm>
          <a:prstGeom prst="rect">
            <a:avLst/>
          </a:prstGeom>
          <a:noFill/>
          <a:ln/>
        </p:spPr>
        <p:txBody>
          <a:bodyPr wrap="square" lIns="0" tIns="0" rIns="0" bIns="0" rtlCol="0" anchor="ctr"/>
          <a:lstStyle/>
          <a:p>
            <a:pPr indent="0" marL="0">
              <a:buNone/>
            </a:pPr>
            <a:r>
              <a:rPr lang="en-US" sz="4000" b="1" dirty="0">
                <a:solidFill>
                  <a:srgbClr val="1F7A70"/>
                </a:solidFill>
                <a:latin typeface="Cambria" pitchFamily="34" charset="0"/>
                <a:ea typeface="Cambria" pitchFamily="34" charset="-122"/>
                <a:cs typeface="Cambria" pitchFamily="34" charset="-120"/>
              </a:rPr>
              <a:t>58%</a:t>
            </a:r>
            <a:endParaRPr lang="en-US" sz="4000" dirty="0"/>
          </a:p>
        </p:txBody>
      </p:sp>
      <p:sp>
        <p:nvSpPr>
          <p:cNvPr id="8" name="Text 5"/>
          <p:cNvSpPr txBox="1"/>
          <p:nvPr/>
        </p:nvSpPr>
        <p:spPr>
          <a:xfrm>
            <a:off x="2560320" y="5212080"/>
            <a:ext cx="3474720" cy="914400"/>
          </a:xfrm>
          <a:prstGeom prst="rect">
            <a:avLst/>
          </a:prstGeom>
          <a:noFill/>
          <a:ln/>
        </p:spPr>
        <p:txBody>
          <a:bodyPr wrap="square" lIns="0" tIns="0" rIns="0" bIns="0" rtlCol="0" anchor="ctr"/>
          <a:lstStyle/>
          <a:p>
            <a:pPr indent="0" marL="0">
              <a:buNone/>
            </a:pPr>
            <a:r>
              <a:rPr lang="en-US" sz="1500" dirty="0">
                <a:solidFill>
                  <a:srgbClr val="18222B"/>
                </a:solidFill>
                <a:latin typeface="Calibri" pitchFamily="34" charset="0"/>
                <a:ea typeface="Calibri" pitchFamily="34" charset="-122"/>
                <a:cs typeface="Calibri" pitchFamily="34" charset="-120"/>
              </a:rPr>
              <a:t>would return on a specific condition: management or pay</a:t>
            </a:r>
            <a:endParaRPr lang="en-US" sz="1500" dirty="0"/>
          </a:p>
        </p:txBody>
      </p:sp>
      <p:sp>
        <p:nvSpPr>
          <p:cNvPr id="9" name="Text 6"/>
          <p:cNvSpPr txBox="1"/>
          <p:nvPr/>
        </p:nvSpPr>
        <p:spPr>
          <a:xfrm>
            <a:off x="6675120" y="1783080"/>
            <a:ext cx="4965192" cy="365760"/>
          </a:xfrm>
          <a:prstGeom prst="rect">
            <a:avLst/>
          </a:prstGeom>
          <a:noFill/>
          <a:ln/>
        </p:spPr>
        <p:txBody>
          <a:bodyPr wrap="square" lIns="0" tIns="0" rIns="0" bIns="0" rtlCol="0" anchor="t"/>
          <a:lstStyle/>
          <a:p>
            <a:pPr indent="0" marL="0">
              <a:buNone/>
            </a:pPr>
            <a:r>
              <a:rPr lang="en-US" sz="1600" b="1" dirty="0">
                <a:solidFill>
                  <a:srgbClr val="18222B"/>
                </a:solidFill>
                <a:latin typeface="Calibri" pitchFamily="34" charset="0"/>
                <a:ea typeface="Calibri" pitchFamily="34" charset="-122"/>
                <a:cs typeface="Calibri" pitchFamily="34" charset="-120"/>
              </a:rPr>
              <a:t>What are they doing now?</a:t>
            </a:r>
            <a:endParaRPr lang="en-US" sz="1600" dirty="0"/>
          </a:p>
        </p:txBody>
      </p:sp>
      <p:sp>
        <p:nvSpPr>
          <p:cNvPr id="10" name="Text 7"/>
          <p:cNvSpPr txBox="1"/>
          <p:nvPr/>
        </p:nvSpPr>
        <p:spPr>
          <a:xfrm>
            <a:off x="6675120" y="2240280"/>
            <a:ext cx="1280160" cy="548640"/>
          </a:xfrm>
          <a:prstGeom prst="rect">
            <a:avLst/>
          </a:prstGeom>
          <a:noFill/>
          <a:ln/>
        </p:spPr>
        <p:txBody>
          <a:bodyPr wrap="square" lIns="0" tIns="0" rIns="0" bIns="0" rtlCol="0" anchor="ctr"/>
          <a:lstStyle/>
          <a:p>
            <a:pPr indent="0" marL="0">
              <a:buNone/>
            </a:pPr>
            <a:r>
              <a:rPr lang="en-US" sz="2800" b="1" dirty="0">
                <a:solidFill>
                  <a:srgbClr val="18222B"/>
                </a:solidFill>
                <a:latin typeface="Cambria" pitchFamily="34" charset="0"/>
                <a:ea typeface="Cambria" pitchFamily="34" charset="-122"/>
                <a:cs typeface="Cambria" pitchFamily="34" charset="-120"/>
              </a:rPr>
              <a:t>42%</a:t>
            </a:r>
            <a:endParaRPr lang="en-US" sz="2800" dirty="0"/>
          </a:p>
        </p:txBody>
      </p:sp>
      <p:sp>
        <p:nvSpPr>
          <p:cNvPr id="11" name="Text 8"/>
          <p:cNvSpPr txBox="1"/>
          <p:nvPr/>
        </p:nvSpPr>
        <p:spPr>
          <a:xfrm>
            <a:off x="8046720" y="2240280"/>
            <a:ext cx="3593592" cy="548640"/>
          </a:xfrm>
          <a:prstGeom prst="rect">
            <a:avLst/>
          </a:prstGeom>
          <a:noFill/>
          <a:ln/>
        </p:spPr>
        <p:txBody>
          <a:bodyPr wrap="square" lIns="0" tIns="0" rIns="0" bIns="0" rtlCol="0" anchor="ctr"/>
          <a:lstStyle/>
          <a:p>
            <a:pPr indent="0" marL="0">
              <a:buNone/>
            </a:pPr>
            <a:r>
              <a:rPr lang="en-US" sz="1500" b="1" dirty="0">
                <a:solidFill>
                  <a:srgbClr val="18222B"/>
                </a:solidFill>
                <a:latin typeface="Calibri" pitchFamily="34" charset="0"/>
                <a:ea typeface="Calibri" pitchFamily="34" charset="-122"/>
                <a:cs typeface="Calibri" pitchFamily="34" charset="-120"/>
              </a:rPr>
              <a:t>Not working</a:t>
            </a:r>
            <a:endParaRPr lang="en-US" sz="1500" dirty="0"/>
          </a:p>
        </p:txBody>
      </p:sp>
      <p:sp>
        <p:nvSpPr>
          <p:cNvPr id="12" name="Text 9"/>
          <p:cNvSpPr txBox="1"/>
          <p:nvPr/>
        </p:nvSpPr>
        <p:spPr>
          <a:xfrm>
            <a:off x="6675120" y="2898648"/>
            <a:ext cx="1280160" cy="548640"/>
          </a:xfrm>
          <a:prstGeom prst="rect">
            <a:avLst/>
          </a:prstGeom>
          <a:noFill/>
          <a:ln/>
        </p:spPr>
        <p:txBody>
          <a:bodyPr wrap="square" lIns="0" tIns="0" rIns="0" bIns="0" rtlCol="0" anchor="ctr"/>
          <a:lstStyle/>
          <a:p>
            <a:pPr indent="0" marL="0">
              <a:buNone/>
            </a:pPr>
            <a:r>
              <a:rPr lang="en-US" sz="2800" b="1" dirty="0">
                <a:solidFill>
                  <a:srgbClr val="56636E"/>
                </a:solidFill>
                <a:latin typeface="Cambria" pitchFamily="34" charset="0"/>
                <a:ea typeface="Cambria" pitchFamily="34" charset="-122"/>
                <a:cs typeface="Cambria" pitchFamily="34" charset="-120"/>
              </a:rPr>
              <a:t>28%</a:t>
            </a:r>
            <a:endParaRPr lang="en-US" sz="2800" dirty="0"/>
          </a:p>
        </p:txBody>
      </p:sp>
      <p:sp>
        <p:nvSpPr>
          <p:cNvPr id="13" name="Text 10"/>
          <p:cNvSpPr txBox="1"/>
          <p:nvPr/>
        </p:nvSpPr>
        <p:spPr>
          <a:xfrm>
            <a:off x="8046720" y="2898648"/>
            <a:ext cx="3593592" cy="548640"/>
          </a:xfrm>
          <a:prstGeom prst="rect">
            <a:avLst/>
          </a:prstGeom>
          <a:noFill/>
          <a:ln/>
        </p:spPr>
        <p:txBody>
          <a:bodyPr wrap="square" lIns="0" tIns="0" rIns="0" bIns="0" rtlCol="0" anchor="ctr"/>
          <a:lstStyle/>
          <a:p>
            <a:pPr indent="0" marL="0">
              <a:buNone/>
            </a:pPr>
            <a:r>
              <a:rPr lang="en-US" sz="1500" dirty="0">
                <a:solidFill>
                  <a:srgbClr val="18222B"/>
                </a:solidFill>
                <a:latin typeface="Calibri" pitchFamily="34" charset="0"/>
                <a:ea typeface="Calibri" pitchFamily="34" charset="-122"/>
                <a:cs typeface="Calibri" pitchFamily="34" charset="-120"/>
              </a:rPr>
              <a:t>Driving with another fleet</a:t>
            </a:r>
            <a:endParaRPr lang="en-US" sz="1500" dirty="0"/>
          </a:p>
        </p:txBody>
      </p:sp>
      <p:sp>
        <p:nvSpPr>
          <p:cNvPr id="14" name="Text 11"/>
          <p:cNvSpPr txBox="1"/>
          <p:nvPr/>
        </p:nvSpPr>
        <p:spPr>
          <a:xfrm>
            <a:off x="6675120" y="3557016"/>
            <a:ext cx="1280160" cy="548640"/>
          </a:xfrm>
          <a:prstGeom prst="rect">
            <a:avLst/>
          </a:prstGeom>
          <a:noFill/>
          <a:ln/>
        </p:spPr>
        <p:txBody>
          <a:bodyPr wrap="square" lIns="0" tIns="0" rIns="0" bIns="0" rtlCol="0" anchor="ctr"/>
          <a:lstStyle/>
          <a:p>
            <a:pPr indent="0" marL="0">
              <a:buNone/>
            </a:pPr>
            <a:r>
              <a:rPr lang="en-US" sz="2800" b="1" dirty="0">
                <a:solidFill>
                  <a:srgbClr val="56636E"/>
                </a:solidFill>
                <a:latin typeface="Cambria" pitchFamily="34" charset="0"/>
                <a:ea typeface="Cambria" pitchFamily="34" charset="-122"/>
                <a:cs typeface="Cambria" pitchFamily="34" charset="-120"/>
              </a:rPr>
              <a:t>16%</a:t>
            </a:r>
            <a:endParaRPr lang="en-US" sz="2800" dirty="0"/>
          </a:p>
        </p:txBody>
      </p:sp>
      <p:sp>
        <p:nvSpPr>
          <p:cNvPr id="15" name="Text 12"/>
          <p:cNvSpPr txBox="1"/>
          <p:nvPr/>
        </p:nvSpPr>
        <p:spPr>
          <a:xfrm>
            <a:off x="8046720" y="3557016"/>
            <a:ext cx="3593592" cy="548640"/>
          </a:xfrm>
          <a:prstGeom prst="rect">
            <a:avLst/>
          </a:prstGeom>
          <a:noFill/>
          <a:ln/>
        </p:spPr>
        <p:txBody>
          <a:bodyPr wrap="square" lIns="0" tIns="0" rIns="0" bIns="0" rtlCol="0" anchor="ctr"/>
          <a:lstStyle/>
          <a:p>
            <a:pPr indent="0" marL="0">
              <a:buNone/>
            </a:pPr>
            <a:r>
              <a:rPr lang="en-US" sz="1500" dirty="0">
                <a:solidFill>
                  <a:srgbClr val="18222B"/>
                </a:solidFill>
                <a:latin typeface="Calibri" pitchFamily="34" charset="0"/>
                <a:ea typeface="Calibri" pitchFamily="34" charset="-122"/>
                <a:cs typeface="Calibri" pitchFamily="34" charset="-120"/>
              </a:rPr>
              <a:t>Driving own vehicle</a:t>
            </a:r>
            <a:endParaRPr lang="en-US" sz="1500" dirty="0"/>
          </a:p>
        </p:txBody>
      </p:sp>
      <p:sp>
        <p:nvSpPr>
          <p:cNvPr id="16" name="Text 13"/>
          <p:cNvSpPr txBox="1"/>
          <p:nvPr/>
        </p:nvSpPr>
        <p:spPr>
          <a:xfrm>
            <a:off x="6675120" y="4215384"/>
            <a:ext cx="1280160" cy="548640"/>
          </a:xfrm>
          <a:prstGeom prst="rect">
            <a:avLst/>
          </a:prstGeom>
          <a:noFill/>
          <a:ln/>
        </p:spPr>
        <p:txBody>
          <a:bodyPr wrap="square" lIns="0" tIns="0" rIns="0" bIns="0" rtlCol="0" anchor="ctr"/>
          <a:lstStyle/>
          <a:p>
            <a:pPr indent="0" marL="0">
              <a:buNone/>
            </a:pPr>
            <a:r>
              <a:rPr lang="en-US" sz="2800" b="1" dirty="0">
                <a:solidFill>
                  <a:srgbClr val="56636E"/>
                </a:solidFill>
                <a:latin typeface="Cambria" pitchFamily="34" charset="0"/>
                <a:ea typeface="Cambria" pitchFamily="34" charset="-122"/>
                <a:cs typeface="Cambria" pitchFamily="34" charset="-120"/>
              </a:rPr>
              <a:t>14%</a:t>
            </a:r>
            <a:endParaRPr lang="en-US" sz="2800" dirty="0"/>
          </a:p>
        </p:txBody>
      </p:sp>
      <p:sp>
        <p:nvSpPr>
          <p:cNvPr id="17" name="Text 14"/>
          <p:cNvSpPr txBox="1"/>
          <p:nvPr/>
        </p:nvSpPr>
        <p:spPr>
          <a:xfrm>
            <a:off x="8046720" y="4215384"/>
            <a:ext cx="3593592" cy="548640"/>
          </a:xfrm>
          <a:prstGeom prst="rect">
            <a:avLst/>
          </a:prstGeom>
          <a:noFill/>
          <a:ln/>
        </p:spPr>
        <p:txBody>
          <a:bodyPr wrap="square" lIns="0" tIns="0" rIns="0" bIns="0" rtlCol="0" anchor="ctr"/>
          <a:lstStyle/>
          <a:p>
            <a:pPr indent="0" marL="0">
              <a:buNone/>
            </a:pPr>
            <a:r>
              <a:rPr lang="en-US" sz="1500" dirty="0">
                <a:solidFill>
                  <a:srgbClr val="18222B"/>
                </a:solidFill>
                <a:latin typeface="Calibri" pitchFamily="34" charset="0"/>
                <a:ea typeface="Calibri" pitchFamily="34" charset="-122"/>
                <a:cs typeface="Calibri" pitchFamily="34" charset="-120"/>
              </a:rPr>
              <a:t>Left driving</a:t>
            </a:r>
            <a:endParaRPr lang="en-US" sz="1500" dirty="0"/>
          </a:p>
        </p:txBody>
      </p:sp>
      <p:sp>
        <p:nvSpPr>
          <p:cNvPr id="18" name="Shape 15"/>
          <p:cNvSpPr/>
          <p:nvPr/>
        </p:nvSpPr>
        <p:spPr>
          <a:xfrm>
            <a:off x="6675120" y="5120640"/>
            <a:ext cx="4965192" cy="1097280"/>
          </a:xfrm>
          <a:prstGeom prst="roundRect">
            <a:avLst>
              <a:gd name="adj" fmla="val 6667"/>
            </a:avLst>
          </a:prstGeom>
          <a:solidFill>
            <a:srgbClr val="F1F3F5"/>
          </a:solidFill>
          <a:ln w="12700">
            <a:solidFill>
              <a:srgbClr val="F1F3F5"/>
            </a:solidFill>
            <a:prstDash val="solid"/>
          </a:ln>
        </p:spPr>
      </p:sp>
      <p:sp>
        <p:nvSpPr>
          <p:cNvPr id="19" name="Text 16"/>
          <p:cNvSpPr txBox="1"/>
          <p:nvPr/>
        </p:nvSpPr>
        <p:spPr>
          <a:xfrm>
            <a:off x="6949440" y="5212080"/>
            <a:ext cx="4416552" cy="914400"/>
          </a:xfrm>
          <a:prstGeom prst="rect">
            <a:avLst/>
          </a:prstGeom>
          <a:noFill/>
          <a:ln/>
        </p:spPr>
        <p:txBody>
          <a:bodyPr wrap="square" lIns="0" tIns="0" rIns="0" bIns="0" rtlCol="0" anchor="ctr"/>
          <a:lstStyle/>
          <a:p>
            <a:pPr indent="0" marL="0">
              <a:buNone/>
            </a:pPr>
            <a:r>
              <a:rPr lang="en-US" sz="1400" dirty="0">
                <a:solidFill>
                  <a:srgbClr val="56636E"/>
                </a:solidFill>
                <a:latin typeface="Calibri" pitchFamily="34" charset="0"/>
                <a:ea typeface="Calibri" pitchFamily="34" charset="-122"/>
                <a:cs typeface="Calibri" pitchFamily="34" charset="-120"/>
              </a:rPr>
              <a:t>Named competitors: </a:t>
            </a:r>
            <a:pPr indent="0" marL="0">
              <a:buNone/>
            </a:pPr>
            <a:r>
              <a:rPr lang="en-US" sz="1800" b="1" dirty="0">
                <a:solidFill>
                  <a:srgbClr val="18222B"/>
                </a:solidFill>
                <a:latin typeface="Calibri" pitchFamily="34" charset="0"/>
                <a:ea typeface="Calibri" pitchFamily="34" charset="-122"/>
                <a:cs typeface="Calibri" pitchFamily="34" charset="-120"/>
              </a:rPr>
              <a:t>Carrum and Move</a:t>
            </a:r>
            <a:endParaRPr lang="en-US" sz="1400" dirty="0"/>
          </a:p>
          <a:p>
            <a:pPr indent="0" marL="0">
              <a:buNone/>
            </a:pPr>
            <a:r>
              <a:rPr lang="en-US" sz="1300" dirty="0">
                <a:solidFill>
                  <a:srgbClr val="56636E"/>
                </a:solidFill>
                <a:latin typeface="Calibri" pitchFamily="34" charset="0"/>
                <a:ea typeface="Calibri" pitchFamily="34" charset="-122"/>
                <a:cs typeface="Calibri" pitchFamily="34" charset="-120"/>
              </a:rPr>
              <a:t>34% say their current or recent fleet is better than Everest</a:t>
            </a:r>
            <a:endParaRPr lang="en-US" sz="1400" dirty="0"/>
          </a:p>
        </p:txBody>
      </p:sp>
      <p:sp>
        <p:nvSpPr>
          <p:cNvPr id="20" name="Text 1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59E"/>
                </a:solidFill>
                <a:latin typeface="Calibri" pitchFamily="34" charset="0"/>
                <a:ea typeface="Calibri" pitchFamily="34" charset="-122"/>
                <a:cs typeface="Calibri" pitchFamily="34" charset="-120"/>
              </a:rPr>
              <a:t>Driver Partner Survey  ·  Baseline Wave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8222B"/>
        </a:solidFill>
      </p:bgPr>
    </p:bg>
    <p:spTree>
      <p:nvGrpSpPr>
        <p:cNvPr id="1" name=""/>
        <p:cNvGrpSpPr/>
        <p:nvPr/>
      </p:nvGrpSpPr>
      <p:grpSpPr>
        <a:xfrm>
          <a:off x="0" y="0"/>
          <a:ext cx="0" cy="0"/>
          <a:chOff x="0" y="0"/>
          <a:chExt cx="0" cy="0"/>
        </a:xfrm>
      </p:grpSpPr>
      <p:sp>
        <p:nvSpPr>
          <p:cNvPr id="2" name="Text 0"/>
          <p:cNvSpPr txBox="1"/>
          <p:nvPr/>
        </p:nvSpPr>
        <p:spPr>
          <a:xfrm>
            <a:off x="548640" y="54864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This is the baseline</a:t>
            </a:r>
            <a:endParaRPr lang="en-US" sz="4000" dirty="0"/>
          </a:p>
        </p:txBody>
      </p:sp>
      <p:sp>
        <p:nvSpPr>
          <p:cNvPr id="3" name="Text 1"/>
          <p:cNvSpPr txBox="1"/>
          <p:nvPr/>
        </p:nvSpPr>
        <p:spPr>
          <a:xfrm>
            <a:off x="548640" y="1417320"/>
            <a:ext cx="10515600" cy="457200"/>
          </a:xfrm>
          <a:prstGeom prst="rect">
            <a:avLst/>
          </a:prstGeom>
          <a:noFill/>
          <a:ln/>
        </p:spPr>
        <p:txBody>
          <a:bodyPr wrap="square" lIns="0" tIns="0" rIns="0" bIns="0" rtlCol="0" anchor="t"/>
          <a:lstStyle/>
          <a:p>
            <a:pPr indent="0" marL="0">
              <a:buNone/>
            </a:pPr>
            <a:r>
              <a:rPr lang="en-US" sz="1700" dirty="0">
                <a:solidFill>
                  <a:srgbClr val="C3CDD4"/>
                </a:solidFill>
                <a:latin typeface="Calibri" pitchFamily="34" charset="0"/>
                <a:ea typeface="Calibri" pitchFamily="34" charset="-122"/>
                <a:cs typeface="Calibri" pitchFamily="34" charset="-120"/>
              </a:rPr>
              <a:t>The same survey runs again as an endline once the brand strategy is live. The difference is the lift.</a:t>
            </a:r>
            <a:endParaRPr lang="en-US" sz="1700" dirty="0"/>
          </a:p>
        </p:txBody>
      </p:sp>
      <p:sp>
        <p:nvSpPr>
          <p:cNvPr id="4" name="Shape 2"/>
          <p:cNvSpPr/>
          <p:nvPr/>
        </p:nvSpPr>
        <p:spPr>
          <a:xfrm>
            <a:off x="548640" y="2331720"/>
            <a:ext cx="2606040" cy="1463040"/>
          </a:xfrm>
          <a:prstGeom prst="roundRect">
            <a:avLst>
              <a:gd name="adj" fmla="val 5000"/>
            </a:avLst>
          </a:prstGeom>
          <a:solidFill>
            <a:srgbClr val="D9432B"/>
          </a:solidFill>
          <a:ln w="12700">
            <a:solidFill>
              <a:srgbClr val="D9432B"/>
            </a:solidFill>
            <a:prstDash val="solid"/>
          </a:ln>
        </p:spPr>
      </p:sp>
      <p:sp>
        <p:nvSpPr>
          <p:cNvPr id="5" name="Text 3"/>
          <p:cNvSpPr txBox="1"/>
          <p:nvPr/>
        </p:nvSpPr>
        <p:spPr>
          <a:xfrm>
            <a:off x="777240" y="2514600"/>
            <a:ext cx="2148840" cy="274320"/>
          </a:xfrm>
          <a:prstGeom prst="rect">
            <a:avLst/>
          </a:prstGeom>
          <a:noFill/>
          <a:ln/>
        </p:spPr>
        <p:txBody>
          <a:bodyPr wrap="square" lIns="0" tIns="0" rIns="0" bIns="0" rtlCol="0" anchor="t"/>
          <a:lstStyle/>
          <a:p>
            <a:pPr indent="0" marL="0">
              <a:buNone/>
            </a:pPr>
            <a:r>
              <a:rPr lang="en-US" sz="1100" b="1" spc="200" kern="0" dirty="0">
                <a:solidFill>
                  <a:srgbClr val="FFE3DD"/>
                </a:solidFill>
                <a:latin typeface="Calibri" pitchFamily="34" charset="0"/>
                <a:ea typeface="Calibri" pitchFamily="34" charset="-122"/>
                <a:cs typeface="Calibri" pitchFamily="34" charset="-120"/>
              </a:rPr>
              <a:t>NOW</a:t>
            </a:r>
            <a:endParaRPr lang="en-US" sz="1100" dirty="0"/>
          </a:p>
        </p:txBody>
      </p:sp>
      <p:sp>
        <p:nvSpPr>
          <p:cNvPr id="6" name="Text 4"/>
          <p:cNvSpPr txBox="1"/>
          <p:nvPr/>
        </p:nvSpPr>
        <p:spPr>
          <a:xfrm>
            <a:off x="777240" y="2807208"/>
            <a:ext cx="214884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Baseline wave</a:t>
            </a:r>
            <a:endParaRPr lang="en-US" sz="1800" dirty="0"/>
          </a:p>
        </p:txBody>
      </p:sp>
      <p:sp>
        <p:nvSpPr>
          <p:cNvPr id="7" name="Text 5"/>
          <p:cNvSpPr txBox="1"/>
          <p:nvPr/>
        </p:nvSpPr>
        <p:spPr>
          <a:xfrm>
            <a:off x="777240" y="3246120"/>
            <a:ext cx="2148840" cy="411480"/>
          </a:xfrm>
          <a:prstGeom prst="rect">
            <a:avLst/>
          </a:prstGeom>
          <a:noFill/>
          <a:ln/>
        </p:spPr>
        <p:txBody>
          <a:bodyPr wrap="square" lIns="0" tIns="0" rIns="0" bIns="0" rtlCol="0" anchor="t"/>
          <a:lstStyle/>
          <a:p>
            <a:pPr indent="0" marL="0">
              <a:buNone/>
            </a:pPr>
            <a:r>
              <a:rPr lang="en-US" sz="1300" dirty="0">
                <a:solidFill>
                  <a:srgbClr val="FFE3DD"/>
                </a:solidFill>
                <a:latin typeface="Calibri" pitchFamily="34" charset="0"/>
                <a:ea typeface="Calibri" pitchFamily="34" charset="-122"/>
                <a:cs typeface="Calibri" pitchFamily="34" charset="-120"/>
              </a:rPr>
              <a:t>873 drivers, 7 cities</a:t>
            </a:r>
            <a:endParaRPr lang="en-US" sz="1300" dirty="0"/>
          </a:p>
        </p:txBody>
      </p:sp>
      <p:sp>
        <p:nvSpPr>
          <p:cNvPr id="8" name="Shape 6"/>
          <p:cNvSpPr/>
          <p:nvPr/>
        </p:nvSpPr>
        <p:spPr>
          <a:xfrm>
            <a:off x="3319272" y="2331720"/>
            <a:ext cx="2606040" cy="1463040"/>
          </a:xfrm>
          <a:prstGeom prst="roundRect">
            <a:avLst>
              <a:gd name="adj" fmla="val 5000"/>
            </a:avLst>
          </a:prstGeom>
          <a:solidFill>
            <a:srgbClr val="26323D"/>
          </a:solidFill>
          <a:ln w="12700">
            <a:solidFill>
              <a:srgbClr val="26323D"/>
            </a:solidFill>
            <a:prstDash val="solid"/>
          </a:ln>
        </p:spPr>
      </p:sp>
      <p:sp>
        <p:nvSpPr>
          <p:cNvPr id="9" name="Text 7"/>
          <p:cNvSpPr txBox="1"/>
          <p:nvPr/>
        </p:nvSpPr>
        <p:spPr>
          <a:xfrm>
            <a:off x="3547872" y="2514600"/>
            <a:ext cx="2148840" cy="274320"/>
          </a:xfrm>
          <a:prstGeom prst="rect">
            <a:avLst/>
          </a:prstGeom>
          <a:noFill/>
          <a:ln/>
        </p:spPr>
        <p:txBody>
          <a:bodyPr wrap="square" lIns="0" tIns="0" rIns="0" bIns="0" rtlCol="0" anchor="t"/>
          <a:lstStyle/>
          <a:p>
            <a:pPr indent="0" marL="0">
              <a:buNone/>
            </a:pPr>
            <a:r>
              <a:rPr lang="en-US" sz="1100" b="1" spc="200" kern="0" dirty="0">
                <a:solidFill>
                  <a:srgbClr val="9AA7B1"/>
                </a:solidFill>
                <a:latin typeface="Calibri" pitchFamily="34" charset="0"/>
                <a:ea typeface="Calibri" pitchFamily="34" charset="-122"/>
                <a:cs typeface="Calibri" pitchFamily="34" charset="-120"/>
              </a:rPr>
              <a:t>NEXT</a:t>
            </a:r>
            <a:endParaRPr lang="en-US" sz="1100" dirty="0"/>
          </a:p>
        </p:txBody>
      </p:sp>
      <p:sp>
        <p:nvSpPr>
          <p:cNvPr id="10" name="Text 8"/>
          <p:cNvSpPr txBox="1"/>
          <p:nvPr/>
        </p:nvSpPr>
        <p:spPr>
          <a:xfrm>
            <a:off x="3547872" y="2807208"/>
            <a:ext cx="214884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Brand strategy goes live</a:t>
            </a:r>
            <a:endParaRPr lang="en-US" sz="1800" dirty="0"/>
          </a:p>
        </p:txBody>
      </p:sp>
      <p:sp>
        <p:nvSpPr>
          <p:cNvPr id="11" name="Shape 9"/>
          <p:cNvSpPr/>
          <p:nvPr/>
        </p:nvSpPr>
        <p:spPr>
          <a:xfrm>
            <a:off x="6089904" y="2331720"/>
            <a:ext cx="2606040" cy="1463040"/>
          </a:xfrm>
          <a:prstGeom prst="roundRect">
            <a:avLst>
              <a:gd name="adj" fmla="val 5000"/>
            </a:avLst>
          </a:prstGeom>
          <a:solidFill>
            <a:srgbClr val="26323D"/>
          </a:solidFill>
          <a:ln w="12700">
            <a:solidFill>
              <a:srgbClr val="26323D"/>
            </a:solidFill>
            <a:prstDash val="solid"/>
          </a:ln>
        </p:spPr>
      </p:sp>
      <p:sp>
        <p:nvSpPr>
          <p:cNvPr id="12" name="Text 10"/>
          <p:cNvSpPr txBox="1"/>
          <p:nvPr/>
        </p:nvSpPr>
        <p:spPr>
          <a:xfrm>
            <a:off x="6318504" y="2514600"/>
            <a:ext cx="2148840" cy="274320"/>
          </a:xfrm>
          <a:prstGeom prst="rect">
            <a:avLst/>
          </a:prstGeom>
          <a:noFill/>
          <a:ln/>
        </p:spPr>
        <p:txBody>
          <a:bodyPr wrap="square" lIns="0" tIns="0" rIns="0" bIns="0" rtlCol="0" anchor="t"/>
          <a:lstStyle/>
          <a:p>
            <a:pPr indent="0" marL="0">
              <a:buNone/>
            </a:pPr>
            <a:r>
              <a:rPr lang="en-US" sz="1100" b="1" spc="200" kern="0" dirty="0">
                <a:solidFill>
                  <a:srgbClr val="9AA7B1"/>
                </a:solidFill>
                <a:latin typeface="Calibri" pitchFamily="34" charset="0"/>
                <a:ea typeface="Calibri" pitchFamily="34" charset="-122"/>
                <a:cs typeface="Calibri" pitchFamily="34" charset="-120"/>
              </a:rPr>
              <a:t>AFTER ROLLOUT</a:t>
            </a:r>
            <a:endParaRPr lang="en-US" sz="1100" dirty="0"/>
          </a:p>
        </p:txBody>
      </p:sp>
      <p:sp>
        <p:nvSpPr>
          <p:cNvPr id="13" name="Text 11"/>
          <p:cNvSpPr txBox="1"/>
          <p:nvPr/>
        </p:nvSpPr>
        <p:spPr>
          <a:xfrm>
            <a:off x="6318504" y="2807208"/>
            <a:ext cx="214884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Endline wave</a:t>
            </a:r>
            <a:endParaRPr lang="en-US" sz="1800" dirty="0"/>
          </a:p>
        </p:txBody>
      </p:sp>
      <p:sp>
        <p:nvSpPr>
          <p:cNvPr id="14" name="Text 12"/>
          <p:cNvSpPr txBox="1"/>
          <p:nvPr/>
        </p:nvSpPr>
        <p:spPr>
          <a:xfrm>
            <a:off x="6318504" y="3246120"/>
            <a:ext cx="2148840" cy="4114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Same instrument</a:t>
            </a:r>
            <a:endParaRPr lang="en-US" sz="1300" dirty="0"/>
          </a:p>
        </p:txBody>
      </p:sp>
      <p:sp>
        <p:nvSpPr>
          <p:cNvPr id="15" name="Shape 13"/>
          <p:cNvSpPr/>
          <p:nvPr/>
        </p:nvSpPr>
        <p:spPr>
          <a:xfrm>
            <a:off x="8860536" y="2331720"/>
            <a:ext cx="2606040" cy="1463040"/>
          </a:xfrm>
          <a:prstGeom prst="roundRect">
            <a:avLst>
              <a:gd name="adj" fmla="val 5000"/>
            </a:avLst>
          </a:prstGeom>
          <a:solidFill>
            <a:srgbClr val="26323D"/>
          </a:solidFill>
          <a:ln w="12700">
            <a:solidFill>
              <a:srgbClr val="26323D"/>
            </a:solidFill>
            <a:prstDash val="solid"/>
          </a:ln>
        </p:spPr>
      </p:sp>
      <p:sp>
        <p:nvSpPr>
          <p:cNvPr id="16" name="Text 14"/>
          <p:cNvSpPr txBox="1"/>
          <p:nvPr/>
        </p:nvSpPr>
        <p:spPr>
          <a:xfrm>
            <a:off x="9089136" y="2514600"/>
            <a:ext cx="2148840" cy="274320"/>
          </a:xfrm>
          <a:prstGeom prst="rect">
            <a:avLst/>
          </a:prstGeom>
          <a:noFill/>
          <a:ln/>
        </p:spPr>
        <p:txBody>
          <a:bodyPr wrap="square" lIns="0" tIns="0" rIns="0" bIns="0" rtlCol="0" anchor="t"/>
          <a:lstStyle/>
          <a:p>
            <a:pPr indent="0" marL="0">
              <a:buNone/>
            </a:pPr>
            <a:r>
              <a:rPr lang="en-US" sz="1100" b="1" spc="200" kern="0" dirty="0">
                <a:solidFill>
                  <a:srgbClr val="9AA7B1"/>
                </a:solidFill>
                <a:latin typeface="Calibri" pitchFamily="34" charset="0"/>
                <a:ea typeface="Calibri" pitchFamily="34" charset="-122"/>
                <a:cs typeface="Calibri" pitchFamily="34" charset="-120"/>
              </a:rPr>
              <a:t>THEN</a:t>
            </a:r>
            <a:endParaRPr lang="en-US" sz="1100" dirty="0"/>
          </a:p>
        </p:txBody>
      </p:sp>
      <p:sp>
        <p:nvSpPr>
          <p:cNvPr id="17" name="Text 15"/>
          <p:cNvSpPr txBox="1"/>
          <p:nvPr/>
        </p:nvSpPr>
        <p:spPr>
          <a:xfrm>
            <a:off x="9089136" y="2807208"/>
            <a:ext cx="214884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Compare</a:t>
            </a:r>
            <a:endParaRPr lang="en-US" sz="1800" dirty="0"/>
          </a:p>
        </p:txBody>
      </p:sp>
      <p:sp>
        <p:nvSpPr>
          <p:cNvPr id="18" name="Text 16"/>
          <p:cNvSpPr txBox="1"/>
          <p:nvPr/>
        </p:nvSpPr>
        <p:spPr>
          <a:xfrm>
            <a:off x="9089136" y="3246120"/>
            <a:ext cx="2148840" cy="4114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Lift in sentiment and brand metrics</a:t>
            </a:r>
            <a:endParaRPr lang="en-US" sz="1300" dirty="0"/>
          </a:p>
        </p:txBody>
      </p:sp>
      <p:sp>
        <p:nvSpPr>
          <p:cNvPr id="19" name="Text 17"/>
          <p:cNvSpPr txBox="1"/>
          <p:nvPr/>
        </p:nvSpPr>
        <p:spPr>
          <a:xfrm>
            <a:off x="548640" y="4206240"/>
            <a:ext cx="5486400" cy="274320"/>
          </a:xfrm>
          <a:prstGeom prst="rect">
            <a:avLst/>
          </a:prstGeom>
          <a:noFill/>
          <a:ln/>
        </p:spPr>
        <p:txBody>
          <a:bodyPr wrap="square" lIns="0" tIns="0" rIns="0" bIns="0" rtlCol="0" anchor="t"/>
          <a:lstStyle/>
          <a:p>
            <a:pPr indent="0" marL="0">
              <a:buNone/>
            </a:pPr>
            <a:r>
              <a:rPr lang="en-US" sz="1100" b="1" spc="200" kern="0" dirty="0">
                <a:solidFill>
                  <a:srgbClr val="9AA7B1"/>
                </a:solidFill>
                <a:latin typeface="Calibri" pitchFamily="34" charset="0"/>
                <a:ea typeface="Calibri" pitchFamily="34" charset="-122"/>
                <a:cs typeface="Calibri" pitchFamily="34" charset="-120"/>
              </a:rPr>
              <a:t>BASELINE READINGS</a:t>
            </a:r>
            <a:endParaRPr lang="en-US" sz="1100" dirty="0"/>
          </a:p>
        </p:txBody>
      </p:sp>
      <p:sp>
        <p:nvSpPr>
          <p:cNvPr id="20" name="Text 18"/>
          <p:cNvSpPr txBox="1"/>
          <p:nvPr/>
        </p:nvSpPr>
        <p:spPr>
          <a:xfrm>
            <a:off x="548640" y="4526280"/>
            <a:ext cx="2606040" cy="7315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-56</a:t>
            </a:r>
            <a:endParaRPr lang="en-US" sz="3800" dirty="0"/>
          </a:p>
        </p:txBody>
      </p:sp>
      <p:sp>
        <p:nvSpPr>
          <p:cNvPr id="21" name="Text 19"/>
          <p:cNvSpPr txBox="1"/>
          <p:nvPr/>
        </p:nvSpPr>
        <p:spPr>
          <a:xfrm>
            <a:off x="548640" y="5257800"/>
            <a:ext cx="2423160" cy="6400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NPS</a:t>
            </a:r>
            <a:endParaRPr lang="en-US" sz="1300" dirty="0"/>
          </a:p>
        </p:txBody>
      </p:sp>
      <p:sp>
        <p:nvSpPr>
          <p:cNvPr id="22" name="Text 20"/>
          <p:cNvSpPr txBox="1"/>
          <p:nvPr/>
        </p:nvSpPr>
        <p:spPr>
          <a:xfrm>
            <a:off x="3319272" y="4526280"/>
            <a:ext cx="2606040" cy="7315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26%</a:t>
            </a:r>
            <a:endParaRPr lang="en-US" sz="3800" dirty="0"/>
          </a:p>
        </p:txBody>
      </p:sp>
      <p:sp>
        <p:nvSpPr>
          <p:cNvPr id="23" name="Text 21"/>
          <p:cNvSpPr txBox="1"/>
          <p:nvPr/>
        </p:nvSpPr>
        <p:spPr>
          <a:xfrm>
            <a:off x="3319272" y="5257800"/>
            <a:ext cx="2423160" cy="6400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Satisfied</a:t>
            </a:r>
            <a:endParaRPr lang="en-US" sz="1300" dirty="0"/>
          </a:p>
        </p:txBody>
      </p:sp>
      <p:sp>
        <p:nvSpPr>
          <p:cNvPr id="24" name="Text 22"/>
          <p:cNvSpPr txBox="1"/>
          <p:nvPr/>
        </p:nvSpPr>
        <p:spPr>
          <a:xfrm>
            <a:off x="6089904" y="4526280"/>
            <a:ext cx="2606040" cy="7315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50%</a:t>
            </a:r>
            <a:endParaRPr lang="en-US" sz="3800" dirty="0"/>
          </a:p>
        </p:txBody>
      </p:sp>
      <p:sp>
        <p:nvSpPr>
          <p:cNvPr id="25" name="Text 23"/>
          <p:cNvSpPr txBox="1"/>
          <p:nvPr/>
        </p:nvSpPr>
        <p:spPr>
          <a:xfrm>
            <a:off x="6089904" y="5257800"/>
            <a:ext cx="2423160" cy="6400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Active drivers who first think “looks out only for itself”</a:t>
            </a:r>
            <a:endParaRPr lang="en-US" sz="1300" dirty="0"/>
          </a:p>
        </p:txBody>
      </p:sp>
      <p:sp>
        <p:nvSpPr>
          <p:cNvPr id="26" name="Text 24"/>
          <p:cNvSpPr txBox="1"/>
          <p:nvPr/>
        </p:nvSpPr>
        <p:spPr>
          <a:xfrm>
            <a:off x="8860536" y="4526280"/>
            <a:ext cx="2606040" cy="7315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38%</a:t>
            </a:r>
            <a:endParaRPr lang="en-US" sz="3800" dirty="0"/>
          </a:p>
        </p:txBody>
      </p:sp>
      <p:sp>
        <p:nvSpPr>
          <p:cNvPr id="27" name="Text 25"/>
          <p:cNvSpPr txBox="1"/>
          <p:nvPr/>
        </p:nvSpPr>
        <p:spPr>
          <a:xfrm>
            <a:off x="8860536" y="5257800"/>
            <a:ext cx="2423160" cy="640080"/>
          </a:xfrm>
          <a:prstGeom prst="rect">
            <a:avLst/>
          </a:prstGeom>
          <a:noFill/>
          <a:ln/>
        </p:spPr>
        <p:txBody>
          <a:bodyPr wrap="square" lIns="0" tIns="0" rIns="0" bIns="0" rtlCol="0" anchor="t"/>
          <a:lstStyle/>
          <a:p>
            <a:pPr indent="0" marL="0">
              <a:buNone/>
            </a:pPr>
            <a:r>
              <a:rPr lang="en-US" sz="1300" dirty="0">
                <a:solidFill>
                  <a:srgbClr val="C3CDD4"/>
                </a:solidFill>
                <a:latin typeface="Calibri" pitchFamily="34" charset="0"/>
                <a:ea typeface="Calibri" pitchFamily="34" charset="-122"/>
                <a:cs typeface="Calibri" pitchFamily="34" charset="-120"/>
              </a:rPr>
              <a:t>Active drivers who say Everest has become worse</a:t>
            </a:r>
            <a:endParaRPr lang="en-US" sz="1300" dirty="0"/>
          </a:p>
        </p:txBody>
      </p:sp>
      <p:sp>
        <p:nvSpPr>
          <p:cNvPr id="28" name="Text 2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AA7B1"/>
                </a:solidFill>
                <a:latin typeface="Calibri" pitchFamily="34" charset="0"/>
                <a:ea typeface="Calibri" pitchFamily="34" charset="-122"/>
                <a:cs typeface="Calibri" pitchFamily="34" charset="-120"/>
              </a:rPr>
              <a:t>Driver Partner Survey  ·  Baseline Wave  ·  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Everest Fleet Driver Survey: Baseline Wave</dc:title>
  <dc:subject>PptxGenJS Presentation</dc:subject>
  <dc:creator>PptxGenJS</dc:creator>
  <cp:lastModifiedBy>PptxGenJS</cp:lastModifiedBy>
  <cp:revision>1</cp:revision>
  <dcterms:created xsi:type="dcterms:W3CDTF">2026-09-24T06:27:53Z</dcterms:created>
  <dcterms:modified xsi:type="dcterms:W3CDTF">2026-09-24T06:27:53Z</dcterms:modified>
</cp:coreProperties>
</file>