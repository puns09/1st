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NPS</c:v>
                </c:pt>
              </c:strCache>
            </c:strRef>
          </c:tx>
          <c:spPr>
            <a:solidFill>
              <a:srgbClr val="D9432B"/>
            </a:solidFill>
            <a:effectLst/>
          </c:spPr>
          <c:invertIfNegative val="0"/>
          <c:dLbls>
            <c:numFmt formatCode="#,##0" sourceLinked="0"/>
            <c:txPr>
              <a:bodyPr/>
              <a:lstStyle/>
              <a:p>
                <a:pPr>
                  <a:defRPr b="1" i="0" strike="noStrike" sz="2200" u="none">
                    <a:solidFill>
                      <a:srgbClr val="18222B"/>
                    </a:solidFill>
                    <a:latin typeface="Calibri"/>
                  </a:defRPr>
                </a:pPr>
              </a:p>
            </c:txPr>
            <c:showLegendKey val="0"/>
            <c:showVal val="1"/>
            <c:showCatName val="0"/>
            <c:showSerName val="0"/>
            <c:showPercent val="0"/>
            <c:showBubbleSize val="0"/>
            <c:showLeaderLines val="0"/>
          </c:dLbls>
          <c:cat>
            <c:multiLvlStrRef>
              <c:f>Sheet1!$A$2:$A$4</c:f>
              <c:multiLvlStrCache>
                <c:ptCount val="3"/>
                <c:lvl>
                  <c:pt idx="0">
                    <c:v>Inactive</c:v>
                  </c:pt>
                  <c:pt idx="1">
                    <c:v>Total</c:v>
                  </c:pt>
                  <c:pt idx="2">
                    <c:v>Active</c:v>
                  </c:pt>
                </c:lvl>
              </c:multiLvlStrCache>
            </c:multiLvlStrRef>
          </c:cat>
          <c:val>
            <c:numRef>
              <c:f>Sheet1!$B$2:$B$4</c:f>
              <c:numCache>
                <c:formatCode>General</c:formatCode>
                <c:ptCount val="3"/>
                <c:pt idx="0">
                  <c:v>-61</c:v>
                </c:pt>
                <c:pt idx="1">
                  <c:v>-56</c:v>
                </c:pt>
                <c:pt idx="2">
                  <c:v>-53</c:v>
                </c:pt>
              </c:numCache>
            </c:numRef>
          </c:val>
        </c:ser>
        <c:dLbls>
          <c:numFmt formatCode="#,##0" sourceLinked="0"/>
          <c:txPr>
            <a:bodyPr/>
            <a:lstStyle/>
            <a:p>
              <a:pPr>
                <a:defRPr b="1" i="0" strike="noStrike" sz="2200" u="none">
                  <a:solidFill>
                    <a:srgbClr val="18222B"/>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high"/>
        <c:spPr>
          <a:ln w="12700" cap="flat">
            <a:noFill/>
            <a:prstDash val="solid"/>
            <a:round/>
          </a:ln>
        </c:spPr>
        <c:txPr>
          <a:bodyPr/>
          <a:lstStyle/>
          <a:p>
            <a:pPr>
              <a:defRPr sz="1400" b="0" i="0" u="none" strike="noStrike">
                <a:solidFill>
                  <a:srgbClr val="56636E"/>
                </a:solidFill>
                <a:latin typeface="Calibri"/>
              </a:defRPr>
            </a:pPr>
            <a:endParaRPr lang="en-US"/>
          </a:p>
        </c:txPr>
        <c:crossAx val="2094734552"/>
        <c:crosses val="autoZero"/>
        <c:auto val="1"/>
        <c:lblAlgn val="ctr"/>
        <c:noMultiLvlLbl val="1"/>
      </c:catAx>
      <c:valAx>
        <c:axId val="2094734552"/>
        <c:scaling>
          <c:orientation val="minMax"/>
          <c:max val="0"/>
          <c:min val="-8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Dissatisfied</c:v>
                </c:pt>
              </c:strCache>
            </c:strRef>
          </c:tx>
          <c:spPr>
            <a:solidFill>
              <a:srgbClr val="D9432B"/>
            </a:solidFill>
            <a:effectLst/>
          </c:spPr>
          <c:invertIfNegative val="0"/>
          <c:dLbls>
            <c:numFmt formatCode="0&quot;%&quot;" sourceLinked="0"/>
            <c:txPr>
              <a:bodyPr/>
              <a:lstStyle/>
              <a:p>
                <a:pPr>
                  <a:defRPr b="1" i="0" strike="noStrike" sz="16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Active</c:v>
                  </c:pt>
                  <c:pt idx="1">
                    <c:v>Total</c:v>
                  </c:pt>
                  <c:pt idx="2">
                    <c:v>Inactive</c:v>
                  </c:pt>
                </c:lvl>
              </c:multiLvlStrCache>
            </c:multiLvlStrRef>
          </c:cat>
          <c:val>
            <c:numRef>
              <c:f>Sheet1!$B$2:$B$4</c:f>
              <c:numCache>
                <c:formatCode>General</c:formatCode>
                <c:ptCount val="3"/>
                <c:pt idx="0">
                  <c:v>71</c:v>
                </c:pt>
                <c:pt idx="1">
                  <c:v>74</c:v>
                </c:pt>
                <c:pt idx="2">
                  <c:v>80</c:v>
                </c:pt>
              </c:numCache>
            </c:numRef>
          </c:val>
        </c:ser>
        <c:ser>
          <c:idx val="1"/>
          <c:order val="1"/>
          <c:tx>
            <c:strRef>
              <c:f>Sheet1!$C$1</c:f>
              <c:strCache>
                <c:ptCount val="1"/>
                <c:pt idx="0">
                  <c:v>Satisfied</c:v>
                </c:pt>
              </c:strCache>
            </c:strRef>
          </c:tx>
          <c:spPr>
            <a:solidFill>
              <a:srgbClr val="1F7A70"/>
            </a:solidFill>
            <a:effectLst/>
          </c:spPr>
          <c:invertIfNegative val="0"/>
          <c:dLbls>
            <c:numFmt formatCode="0&quot;%&quot;" sourceLinked="0"/>
            <c:txPr>
              <a:bodyPr/>
              <a:lstStyle/>
              <a:p>
                <a:pPr>
                  <a:defRPr b="1" i="0" strike="noStrike" sz="16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Active</c:v>
                  </c:pt>
                  <c:pt idx="1">
                    <c:v>Total</c:v>
                  </c:pt>
                  <c:pt idx="2">
                    <c:v>Inactive</c:v>
                  </c:pt>
                </c:lvl>
              </c:multiLvlStrCache>
            </c:multiLvlStrRef>
          </c:cat>
          <c:val>
            <c:numRef>
              <c:f>Sheet1!$C$2:$C$4</c:f>
              <c:numCache>
                <c:formatCode>General</c:formatCode>
                <c:ptCount val="3"/>
                <c:pt idx="0">
                  <c:v>29</c:v>
                </c:pt>
                <c:pt idx="1">
                  <c:v>26</c:v>
                </c:pt>
                <c:pt idx="2">
                  <c:v>20</c:v>
                </c:pt>
              </c:numCache>
            </c:numRef>
          </c:val>
        </c:ser>
        <c:dLbls>
          <c:numFmt formatCode="0&quot;%&quot;" sourceLinked="0"/>
          <c:txPr>
            <a:bodyPr/>
            <a:lstStyle/>
            <a:p>
              <a:pPr>
                <a:defRPr b="1" i="0" strike="noStrike" sz="1600" u="none">
                  <a:solidFill>
                    <a:srgbClr val="FFFFFF"/>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56636E"/>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6636E"/>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Strongest predictors</c:v>
                </c:pt>
              </c:strCache>
            </c:strRef>
          </c:tx>
          <c:spPr>
            <a:solidFill>
              <a:srgbClr val="D9432B"/>
            </a:solidFill>
            <a:effectLst/>
          </c:spPr>
          <c:invertIfNegative val="0"/>
          <c:dLbls>
            <c:numFmt formatCode="0.00;-0.00;;" sourceLinked="0"/>
            <c:txPr>
              <a:bodyPr/>
              <a:lstStyle/>
              <a:p>
                <a:pPr>
                  <a:defRPr b="1" i="0" strike="noStrike" sz="13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Sheet1!$A$2:$A$10</c:f>
              <c:multiLvlStrCache>
                <c:ptCount val="9"/>
                <c:lvl>
                  <c:pt idx="0">
                    <c:v>App</c:v>
                  </c:pt>
                  <c:pt idx="1">
                    <c:v>Garage &amp; Repair</c:v>
                  </c:pt>
                  <c:pt idx="2">
                    <c:v>Communications</c:v>
                  </c:pt>
                  <c:pt idx="3">
                    <c:v>Hisaab</c:v>
                  </c:pt>
                  <c:pt idx="4">
                    <c:v>Earnings &amp; Payments</c:v>
                  </c:pt>
                  <c:pt idx="5">
                    <c:v>Staff behaviour</c:v>
                  </c:pt>
                  <c:pt idx="6">
                    <c:v>Vehicle condition</c:v>
                  </c:pt>
                  <c:pt idx="7">
                    <c:v>Trust &amp; Honesty</c:v>
                  </c:pt>
                  <c:pt idx="8">
                    <c:v>Reality vs Expectations</c:v>
                  </c:pt>
                </c:lvl>
              </c:multiLvlStrCache>
            </c:multiLvlStrRef>
          </c:cat>
          <c:val>
            <c:numRef>
              <c:f>Sheet1!$B$2:$B$10</c:f>
              <c:numCache>
                <c:formatCode>General</c:formatCode>
                <c:ptCount val="9"/>
                <c:pt idx="0">
                  <c:v>0</c:v>
                </c:pt>
                <c:pt idx="1">
                  <c:v>0</c:v>
                </c:pt>
                <c:pt idx="2">
                  <c:v>0</c:v>
                </c:pt>
                <c:pt idx="3">
                  <c:v>0</c:v>
                </c:pt>
                <c:pt idx="4">
                  <c:v>0</c:v>
                </c:pt>
                <c:pt idx="5">
                  <c:v>0</c:v>
                </c:pt>
                <c:pt idx="6">
                  <c:v>0</c:v>
                </c:pt>
                <c:pt idx="7">
                  <c:v>0.6</c:v>
                </c:pt>
                <c:pt idx="8">
                  <c:v>0.61</c:v>
                </c:pt>
              </c:numCache>
            </c:numRef>
          </c:val>
        </c:ser>
        <c:ser>
          <c:idx val="1"/>
          <c:order val="1"/>
          <c:tx>
            <c:strRef>
              <c:f>Sheet1!$C$1</c:f>
              <c:strCache>
                <c:ptCount val="1"/>
                <c:pt idx="0">
                  <c:v>Most-cited complaint</c:v>
                </c:pt>
              </c:strCache>
            </c:strRef>
          </c:tx>
          <c:spPr>
            <a:solidFill>
              <a:srgbClr val="C98A1B"/>
            </a:solidFill>
            <a:effectLst/>
          </c:spPr>
          <c:invertIfNegative val="0"/>
          <c:dLbls>
            <c:numFmt formatCode="0.00;-0.00;;" sourceLinked="0"/>
            <c:txPr>
              <a:bodyPr/>
              <a:lstStyle/>
              <a:p>
                <a:pPr>
                  <a:defRPr b="1" i="0" strike="noStrike" sz="13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Sheet1!$A$2:$A$10</c:f>
              <c:multiLvlStrCache>
                <c:ptCount val="9"/>
                <c:lvl>
                  <c:pt idx="0">
                    <c:v>App</c:v>
                  </c:pt>
                  <c:pt idx="1">
                    <c:v>Garage &amp; Repair</c:v>
                  </c:pt>
                  <c:pt idx="2">
                    <c:v>Communications</c:v>
                  </c:pt>
                  <c:pt idx="3">
                    <c:v>Hisaab</c:v>
                  </c:pt>
                  <c:pt idx="4">
                    <c:v>Earnings &amp; Payments</c:v>
                  </c:pt>
                  <c:pt idx="5">
                    <c:v>Staff behaviour</c:v>
                  </c:pt>
                  <c:pt idx="6">
                    <c:v>Vehicle condition</c:v>
                  </c:pt>
                  <c:pt idx="7">
                    <c:v>Trust &amp; Honesty</c:v>
                  </c:pt>
                  <c:pt idx="8">
                    <c:v>Reality vs Expectations</c:v>
                  </c:pt>
                </c:lvl>
              </c:multiLvlStrCache>
            </c:multiLvlStrRef>
          </c:cat>
          <c:val>
            <c:numRef>
              <c:f>Sheet1!$C$2:$C$10</c:f>
              <c:numCache>
                <c:formatCode>General</c:formatCode>
                <c:ptCount val="9"/>
                <c:pt idx="0">
                  <c:v>0</c:v>
                </c:pt>
                <c:pt idx="1">
                  <c:v>0.46</c:v>
                </c:pt>
                <c:pt idx="2">
                  <c:v>0</c:v>
                </c:pt>
                <c:pt idx="3">
                  <c:v>0</c:v>
                </c:pt>
                <c:pt idx="4">
                  <c:v>0</c:v>
                </c:pt>
                <c:pt idx="5">
                  <c:v>0</c:v>
                </c:pt>
                <c:pt idx="6">
                  <c:v>0</c:v>
                </c:pt>
                <c:pt idx="7">
                  <c:v>0</c:v>
                </c:pt>
                <c:pt idx="8">
                  <c:v>0</c:v>
                </c:pt>
              </c:numCache>
            </c:numRef>
          </c:val>
        </c:ser>
        <c:ser>
          <c:idx val="2"/>
          <c:order val="2"/>
          <c:tx>
            <c:strRef>
              <c:f>Sheet1!$D$1</c:f>
              <c:strCache>
                <c:ptCount val="1"/>
                <c:pt idx="0">
                  <c:v>Other</c:v>
                </c:pt>
              </c:strCache>
            </c:strRef>
          </c:tx>
          <c:spPr>
            <a:solidFill>
              <a:srgbClr val="B7C0C7"/>
            </a:solidFill>
            <a:effectLst/>
          </c:spPr>
          <c:invertIfNegative val="0"/>
          <c:dLbls>
            <c:numFmt formatCode="0.00;-0.00;;" sourceLinked="0"/>
            <c:txPr>
              <a:bodyPr/>
              <a:lstStyle/>
              <a:p>
                <a:pPr>
                  <a:defRPr b="1" i="0" strike="noStrike" sz="13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Sheet1!$A$2:$A$10</c:f>
              <c:multiLvlStrCache>
                <c:ptCount val="9"/>
                <c:lvl>
                  <c:pt idx="0">
                    <c:v>App</c:v>
                  </c:pt>
                  <c:pt idx="1">
                    <c:v>Garage &amp; Repair</c:v>
                  </c:pt>
                  <c:pt idx="2">
                    <c:v>Communications</c:v>
                  </c:pt>
                  <c:pt idx="3">
                    <c:v>Hisaab</c:v>
                  </c:pt>
                  <c:pt idx="4">
                    <c:v>Earnings &amp; Payments</c:v>
                  </c:pt>
                  <c:pt idx="5">
                    <c:v>Staff behaviour</c:v>
                  </c:pt>
                  <c:pt idx="6">
                    <c:v>Vehicle condition</c:v>
                  </c:pt>
                  <c:pt idx="7">
                    <c:v>Trust &amp; Honesty</c:v>
                  </c:pt>
                  <c:pt idx="8">
                    <c:v>Reality vs Expectations</c:v>
                  </c:pt>
                </c:lvl>
              </c:multiLvlStrCache>
            </c:multiLvlStrRef>
          </c:cat>
          <c:val>
            <c:numRef>
              <c:f>Sheet1!$D$2:$D$10</c:f>
              <c:numCache>
                <c:formatCode>General</c:formatCode>
                <c:ptCount val="9"/>
                <c:pt idx="0">
                  <c:v>0.43</c:v>
                </c:pt>
                <c:pt idx="1">
                  <c:v>0</c:v>
                </c:pt>
                <c:pt idx="2">
                  <c:v>0.47</c:v>
                </c:pt>
                <c:pt idx="3">
                  <c:v>0.47</c:v>
                </c:pt>
                <c:pt idx="4">
                  <c:v>0.51</c:v>
                </c:pt>
                <c:pt idx="5">
                  <c:v>0.52</c:v>
                </c:pt>
                <c:pt idx="6">
                  <c:v>0.52</c:v>
                </c:pt>
                <c:pt idx="7">
                  <c:v>0</c:v>
                </c:pt>
                <c:pt idx="8">
                  <c:v>0</c:v>
                </c:pt>
              </c:numCache>
            </c:numRef>
          </c:val>
        </c:ser>
        <c:dLbls>
          <c:numFmt formatCode="0.00;-0.00;;" sourceLinked="0"/>
          <c:txPr>
            <a:bodyPr/>
            <a:lstStyle/>
            <a:p>
              <a:pPr>
                <a:defRPr b="1" i="0" strike="noStrike" sz="1300" u="none">
                  <a:solidFill>
                    <a:srgbClr val="FFFFFF"/>
                  </a:solidFill>
                  <a:latin typeface="Calibri"/>
                </a:defRPr>
              </a:pPr>
            </a:p>
          </c:txPr>
          <c:dLblPos val="inEnd"/>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8222B"/>
                </a:solidFill>
                <a:latin typeface="Calibri"/>
              </a:defRPr>
            </a:pPr>
            <a:endParaRPr lang="en-US"/>
          </a:p>
        </c:txPr>
        <c:crossAx val="2094734552"/>
        <c:crosses val="autoZero"/>
        <c:auto val="1"/>
        <c:lblAlgn val="ctr"/>
        <c:noMultiLvlLbl val="1"/>
      </c:catAx>
      <c:valAx>
        <c:axId val="2094734552"/>
        <c:scaling>
          <c:orientation val="minMax"/>
          <c:max val="0.7"/>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Cost</c:v>
                </c:pt>
              </c:strCache>
            </c:strRef>
          </c:tx>
          <c:spPr>
            <a:solidFill>
              <a:srgbClr val="D9432B"/>
            </a:solidFill>
            <a:effectLst/>
          </c:spPr>
          <c:invertIfNegative val="0"/>
          <c:dLbls>
            <c:numFmt formatCode="&quot;-&quot;0.0" sourceLinked="0"/>
            <c:txPr>
              <a:bodyPr/>
              <a:lstStyle/>
              <a:p>
                <a:pPr>
                  <a:defRPr b="1" i="0" strike="noStrike" sz="1800" u="none">
                    <a:solidFill>
                      <a:srgbClr val="18222B"/>
                    </a:solidFill>
                    <a:latin typeface="Calibri"/>
                  </a:defRPr>
                </a:pPr>
              </a:p>
            </c:txPr>
            <c:showLegendKey val="0"/>
            <c:showVal val="1"/>
            <c:showCatName val="0"/>
            <c:showSerName val="0"/>
            <c:showPercent val="0"/>
            <c:showBubbleSize val="0"/>
            <c:showLeaderLines val="0"/>
          </c:dLbls>
          <c:cat>
            <c:multiLvlStrRef>
              <c:f>Sheet1!$A$2:$A$5</c:f>
              <c:multiLvlStrCache>
                <c:ptCount val="4"/>
                <c:lvl>
                  <c:pt idx="0">
                    <c:v>Vehicle Downtime</c:v>
                  </c:pt>
                  <c:pt idx="1">
                    <c:v>Support Resolution Gap</c:v>
                  </c:pt>
                  <c:pt idx="2">
                    <c:v>Onboarding Promise Gap</c:v>
                  </c:pt>
                  <c:pt idx="3">
                    <c:v>Staff Behaviour</c:v>
                  </c:pt>
                </c:lvl>
              </c:multiLvlStrCache>
            </c:multiLvlStrRef>
          </c:cat>
          <c:val>
            <c:numRef>
              <c:f>Sheet1!$B$2:$B$5</c:f>
              <c:numCache>
                <c:formatCode>General</c:formatCode>
                <c:ptCount val="4"/>
                <c:pt idx="0">
                  <c:v>0.3</c:v>
                </c:pt>
                <c:pt idx="1">
                  <c:v>1.3</c:v>
                </c:pt>
                <c:pt idx="2">
                  <c:v>1.5</c:v>
                </c:pt>
                <c:pt idx="3">
                  <c:v>1.7</c:v>
                </c:pt>
              </c:numCache>
            </c:numRef>
          </c:val>
        </c:ser>
        <c:dLbls>
          <c:numFmt formatCode="&quot;-&quot;0.0" sourceLinked="0"/>
          <c:txPr>
            <a:bodyPr/>
            <a:lstStyle/>
            <a:p>
              <a:pPr>
                <a:defRPr b="1" i="0" strike="noStrike" sz="1800" u="none">
                  <a:solidFill>
                    <a:srgbClr val="18222B"/>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18222B"/>
                </a:solidFill>
                <a:latin typeface="Calibri"/>
              </a:defRPr>
            </a:pPr>
            <a:endParaRPr lang="en-US"/>
          </a:p>
        </c:txPr>
        <c:crossAx val="2094734552"/>
        <c:crosses val="autoZero"/>
        <c:auto val="1"/>
        <c:lblAlgn val="ctr"/>
        <c:noMultiLvlLbl val="1"/>
      </c:catAx>
      <c:valAx>
        <c:axId val="2094734552"/>
        <c:scaling>
          <c:orientation val="minMax"/>
          <c:max val="2.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Volume</c:v>
                </c:pt>
              </c:strCache>
            </c:strRef>
          </c:tx>
          <c:spPr>
            <a:solidFill>
              <a:srgbClr val="9AA7B1"/>
            </a:solidFill>
            <a:effectLst/>
          </c:spPr>
          <c:invertIfNegative val="0"/>
          <c:dLbls>
            <c:numFmt formatCode="0&quot;%&quot;" sourceLinked="0"/>
            <c:txPr>
              <a:bodyPr/>
              <a:lstStyle/>
              <a:p>
                <a:pPr>
                  <a:defRPr b="1" i="0" strike="noStrike" sz="1800" u="none">
                    <a:solidFill>
                      <a:srgbClr val="18222B"/>
                    </a:solidFill>
                    <a:latin typeface="Calibri"/>
                  </a:defRPr>
                </a:pPr>
              </a:p>
            </c:txPr>
            <c:showLegendKey val="0"/>
            <c:showVal val="1"/>
            <c:showCatName val="0"/>
            <c:showSerName val="0"/>
            <c:showPercent val="0"/>
            <c:showBubbleSize val="0"/>
            <c:showLeaderLines val="0"/>
          </c:dLbls>
          <c:cat>
            <c:multiLvlStrRef>
              <c:f>Sheet1!$A$2:$A$5</c:f>
              <c:multiLvlStrCache>
                <c:ptCount val="4"/>
                <c:lvl>
                  <c:pt idx="0">
                    <c:v>Vehicle Downtime</c:v>
                  </c:pt>
                  <c:pt idx="1">
                    <c:v>Support Resolution Gap</c:v>
                  </c:pt>
                  <c:pt idx="2">
                    <c:v>Onboarding Promise Gap</c:v>
                  </c:pt>
                  <c:pt idx="3">
                    <c:v>Staff Behaviour</c:v>
                  </c:pt>
                </c:lvl>
              </c:multiLvlStrCache>
            </c:multiLvlStrRef>
          </c:cat>
          <c:val>
            <c:numRef>
              <c:f>Sheet1!$B$2:$B$5</c:f>
              <c:numCache>
                <c:formatCode>General</c:formatCode>
                <c:ptCount val="4"/>
                <c:pt idx="0">
                  <c:v>51</c:v>
                </c:pt>
                <c:pt idx="1">
                  <c:v>29</c:v>
                </c:pt>
                <c:pt idx="2">
                  <c:v>35</c:v>
                </c:pt>
                <c:pt idx="3">
                  <c:v>32</c:v>
                </c:pt>
              </c:numCache>
            </c:numRef>
          </c:val>
        </c:ser>
        <c:dLbls>
          <c:numFmt formatCode="0&quot;%&quot;" sourceLinked="0"/>
          <c:txPr>
            <a:bodyPr/>
            <a:lstStyle/>
            <a:p>
              <a:pPr>
                <a:defRPr b="1" i="0" strike="noStrike" sz="1800" u="none">
                  <a:solidFill>
                    <a:srgbClr val="18222B"/>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6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Unconditional</c:v>
                </c:pt>
              </c:strCache>
            </c:strRef>
          </c:tx>
          <c:spPr>
            <a:solidFill>
              <a:srgbClr val="8A959E"/>
            </a:solidFill>
            <a:effectLst/>
          </c:spPr>
          <c:invertIfNegative val="0"/>
          <c:dLbls>
            <c:numFmt formatCode="0&quot;%&quot;;;;" sourceLinked="0"/>
            <c:txPr>
              <a:bodyPr/>
              <a:lstStyle/>
              <a:p>
                <a:pPr>
                  <a:defRPr b="1" i="0" strike="noStrike" sz="15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Sheet1!$A$2:$A$5</c:f>
              <c:multiLvlStrCache>
                <c:ptCount val="4"/>
                <c:lvl>
                  <c:pt idx="0">
                    <c:v>Yes, unconditionally</c:v>
                  </c:pt>
                  <c:pt idx="1">
                    <c:v>If pay improves</c:v>
                  </c:pt>
                  <c:pt idx="2">
                    <c:v>If management improves</c:v>
                  </c:pt>
                  <c:pt idx="3">
                    <c:v>Would not return</c:v>
                  </c:pt>
                </c:lvl>
              </c:multiLvlStrCache>
            </c:multiLvlStrRef>
          </c:cat>
          <c:val>
            <c:numRef>
              <c:f>Sheet1!$B$2:$B$5</c:f>
              <c:numCache>
                <c:formatCode>General</c:formatCode>
                <c:ptCount val="4"/>
                <c:pt idx="0">
                  <c:v>13</c:v>
                </c:pt>
                <c:pt idx="1">
                  <c:v>0</c:v>
                </c:pt>
                <c:pt idx="2">
                  <c:v>0</c:v>
                </c:pt>
                <c:pt idx="3">
                  <c:v>0</c:v>
                </c:pt>
              </c:numCache>
            </c:numRef>
          </c:val>
        </c:ser>
        <c:ser>
          <c:idx val="1"/>
          <c:order val="1"/>
          <c:tx>
            <c:strRef>
              <c:f>Sheet1!$C$1</c:f>
              <c:strCache>
                <c:ptCount val="1"/>
                <c:pt idx="0">
                  <c:v>Conditional</c:v>
                </c:pt>
              </c:strCache>
            </c:strRef>
          </c:tx>
          <c:spPr>
            <a:solidFill>
              <a:srgbClr val="1F7A70"/>
            </a:solidFill>
            <a:effectLst/>
          </c:spPr>
          <c:invertIfNegative val="0"/>
          <c:dLbls>
            <c:numFmt formatCode="0&quot;%&quot;;;;" sourceLinked="0"/>
            <c:txPr>
              <a:bodyPr/>
              <a:lstStyle/>
              <a:p>
                <a:pPr>
                  <a:defRPr b="1" i="0" strike="noStrike" sz="15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Sheet1!$A$2:$A$5</c:f>
              <c:multiLvlStrCache>
                <c:ptCount val="4"/>
                <c:lvl>
                  <c:pt idx="0">
                    <c:v>Yes, unconditionally</c:v>
                  </c:pt>
                  <c:pt idx="1">
                    <c:v>If pay improves</c:v>
                  </c:pt>
                  <c:pt idx="2">
                    <c:v>If management improves</c:v>
                  </c:pt>
                  <c:pt idx="3">
                    <c:v>Would not return</c:v>
                  </c:pt>
                </c:lvl>
              </c:multiLvlStrCache>
            </c:multiLvlStrRef>
          </c:cat>
          <c:val>
            <c:numRef>
              <c:f>Sheet1!$C$2:$C$5</c:f>
              <c:numCache>
                <c:formatCode>General</c:formatCode>
                <c:ptCount val="4"/>
                <c:pt idx="0">
                  <c:v>0</c:v>
                </c:pt>
                <c:pt idx="1">
                  <c:v>28</c:v>
                </c:pt>
                <c:pt idx="2">
                  <c:v>30</c:v>
                </c:pt>
                <c:pt idx="3">
                  <c:v>0</c:v>
                </c:pt>
              </c:numCache>
            </c:numRef>
          </c:val>
        </c:ser>
        <c:ser>
          <c:idx val="2"/>
          <c:order val="2"/>
          <c:tx>
            <c:strRef>
              <c:f>Sheet1!$D$1</c:f>
              <c:strCache>
                <c:ptCount val="1"/>
                <c:pt idx="0">
                  <c:v>No</c:v>
                </c:pt>
              </c:strCache>
            </c:strRef>
          </c:tx>
          <c:spPr>
            <a:solidFill>
              <a:srgbClr val="D9432B"/>
            </a:solidFill>
            <a:effectLst/>
          </c:spPr>
          <c:invertIfNegative val="0"/>
          <c:dLbls>
            <c:numFmt formatCode="0&quot;%&quot;;;;" sourceLinked="0"/>
            <c:txPr>
              <a:bodyPr/>
              <a:lstStyle/>
              <a:p>
                <a:pPr>
                  <a:defRPr b="1" i="0" strike="noStrike" sz="15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Sheet1!$A$2:$A$5</c:f>
              <c:multiLvlStrCache>
                <c:ptCount val="4"/>
                <c:lvl>
                  <c:pt idx="0">
                    <c:v>Yes, unconditionally</c:v>
                  </c:pt>
                  <c:pt idx="1">
                    <c:v>If pay improves</c:v>
                  </c:pt>
                  <c:pt idx="2">
                    <c:v>If management improves</c:v>
                  </c:pt>
                  <c:pt idx="3">
                    <c:v>Would not return</c:v>
                  </c:pt>
                </c:lvl>
              </c:multiLvlStrCache>
            </c:multiLvlStrRef>
          </c:cat>
          <c:val>
            <c:numRef>
              <c:f>Sheet1!$D$2:$D$5</c:f>
              <c:numCache>
                <c:formatCode>General</c:formatCode>
                <c:ptCount val="4"/>
                <c:pt idx="0">
                  <c:v>0</c:v>
                </c:pt>
                <c:pt idx="1">
                  <c:v>0</c:v>
                </c:pt>
                <c:pt idx="2">
                  <c:v>0</c:v>
                </c:pt>
                <c:pt idx="3">
                  <c:v>30</c:v>
                </c:pt>
              </c:numCache>
            </c:numRef>
          </c:val>
        </c:ser>
        <c:dLbls>
          <c:numFmt formatCode="0&quot;%&quot;;;;" sourceLinked="0"/>
          <c:txPr>
            <a:bodyPr/>
            <a:lstStyle/>
            <a:p>
              <a:pPr>
                <a:defRPr b="1" i="0" strike="noStrike" sz="1500" u="none">
                  <a:solidFill>
                    <a:srgbClr val="FFFFFF"/>
                  </a:solidFill>
                  <a:latin typeface="Calibri"/>
                </a:defRPr>
              </a:pPr>
            </a:p>
          </c:txPr>
          <c:dLblPos val="inEnd"/>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8222B"/>
                </a:solidFill>
                <a:latin typeface="Calibri"/>
              </a:defRPr>
            </a:pPr>
            <a:endParaRPr lang="en-US"/>
          </a:p>
        </c:txPr>
        <c:crossAx val="2094734552"/>
        <c:crosses val="autoZero"/>
        <c:auto val="1"/>
        <c:lblAlgn val="ctr"/>
        <c:noMultiLvlLbl val="1"/>
      </c:catAx>
      <c:valAx>
        <c:axId val="2094734552"/>
        <c:scaling>
          <c:orientation val="minMax"/>
          <c:max val="3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873 responses: 595 Active, 278 Inactive, across Delhi, Mumbai, Bangalore, Kolkata, Chennai, Hyderabad and Pune. Final locked counts from the Summary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NPS -56 overall (Active -53, Inactive -61). Satisfaction 26% overall, 29% Active, 20% Inactive. The gap between current and former drivers is small: this is one story, not two.
2. Reality vs Expectations r=0.61 and Trust &amp; Honesty r=0.60 with Recommend score, the two strongest of nine attributes. Vehicle condition or garage delays is cited by 51% of Active drivers, but Garage &amp; Repair has the second-weakest correlation (r=0.46).
3. Active drivers who cite staff behaviour as a biggest problem score 1.7 points lower on Recommend (0-10) than those who don't.
4. 58% of Inactive drivers name a condition for returning: management (30%) or pay (28%). Only 13% would return unconditionally.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NPS: Total -56, Active -53, Inactive -61. Satisfaction (4-5 on a 5-point scale): Total 26%, Active 29%, Inactive 20%. Dissatisfied (1-3): Total 74%, Active 71%, Inactive 80%. Across all 873 drivers: 654 Detractors, 51 Passives, 168 Promoters. Drivers who have already left are only modestly more negative than drivers still on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is the correlation between each 1-5 attribute rating and the 0-10 Recommend score, Active drivers.
Reality vs Expectations (r=0.61) is the strongest predictor in the dataset; Trust &amp; Honesty (r=0.60) is second. 46% and 41% of Active drivers give them a flat 1.
Garage &amp; Repair is the single lowest-rated attribute (2.1) and 52% of Active drivers give it a flat 1, the highest floor share in the survey. Vehicle condition or garage delays is the most-cited biggest problem (51%). But its correlation with Recommend is r=0.46, second weakest of nine.
The pattern holds on every product: Trust &amp; Honesty and Reality vs Expectations are the top two satisfaction differentiators for Active drivers on OwnNow, DTO and Leasing.
App (r=0.43) is the highest-rated and least tied to loyalty.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Issue labels map to the Biggest Problem options: Staff Behaviour = 'Staff behaviour'; Onboarding Promise Gap = 'Promises not matched'; Support Resolution Gap = 'Support not answering or not resolving'; Vehicle Downtime = 'Vehicle condition or garage delays'.
Loyalty cost = average Recommend of Active drivers who cite the issue minus those who don't.
Staff behaviour: -1.7, the largest gap of any complaint, cited by 32%.
Promises not matched: -1.5, cited by 35%.
Support not resolving: -1.3, cited by 29%.
Vehicle condition or garage delays: -0.3, cited by 51%, the most common complaint and the smallest cost of the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Active NPS by city. r = correlation of the named attribute with Recommend, Active drivers in that city.
Trust-driven: Delhi (Trust r=0.68, Reality vs Expectations 0.66), worst city across the board; promises not matched is its most cited problem (52%) and 45% say Everest has become worse. Chennai (Trust 0.66). Bangalore (Trust 0.66, Vehicle 0.63), the strongest market at -26 and 49% satisfied.
Staff-driven: Hyderabad, Staff Behaviour is the top predictor (r=0.66) with the widest Detractor-Promoter gap of any complaint in any city (+40); also the worst Inactive NPS (-77). Mumbai: Reality vs Expectations leads narrowly (r=0.53), Staff Behaviour second (0.49), and staff carries the widest Detractor-Promoter gap (+20 pts).
Money-driven: Kolkata, Earnings &amp; Payments r=0.79 and Hisaab 0.68. Kolkata is the smallest sample: 30 Active drivers, 4 Promoters. Pune, Earnings &amp; Payments r=0.61; 52% of Pune's leavers say better pay would make them proud of Everest.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Active NPS: OwnNow -45, Leasing -57, DTO -61 (Overall Findings). Delhi DTO is the worst product-city NPS at -78; Hyderabad OwnNow is the only positive one at +8.
Top value driver (best part of Everest, Active): OwnNow ownership opportunity 56%; DTO ownership opportunity 42%, even though DTO drivers don't yet own their vehicle; Leasing on-time payments 40%.
Top complaint (Active): OwnNow promises not matched 46%, with vehicle or garage issues at only 18%; DTO vehicle or garage 49%; Leasing vehicle or garage 67%, the highest of any product.
The tension: OwnNow has the best numbers and is the most likely to say Everest is clearly improving (20% vs 13% DTO, 9% Leasing), but its drivers hold the sharpest sense of broken promises. Removing vehicle dependency moves the complaint, it doesn't remove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intent (Inactive): would not return 30%, if management improves 30%, if pay improves 28%, yes unconditionally 13%. Management is at least as large a lever as pay for win-back. Chennai leans hardest to management (41%), Pune to pay (44%).
What they're doing now: 42% not currently working, a larger group than those at another fleet (28%).
Competitors: Carrum and Move are the fleets named most often. These are small counts from an open-text question (roughly 10 Carrum and 5 Move mentions), so treat as direction, not share.
Reasons for leaving: staff or management behaviour and pay dissatisfaction tied at 21%. Staff-behaviour leavers are the more bitter group (2.3 average Recommend vs 2.9 for pay leavers).
40% remain frustrated about how their exit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the Summary tab: once the brand strategy is live, the same survey is rerun as an endline study and compared with this baseline to measure actual lift in sentiment and brand metrics.
Baseline readings shown are this wave's headline figures: NPS -56, 26% satisfied, 50% of Active drivers first think of Everest as 'a company that looks out only for itself', 38% of Active drivers say Everest has become worse recently.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22B"/>
        </a:solidFill>
      </p:bgPr>
    </p:bg>
    <p:spTree>
      <p:nvGrpSpPr>
        <p:cNvPr id="1" name=""/>
        <p:cNvGrpSpPr/>
        <p:nvPr/>
      </p:nvGrpSpPr>
      <p:grpSpPr>
        <a:xfrm>
          <a:off x="0" y="0"/>
          <a:ext cx="0" cy="0"/>
          <a:chOff x="0" y="0"/>
          <a:chExt cx="0" cy="0"/>
        </a:xfrm>
      </p:grpSpPr>
      <p:sp>
        <p:nvSpPr>
          <p:cNvPr id="2" name="Text 0"/>
          <p:cNvSpPr txBox="1"/>
          <p:nvPr/>
        </p:nvSpPr>
        <p:spPr>
          <a:xfrm>
            <a:off x="548640" y="822960"/>
            <a:ext cx="9144000" cy="365760"/>
          </a:xfrm>
          <a:prstGeom prst="rect">
            <a:avLst/>
          </a:prstGeom>
          <a:noFill/>
          <a:ln/>
        </p:spPr>
        <p:txBody>
          <a:bodyPr wrap="square" lIns="0" tIns="0" rIns="0" bIns="0" rtlCol="0" anchor="t"/>
          <a:lstStyle/>
          <a:p>
            <a:pPr indent="0" marL="0">
              <a:buNone/>
            </a:pPr>
            <a:r>
              <a:rPr lang="en-US" sz="1400" b="1" spc="300" kern="0" dirty="0">
                <a:solidFill>
                  <a:srgbClr val="9AA7B1"/>
                </a:solidFill>
                <a:latin typeface="Calibri" pitchFamily="34" charset="0"/>
                <a:ea typeface="Calibri" pitchFamily="34" charset="-122"/>
                <a:cs typeface="Calibri" pitchFamily="34" charset="-120"/>
              </a:rPr>
              <a:t>EVEREST FLEET  ·  INTERNAL DRIVER PARTNER SURVEY</a:t>
            </a:r>
            <a:endParaRPr lang="en-US" sz="1400" dirty="0"/>
          </a:p>
        </p:txBody>
      </p:sp>
      <p:sp>
        <p:nvSpPr>
          <p:cNvPr id="3" name="Text 1"/>
          <p:cNvSpPr txBox="1"/>
          <p:nvPr/>
        </p:nvSpPr>
        <p:spPr>
          <a:xfrm>
            <a:off x="548640" y="1828800"/>
            <a:ext cx="10058400" cy="109728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What our drivers think of us</a:t>
            </a:r>
            <a:endParaRPr lang="en-US" sz="4800" dirty="0"/>
          </a:p>
        </p:txBody>
      </p:sp>
      <p:sp>
        <p:nvSpPr>
          <p:cNvPr id="4" name="Text 2"/>
          <p:cNvSpPr txBox="1"/>
          <p:nvPr/>
        </p:nvSpPr>
        <p:spPr>
          <a:xfrm>
            <a:off x="548640" y="2926080"/>
            <a:ext cx="10058400" cy="640080"/>
          </a:xfrm>
          <a:prstGeom prst="rect">
            <a:avLst/>
          </a:prstGeom>
          <a:noFill/>
          <a:ln/>
        </p:spPr>
        <p:txBody>
          <a:bodyPr wrap="square" lIns="0" tIns="0" rIns="0" bIns="0" rtlCol="0" anchor="t"/>
          <a:lstStyle/>
          <a:p>
            <a:pPr indent="0" marL="0">
              <a:buNone/>
            </a:pPr>
            <a:r>
              <a:rPr lang="en-US" sz="2800" i="1" dirty="0">
                <a:solidFill>
                  <a:srgbClr val="F08A76"/>
                </a:solidFill>
                <a:latin typeface="Cambria" pitchFamily="34" charset="0"/>
                <a:ea typeface="Cambria" pitchFamily="34" charset="-122"/>
                <a:cs typeface="Cambria" pitchFamily="34" charset="-120"/>
              </a:rPr>
              <a:t>Baseline Wave</a:t>
            </a:r>
            <a:endParaRPr lang="en-US" sz="2800" dirty="0"/>
          </a:p>
        </p:txBody>
      </p:sp>
      <p:sp>
        <p:nvSpPr>
          <p:cNvPr id="5" name="Text 3"/>
          <p:cNvSpPr txBox="1"/>
          <p:nvPr/>
        </p:nvSpPr>
        <p:spPr>
          <a:xfrm>
            <a:off x="548640" y="4434840"/>
            <a:ext cx="219456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873</a:t>
            </a:r>
            <a:endParaRPr lang="en-US" sz="4000" dirty="0"/>
          </a:p>
        </p:txBody>
      </p:sp>
      <p:sp>
        <p:nvSpPr>
          <p:cNvPr id="6" name="Text 4"/>
          <p:cNvSpPr txBox="1"/>
          <p:nvPr/>
        </p:nvSpPr>
        <p:spPr>
          <a:xfrm>
            <a:off x="548640" y="5166360"/>
            <a:ext cx="2194560" cy="365760"/>
          </a:xfrm>
          <a:prstGeom prst="rect">
            <a:avLst/>
          </a:prstGeom>
          <a:noFill/>
          <a:ln/>
        </p:spPr>
        <p:txBody>
          <a:bodyPr wrap="square" lIns="0" tIns="0" rIns="0" bIns="0" rtlCol="0" anchor="t"/>
          <a:lstStyle/>
          <a:p>
            <a:pPr indent="0" marL="0">
              <a:buNone/>
            </a:pPr>
            <a:r>
              <a:rPr lang="en-US" sz="1400" dirty="0">
                <a:solidFill>
                  <a:srgbClr val="9AA7B1"/>
                </a:solidFill>
                <a:latin typeface="Calibri" pitchFamily="34" charset="0"/>
                <a:ea typeface="Calibri" pitchFamily="34" charset="-122"/>
                <a:cs typeface="Calibri" pitchFamily="34" charset="-120"/>
              </a:rPr>
              <a:t>drivers responded</a:t>
            </a:r>
            <a:endParaRPr lang="en-US" sz="1400" dirty="0"/>
          </a:p>
        </p:txBody>
      </p:sp>
      <p:sp>
        <p:nvSpPr>
          <p:cNvPr id="7" name="Text 5"/>
          <p:cNvSpPr txBox="1"/>
          <p:nvPr/>
        </p:nvSpPr>
        <p:spPr>
          <a:xfrm>
            <a:off x="2926080" y="4434840"/>
            <a:ext cx="219456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595</a:t>
            </a:r>
            <a:endParaRPr lang="en-US" sz="4000" dirty="0"/>
          </a:p>
        </p:txBody>
      </p:sp>
      <p:sp>
        <p:nvSpPr>
          <p:cNvPr id="8" name="Text 6"/>
          <p:cNvSpPr txBox="1"/>
          <p:nvPr/>
        </p:nvSpPr>
        <p:spPr>
          <a:xfrm>
            <a:off x="2926080" y="5166360"/>
            <a:ext cx="2194560" cy="365760"/>
          </a:xfrm>
          <a:prstGeom prst="rect">
            <a:avLst/>
          </a:prstGeom>
          <a:noFill/>
          <a:ln/>
        </p:spPr>
        <p:txBody>
          <a:bodyPr wrap="square" lIns="0" tIns="0" rIns="0" bIns="0" rtlCol="0" anchor="t"/>
          <a:lstStyle/>
          <a:p>
            <a:pPr indent="0" marL="0">
              <a:buNone/>
            </a:pPr>
            <a:r>
              <a:rPr lang="en-US" sz="1400" dirty="0">
                <a:solidFill>
                  <a:srgbClr val="9AA7B1"/>
                </a:solidFill>
                <a:latin typeface="Calibri" pitchFamily="34" charset="0"/>
                <a:ea typeface="Calibri" pitchFamily="34" charset="-122"/>
                <a:cs typeface="Calibri" pitchFamily="34" charset="-120"/>
              </a:rPr>
              <a:t>Active</a:t>
            </a:r>
            <a:endParaRPr lang="en-US" sz="1400" dirty="0"/>
          </a:p>
        </p:txBody>
      </p:sp>
      <p:sp>
        <p:nvSpPr>
          <p:cNvPr id="9" name="Text 7"/>
          <p:cNvSpPr txBox="1"/>
          <p:nvPr/>
        </p:nvSpPr>
        <p:spPr>
          <a:xfrm>
            <a:off x="5303520" y="4434840"/>
            <a:ext cx="219456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278</a:t>
            </a:r>
            <a:endParaRPr lang="en-US" sz="4000" dirty="0"/>
          </a:p>
        </p:txBody>
      </p:sp>
      <p:sp>
        <p:nvSpPr>
          <p:cNvPr id="10" name="Text 8"/>
          <p:cNvSpPr txBox="1"/>
          <p:nvPr/>
        </p:nvSpPr>
        <p:spPr>
          <a:xfrm>
            <a:off x="5303520" y="5166360"/>
            <a:ext cx="2194560" cy="365760"/>
          </a:xfrm>
          <a:prstGeom prst="rect">
            <a:avLst/>
          </a:prstGeom>
          <a:noFill/>
          <a:ln/>
        </p:spPr>
        <p:txBody>
          <a:bodyPr wrap="square" lIns="0" tIns="0" rIns="0" bIns="0" rtlCol="0" anchor="t"/>
          <a:lstStyle/>
          <a:p>
            <a:pPr indent="0" marL="0">
              <a:buNone/>
            </a:pPr>
            <a:r>
              <a:rPr lang="en-US" sz="1400" dirty="0">
                <a:solidFill>
                  <a:srgbClr val="9AA7B1"/>
                </a:solidFill>
                <a:latin typeface="Calibri" pitchFamily="34" charset="0"/>
                <a:ea typeface="Calibri" pitchFamily="34" charset="-122"/>
                <a:cs typeface="Calibri" pitchFamily="34" charset="-120"/>
              </a:rPr>
              <a:t>Inactive</a:t>
            </a:r>
            <a:endParaRPr lang="en-US" sz="1400" dirty="0"/>
          </a:p>
        </p:txBody>
      </p:sp>
      <p:sp>
        <p:nvSpPr>
          <p:cNvPr id="11" name="Text 9"/>
          <p:cNvSpPr txBox="1"/>
          <p:nvPr/>
        </p:nvSpPr>
        <p:spPr>
          <a:xfrm>
            <a:off x="7680960" y="4434840"/>
            <a:ext cx="219456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7</a:t>
            </a:r>
            <a:endParaRPr lang="en-US" sz="4000" dirty="0"/>
          </a:p>
        </p:txBody>
      </p:sp>
      <p:sp>
        <p:nvSpPr>
          <p:cNvPr id="12" name="Text 10"/>
          <p:cNvSpPr txBox="1"/>
          <p:nvPr/>
        </p:nvSpPr>
        <p:spPr>
          <a:xfrm>
            <a:off x="7680960" y="5166360"/>
            <a:ext cx="2194560" cy="365760"/>
          </a:xfrm>
          <a:prstGeom prst="rect">
            <a:avLst/>
          </a:prstGeom>
          <a:noFill/>
          <a:ln/>
        </p:spPr>
        <p:txBody>
          <a:bodyPr wrap="square" lIns="0" tIns="0" rIns="0" bIns="0" rtlCol="0" anchor="t"/>
          <a:lstStyle/>
          <a:p>
            <a:pPr indent="0" marL="0">
              <a:buNone/>
            </a:pPr>
            <a:r>
              <a:rPr lang="en-US" sz="1400" dirty="0">
                <a:solidFill>
                  <a:srgbClr val="9AA7B1"/>
                </a:solidFill>
                <a:latin typeface="Calibri" pitchFamily="34" charset="0"/>
                <a:ea typeface="Calibri" pitchFamily="34" charset="-122"/>
                <a:cs typeface="Calibri" pitchFamily="34" charset="-120"/>
              </a:rPr>
              <a:t>cities</a:t>
            </a:r>
            <a:endParaRPr lang="en-US" sz="1400" dirty="0"/>
          </a:p>
        </p:txBody>
      </p:sp>
      <p:sp>
        <p:nvSpPr>
          <p:cNvPr id="13" name="Text 11"/>
          <p:cNvSpPr txBox="1"/>
          <p:nvPr/>
        </p:nvSpPr>
        <p:spPr>
          <a:xfrm>
            <a:off x="548640" y="6217920"/>
            <a:ext cx="5486400" cy="365760"/>
          </a:xfrm>
          <a:prstGeom prst="rect">
            <a:avLst/>
          </a:prstGeom>
          <a:noFill/>
          <a:ln/>
        </p:spPr>
        <p:txBody>
          <a:bodyPr wrap="square" lIns="0" tIns="0" rIns="0" bIns="0" rtlCol="0" anchor="t"/>
          <a:lstStyle/>
          <a:p>
            <a:pPr indent="0" marL="0">
              <a:buNone/>
            </a:pPr>
            <a:r>
              <a:rPr lang="en-US" sz="1200" dirty="0">
                <a:solidFill>
                  <a:srgbClr val="9AA7B1"/>
                </a:solidFill>
                <a:latin typeface="Calibri" pitchFamily="34" charset="0"/>
                <a:ea typeface="Calibri" pitchFamily="34" charset="-122"/>
                <a:cs typeface="Calibri" pitchFamily="34" charset="-120"/>
              </a:rPr>
              <a:t>CXO review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18222B"/>
                </a:solidFill>
                <a:latin typeface="Cambria" pitchFamily="34" charset="0"/>
                <a:ea typeface="Cambria" pitchFamily="34" charset="-122"/>
                <a:cs typeface="Cambria" pitchFamily="34" charset="-120"/>
              </a:rPr>
              <a:t>Four things to take away</a:t>
            </a:r>
            <a:endParaRPr lang="en-US" sz="3200" dirty="0"/>
          </a:p>
        </p:txBody>
      </p:sp>
      <p:sp>
        <p:nvSpPr>
          <p:cNvPr id="3" name="Shape 1"/>
          <p:cNvSpPr/>
          <p:nvPr/>
        </p:nvSpPr>
        <p:spPr>
          <a:xfrm>
            <a:off x="548640" y="1417320"/>
            <a:ext cx="11094415" cy="1051560"/>
          </a:xfrm>
          <a:prstGeom prst="roundRect">
            <a:avLst>
              <a:gd name="adj" fmla="val 6957"/>
            </a:avLst>
          </a:prstGeom>
          <a:solidFill>
            <a:srgbClr val="F1F3F5"/>
          </a:solidFill>
          <a:ln w="12700">
            <a:solidFill>
              <a:srgbClr val="F1F3F5"/>
            </a:solidFill>
            <a:prstDash val="solid"/>
          </a:ln>
        </p:spPr>
      </p:sp>
      <p:sp>
        <p:nvSpPr>
          <p:cNvPr id="4" name="Text 2"/>
          <p:cNvSpPr txBox="1"/>
          <p:nvPr/>
        </p:nvSpPr>
        <p:spPr>
          <a:xfrm>
            <a:off x="822960" y="1527048"/>
            <a:ext cx="2011680" cy="594360"/>
          </a:xfrm>
          <a:prstGeom prst="rect">
            <a:avLst/>
          </a:prstGeom>
          <a:noFill/>
          <a:ln/>
        </p:spPr>
        <p:txBody>
          <a:bodyPr wrap="square" lIns="0" tIns="0" rIns="0" bIns="0" rtlCol="0" anchor="ctr"/>
          <a:lstStyle/>
          <a:p>
            <a:pPr indent="0" marL="0">
              <a:buNone/>
            </a:pPr>
            <a:r>
              <a:rPr lang="en-US" sz="3600" b="1" dirty="0">
                <a:solidFill>
                  <a:srgbClr val="D9432B"/>
                </a:solidFill>
                <a:latin typeface="Cambria" pitchFamily="34" charset="0"/>
                <a:ea typeface="Cambria" pitchFamily="34" charset="-122"/>
                <a:cs typeface="Cambria" pitchFamily="34" charset="-120"/>
              </a:rPr>
              <a:t>-56</a:t>
            </a:r>
            <a:endParaRPr lang="en-US" sz="3600" dirty="0"/>
          </a:p>
        </p:txBody>
      </p:sp>
      <p:sp>
        <p:nvSpPr>
          <p:cNvPr id="5" name="Text 3"/>
          <p:cNvSpPr txBox="1"/>
          <p:nvPr/>
        </p:nvSpPr>
        <p:spPr>
          <a:xfrm>
            <a:off x="822960" y="2103120"/>
            <a:ext cx="2011680" cy="274320"/>
          </a:xfrm>
          <a:prstGeom prst="rect">
            <a:avLst/>
          </a:prstGeom>
          <a:noFill/>
          <a:ln/>
        </p:spPr>
        <p:txBody>
          <a:bodyPr wrap="square" lIns="0" tIns="0" rIns="0" bIns="0" rtlCol="0" anchor="t"/>
          <a:lstStyle/>
          <a:p>
            <a:pPr indent="0" marL="0">
              <a:buNone/>
            </a:pPr>
            <a:r>
              <a:rPr lang="en-US" sz="1100" dirty="0">
                <a:solidFill>
                  <a:srgbClr val="56636E"/>
                </a:solidFill>
                <a:latin typeface="Calibri" pitchFamily="34" charset="0"/>
                <a:ea typeface="Calibri" pitchFamily="34" charset="-122"/>
                <a:cs typeface="Calibri" pitchFamily="34" charset="-120"/>
              </a:rPr>
              <a:t>NPS</a:t>
            </a:r>
            <a:endParaRPr lang="en-US" sz="1100" dirty="0"/>
          </a:p>
        </p:txBody>
      </p:sp>
      <p:sp>
        <p:nvSpPr>
          <p:cNvPr id="6" name="Text 4"/>
          <p:cNvSpPr txBox="1"/>
          <p:nvPr/>
        </p:nvSpPr>
        <p:spPr>
          <a:xfrm>
            <a:off x="3108960" y="1572768"/>
            <a:ext cx="8229600" cy="365760"/>
          </a:xfrm>
          <a:prstGeom prst="rect">
            <a:avLst/>
          </a:prstGeom>
          <a:noFill/>
          <a:ln/>
        </p:spPr>
        <p:txBody>
          <a:bodyPr wrap="square" lIns="0" tIns="0" rIns="0" bIns="0" rtlCol="0" anchor="t"/>
          <a:lstStyle/>
          <a:p>
            <a:pPr indent="0" marL="0">
              <a:buNone/>
            </a:pPr>
            <a:r>
              <a:rPr lang="en-US" sz="1900" b="1" dirty="0">
                <a:solidFill>
                  <a:srgbClr val="18222B"/>
                </a:solidFill>
                <a:latin typeface="Calibri" pitchFamily="34" charset="0"/>
                <a:ea typeface="Calibri" pitchFamily="34" charset="-122"/>
                <a:cs typeface="Calibri" pitchFamily="34" charset="-120"/>
              </a:rPr>
              <a:t>Drivers still with us and drivers who left say the same thing</a:t>
            </a:r>
            <a:endParaRPr lang="en-US" sz="1900" dirty="0"/>
          </a:p>
        </p:txBody>
      </p:sp>
      <p:sp>
        <p:nvSpPr>
          <p:cNvPr id="7" name="Text 5"/>
          <p:cNvSpPr txBox="1"/>
          <p:nvPr/>
        </p:nvSpPr>
        <p:spPr>
          <a:xfrm>
            <a:off x="3108960" y="1965960"/>
            <a:ext cx="8229600" cy="411480"/>
          </a:xfrm>
          <a:prstGeom prst="rect">
            <a:avLst/>
          </a:prstGeom>
          <a:noFill/>
          <a:ln/>
        </p:spPr>
        <p:txBody>
          <a:bodyPr wrap="square" lIns="0" tIns="0" rIns="0" bIns="0" rtlCol="0" anchor="t"/>
          <a:lstStyle/>
          <a:p>
            <a:pPr indent="0" marL="0">
              <a:buNone/>
            </a:pPr>
            <a:r>
              <a:rPr lang="en-US" sz="1400" dirty="0">
                <a:solidFill>
                  <a:srgbClr val="56636E"/>
                </a:solidFill>
                <a:latin typeface="Calibri" pitchFamily="34" charset="0"/>
                <a:ea typeface="Calibri" pitchFamily="34" charset="-122"/>
                <a:cs typeface="Calibri" pitchFamily="34" charset="-120"/>
              </a:rPr>
              <a:t>Active -53, Inactive -61. Only 26% are satisfied.</a:t>
            </a:r>
            <a:endParaRPr lang="en-US" sz="1400" dirty="0"/>
          </a:p>
        </p:txBody>
      </p:sp>
      <p:sp>
        <p:nvSpPr>
          <p:cNvPr id="8" name="Shape 6"/>
          <p:cNvSpPr/>
          <p:nvPr/>
        </p:nvSpPr>
        <p:spPr>
          <a:xfrm>
            <a:off x="548640" y="2633472"/>
            <a:ext cx="11094415" cy="1051560"/>
          </a:xfrm>
          <a:prstGeom prst="roundRect">
            <a:avLst>
              <a:gd name="adj" fmla="val 6957"/>
            </a:avLst>
          </a:prstGeom>
          <a:solidFill>
            <a:srgbClr val="F1F3F5"/>
          </a:solidFill>
          <a:ln w="12700">
            <a:solidFill>
              <a:srgbClr val="F1F3F5"/>
            </a:solidFill>
            <a:prstDash val="solid"/>
          </a:ln>
        </p:spPr>
      </p:sp>
      <p:sp>
        <p:nvSpPr>
          <p:cNvPr id="9" name="Text 7"/>
          <p:cNvSpPr txBox="1"/>
          <p:nvPr/>
        </p:nvSpPr>
        <p:spPr>
          <a:xfrm>
            <a:off x="822960" y="2743200"/>
            <a:ext cx="2011680" cy="594360"/>
          </a:xfrm>
          <a:prstGeom prst="rect">
            <a:avLst/>
          </a:prstGeom>
          <a:noFill/>
          <a:ln/>
        </p:spPr>
        <p:txBody>
          <a:bodyPr wrap="square" lIns="0" tIns="0" rIns="0" bIns="0" rtlCol="0" anchor="ctr"/>
          <a:lstStyle/>
          <a:p>
            <a:pPr indent="0" marL="0">
              <a:buNone/>
            </a:pPr>
            <a:r>
              <a:rPr lang="en-US" sz="3600" b="1" dirty="0">
                <a:solidFill>
                  <a:srgbClr val="D9432B"/>
                </a:solidFill>
                <a:latin typeface="Cambria" pitchFamily="34" charset="0"/>
                <a:ea typeface="Cambria" pitchFamily="34" charset="-122"/>
                <a:cs typeface="Cambria" pitchFamily="34" charset="-120"/>
              </a:rPr>
              <a:t>0.61</a:t>
            </a:r>
            <a:endParaRPr lang="en-US" sz="3600" dirty="0"/>
          </a:p>
        </p:txBody>
      </p:sp>
      <p:sp>
        <p:nvSpPr>
          <p:cNvPr id="10" name="Text 8"/>
          <p:cNvSpPr txBox="1"/>
          <p:nvPr/>
        </p:nvSpPr>
        <p:spPr>
          <a:xfrm>
            <a:off x="822960" y="3319272"/>
            <a:ext cx="2011680" cy="274320"/>
          </a:xfrm>
          <a:prstGeom prst="rect">
            <a:avLst/>
          </a:prstGeom>
          <a:noFill/>
          <a:ln/>
        </p:spPr>
        <p:txBody>
          <a:bodyPr wrap="square" lIns="0" tIns="0" rIns="0" bIns="0" rtlCol="0" anchor="t"/>
          <a:lstStyle/>
          <a:p>
            <a:pPr indent="0" marL="0">
              <a:buNone/>
            </a:pPr>
            <a:r>
              <a:rPr lang="en-US" sz="1100" dirty="0">
                <a:solidFill>
                  <a:srgbClr val="56636E"/>
                </a:solidFill>
                <a:latin typeface="Calibri" pitchFamily="34" charset="0"/>
                <a:ea typeface="Calibri" pitchFamily="34" charset="-122"/>
                <a:cs typeface="Calibri" pitchFamily="34" charset="-120"/>
              </a:rPr>
              <a:t>correlation</a:t>
            </a:r>
            <a:endParaRPr lang="en-US" sz="1100" dirty="0"/>
          </a:p>
        </p:txBody>
      </p:sp>
      <p:sp>
        <p:nvSpPr>
          <p:cNvPr id="11" name="Text 9"/>
          <p:cNvSpPr txBox="1"/>
          <p:nvPr/>
        </p:nvSpPr>
        <p:spPr>
          <a:xfrm>
            <a:off x="3108960" y="2788920"/>
            <a:ext cx="8229600" cy="365760"/>
          </a:xfrm>
          <a:prstGeom prst="rect">
            <a:avLst/>
          </a:prstGeom>
          <a:noFill/>
          <a:ln/>
        </p:spPr>
        <p:txBody>
          <a:bodyPr wrap="square" lIns="0" tIns="0" rIns="0" bIns="0" rtlCol="0" anchor="t"/>
          <a:lstStyle/>
          <a:p>
            <a:pPr indent="0" marL="0">
              <a:buNone/>
            </a:pPr>
            <a:r>
              <a:rPr lang="en-US" sz="1900" b="1" dirty="0">
                <a:solidFill>
                  <a:srgbClr val="18222B"/>
                </a:solidFill>
                <a:latin typeface="Calibri" pitchFamily="34" charset="0"/>
                <a:ea typeface="Calibri" pitchFamily="34" charset="-122"/>
                <a:cs typeface="Calibri" pitchFamily="34" charset="-120"/>
              </a:rPr>
              <a:t>Loyalty tracks broken promises, not broken vehicles</a:t>
            </a:r>
            <a:endParaRPr lang="en-US" sz="1900" dirty="0"/>
          </a:p>
        </p:txBody>
      </p:sp>
      <p:sp>
        <p:nvSpPr>
          <p:cNvPr id="12" name="Text 10"/>
          <p:cNvSpPr txBox="1"/>
          <p:nvPr/>
        </p:nvSpPr>
        <p:spPr>
          <a:xfrm>
            <a:off x="3108960" y="3182112"/>
            <a:ext cx="8229600" cy="411480"/>
          </a:xfrm>
          <a:prstGeom prst="rect">
            <a:avLst/>
          </a:prstGeom>
          <a:noFill/>
          <a:ln/>
        </p:spPr>
        <p:txBody>
          <a:bodyPr wrap="square" lIns="0" tIns="0" rIns="0" bIns="0" rtlCol="0" anchor="t"/>
          <a:lstStyle/>
          <a:p>
            <a:pPr indent="0" marL="0">
              <a:buNone/>
            </a:pPr>
            <a:r>
              <a:rPr lang="en-US" sz="1400" dirty="0">
                <a:solidFill>
                  <a:srgbClr val="56636E"/>
                </a:solidFill>
                <a:latin typeface="Calibri" pitchFamily="34" charset="0"/>
                <a:ea typeface="Calibri" pitchFamily="34" charset="-122"/>
                <a:cs typeface="Calibri" pitchFamily="34" charset="-120"/>
              </a:rPr>
              <a:t>Reality vs Expectations and Trust &amp; Honesty predict Recommend best. Garage &amp; Repair is the top complaint and one of the weakest predictors.</a:t>
            </a:r>
            <a:endParaRPr lang="en-US" sz="1400" dirty="0"/>
          </a:p>
        </p:txBody>
      </p:sp>
      <p:sp>
        <p:nvSpPr>
          <p:cNvPr id="13" name="Shape 11"/>
          <p:cNvSpPr/>
          <p:nvPr/>
        </p:nvSpPr>
        <p:spPr>
          <a:xfrm>
            <a:off x="548640" y="3849624"/>
            <a:ext cx="11094415" cy="1051560"/>
          </a:xfrm>
          <a:prstGeom prst="roundRect">
            <a:avLst>
              <a:gd name="adj" fmla="val 6957"/>
            </a:avLst>
          </a:prstGeom>
          <a:solidFill>
            <a:srgbClr val="F1F3F5"/>
          </a:solidFill>
          <a:ln w="12700">
            <a:solidFill>
              <a:srgbClr val="F1F3F5"/>
            </a:solidFill>
            <a:prstDash val="solid"/>
          </a:ln>
        </p:spPr>
      </p:sp>
      <p:sp>
        <p:nvSpPr>
          <p:cNvPr id="14" name="Text 12"/>
          <p:cNvSpPr txBox="1"/>
          <p:nvPr/>
        </p:nvSpPr>
        <p:spPr>
          <a:xfrm>
            <a:off x="822960" y="3959352"/>
            <a:ext cx="2011680" cy="594360"/>
          </a:xfrm>
          <a:prstGeom prst="rect">
            <a:avLst/>
          </a:prstGeom>
          <a:noFill/>
          <a:ln/>
        </p:spPr>
        <p:txBody>
          <a:bodyPr wrap="square" lIns="0" tIns="0" rIns="0" bIns="0" rtlCol="0" anchor="ctr"/>
          <a:lstStyle/>
          <a:p>
            <a:pPr indent="0" marL="0">
              <a:buNone/>
            </a:pPr>
            <a:r>
              <a:rPr lang="en-US" sz="3600" b="1" dirty="0">
                <a:solidFill>
                  <a:srgbClr val="D9432B"/>
                </a:solidFill>
                <a:latin typeface="Cambria" pitchFamily="34" charset="0"/>
                <a:ea typeface="Cambria" pitchFamily="34" charset="-122"/>
                <a:cs typeface="Cambria" pitchFamily="34" charset="-120"/>
              </a:rPr>
              <a:t>-1.7</a:t>
            </a:r>
            <a:endParaRPr lang="en-US" sz="3600" dirty="0"/>
          </a:p>
        </p:txBody>
      </p:sp>
      <p:sp>
        <p:nvSpPr>
          <p:cNvPr id="15" name="Text 13"/>
          <p:cNvSpPr txBox="1"/>
          <p:nvPr/>
        </p:nvSpPr>
        <p:spPr>
          <a:xfrm>
            <a:off x="822960" y="4535424"/>
            <a:ext cx="2011680" cy="274320"/>
          </a:xfrm>
          <a:prstGeom prst="rect">
            <a:avLst/>
          </a:prstGeom>
          <a:noFill/>
          <a:ln/>
        </p:spPr>
        <p:txBody>
          <a:bodyPr wrap="square" lIns="0" tIns="0" rIns="0" bIns="0" rtlCol="0" anchor="t"/>
          <a:lstStyle/>
          <a:p>
            <a:pPr indent="0" marL="0">
              <a:buNone/>
            </a:pPr>
            <a:r>
              <a:rPr lang="en-US" sz="1100" dirty="0">
                <a:solidFill>
                  <a:srgbClr val="56636E"/>
                </a:solidFill>
                <a:latin typeface="Calibri" pitchFamily="34" charset="0"/>
                <a:ea typeface="Calibri" pitchFamily="34" charset="-122"/>
                <a:cs typeface="Calibri" pitchFamily="34" charset="-120"/>
              </a:rPr>
              <a:t>pts on Recommend</a:t>
            </a:r>
            <a:endParaRPr lang="en-US" sz="1100" dirty="0"/>
          </a:p>
        </p:txBody>
      </p:sp>
      <p:sp>
        <p:nvSpPr>
          <p:cNvPr id="16" name="Text 14"/>
          <p:cNvSpPr txBox="1"/>
          <p:nvPr/>
        </p:nvSpPr>
        <p:spPr>
          <a:xfrm>
            <a:off x="3108960" y="4005072"/>
            <a:ext cx="8229600" cy="365760"/>
          </a:xfrm>
          <a:prstGeom prst="rect">
            <a:avLst/>
          </a:prstGeom>
          <a:noFill/>
          <a:ln/>
        </p:spPr>
        <p:txBody>
          <a:bodyPr wrap="square" lIns="0" tIns="0" rIns="0" bIns="0" rtlCol="0" anchor="t"/>
          <a:lstStyle/>
          <a:p>
            <a:pPr indent="0" marL="0">
              <a:buNone/>
            </a:pPr>
            <a:r>
              <a:rPr lang="en-US" sz="1900" b="1" dirty="0">
                <a:solidFill>
                  <a:srgbClr val="18222B"/>
                </a:solidFill>
                <a:latin typeface="Calibri" pitchFamily="34" charset="0"/>
                <a:ea typeface="Calibri" pitchFamily="34" charset="-122"/>
                <a:cs typeface="Calibri" pitchFamily="34" charset="-120"/>
              </a:rPr>
              <a:t>Staff behaviour costs more loyalty than any other issue</a:t>
            </a:r>
            <a:endParaRPr lang="en-US" sz="1900" dirty="0"/>
          </a:p>
        </p:txBody>
      </p:sp>
      <p:sp>
        <p:nvSpPr>
          <p:cNvPr id="17" name="Text 15"/>
          <p:cNvSpPr txBox="1"/>
          <p:nvPr/>
        </p:nvSpPr>
        <p:spPr>
          <a:xfrm>
            <a:off x="3108960" y="4398264"/>
            <a:ext cx="8229600" cy="411480"/>
          </a:xfrm>
          <a:prstGeom prst="rect">
            <a:avLst/>
          </a:prstGeom>
          <a:noFill/>
          <a:ln/>
        </p:spPr>
        <p:txBody>
          <a:bodyPr wrap="square" lIns="0" tIns="0" rIns="0" bIns="0" rtlCol="0" anchor="t"/>
          <a:lstStyle/>
          <a:p>
            <a:pPr indent="0" marL="0">
              <a:buNone/>
            </a:pPr>
            <a:r>
              <a:rPr lang="en-US" sz="1400" dirty="0">
                <a:solidFill>
                  <a:srgbClr val="56636E"/>
                </a:solidFill>
                <a:latin typeface="Calibri" pitchFamily="34" charset="0"/>
                <a:ea typeface="Calibri" pitchFamily="34" charset="-122"/>
                <a:cs typeface="Calibri" pitchFamily="34" charset="-120"/>
              </a:rPr>
              <a:t>The largest gap of any complaint. Joint top reason for leaving (21%).</a:t>
            </a:r>
            <a:endParaRPr lang="en-US" sz="1400" dirty="0"/>
          </a:p>
        </p:txBody>
      </p:sp>
      <p:sp>
        <p:nvSpPr>
          <p:cNvPr id="18" name="Shape 16"/>
          <p:cNvSpPr/>
          <p:nvPr/>
        </p:nvSpPr>
        <p:spPr>
          <a:xfrm>
            <a:off x="548640" y="5065776"/>
            <a:ext cx="11094415" cy="1051560"/>
          </a:xfrm>
          <a:prstGeom prst="roundRect">
            <a:avLst>
              <a:gd name="adj" fmla="val 6957"/>
            </a:avLst>
          </a:prstGeom>
          <a:solidFill>
            <a:srgbClr val="F1F3F5"/>
          </a:solidFill>
          <a:ln w="12700">
            <a:solidFill>
              <a:srgbClr val="F1F3F5"/>
            </a:solidFill>
            <a:prstDash val="solid"/>
          </a:ln>
        </p:spPr>
      </p:sp>
      <p:sp>
        <p:nvSpPr>
          <p:cNvPr id="19" name="Text 17"/>
          <p:cNvSpPr txBox="1"/>
          <p:nvPr/>
        </p:nvSpPr>
        <p:spPr>
          <a:xfrm>
            <a:off x="822960" y="5175504"/>
            <a:ext cx="2011680" cy="594360"/>
          </a:xfrm>
          <a:prstGeom prst="rect">
            <a:avLst/>
          </a:prstGeom>
          <a:noFill/>
          <a:ln/>
        </p:spPr>
        <p:txBody>
          <a:bodyPr wrap="square" lIns="0" tIns="0" rIns="0" bIns="0" rtlCol="0" anchor="ctr"/>
          <a:lstStyle/>
          <a:p>
            <a:pPr indent="0" marL="0">
              <a:buNone/>
            </a:pPr>
            <a:r>
              <a:rPr lang="en-US" sz="3600" b="1" dirty="0">
                <a:solidFill>
                  <a:srgbClr val="1F7A70"/>
                </a:solidFill>
                <a:latin typeface="Cambria" pitchFamily="34" charset="0"/>
                <a:ea typeface="Cambria" pitchFamily="34" charset="-122"/>
                <a:cs typeface="Cambria" pitchFamily="34" charset="-120"/>
              </a:rPr>
              <a:t>58%</a:t>
            </a:r>
            <a:endParaRPr lang="en-US" sz="3600" dirty="0"/>
          </a:p>
        </p:txBody>
      </p:sp>
      <p:sp>
        <p:nvSpPr>
          <p:cNvPr id="20" name="Text 18"/>
          <p:cNvSpPr txBox="1"/>
          <p:nvPr/>
        </p:nvSpPr>
        <p:spPr>
          <a:xfrm>
            <a:off x="822960" y="5751576"/>
            <a:ext cx="2011680" cy="274320"/>
          </a:xfrm>
          <a:prstGeom prst="rect">
            <a:avLst/>
          </a:prstGeom>
          <a:noFill/>
          <a:ln/>
        </p:spPr>
        <p:txBody>
          <a:bodyPr wrap="square" lIns="0" tIns="0" rIns="0" bIns="0" rtlCol="0" anchor="t"/>
          <a:lstStyle/>
          <a:p>
            <a:pPr indent="0" marL="0">
              <a:buNone/>
            </a:pPr>
            <a:r>
              <a:rPr lang="en-US" sz="1100" dirty="0">
                <a:solidFill>
                  <a:srgbClr val="56636E"/>
                </a:solidFill>
                <a:latin typeface="Calibri" pitchFamily="34" charset="0"/>
                <a:ea typeface="Calibri" pitchFamily="34" charset="-122"/>
                <a:cs typeface="Calibri" pitchFamily="34" charset="-120"/>
              </a:rPr>
              <a:t>of churned drivers</a:t>
            </a:r>
            <a:endParaRPr lang="en-US" sz="1100" dirty="0"/>
          </a:p>
        </p:txBody>
      </p:sp>
      <p:sp>
        <p:nvSpPr>
          <p:cNvPr id="21" name="Text 19"/>
          <p:cNvSpPr txBox="1"/>
          <p:nvPr/>
        </p:nvSpPr>
        <p:spPr>
          <a:xfrm>
            <a:off x="3108960" y="5221224"/>
            <a:ext cx="8229600" cy="365760"/>
          </a:xfrm>
          <a:prstGeom prst="rect">
            <a:avLst/>
          </a:prstGeom>
          <a:noFill/>
          <a:ln/>
        </p:spPr>
        <p:txBody>
          <a:bodyPr wrap="square" lIns="0" tIns="0" rIns="0" bIns="0" rtlCol="0" anchor="t"/>
          <a:lstStyle/>
          <a:p>
            <a:pPr indent="0" marL="0">
              <a:buNone/>
            </a:pPr>
            <a:r>
              <a:rPr lang="en-US" sz="1900" b="1" dirty="0">
                <a:solidFill>
                  <a:srgbClr val="18222B"/>
                </a:solidFill>
                <a:latin typeface="Calibri" pitchFamily="34" charset="0"/>
                <a:ea typeface="Calibri" pitchFamily="34" charset="-122"/>
                <a:cs typeface="Calibri" pitchFamily="34" charset="-120"/>
              </a:rPr>
              <a:t>Are recoverable, on a condition</a:t>
            </a:r>
            <a:endParaRPr lang="en-US" sz="1900" dirty="0"/>
          </a:p>
        </p:txBody>
      </p:sp>
      <p:sp>
        <p:nvSpPr>
          <p:cNvPr id="22" name="Text 20"/>
          <p:cNvSpPr txBox="1"/>
          <p:nvPr/>
        </p:nvSpPr>
        <p:spPr>
          <a:xfrm>
            <a:off x="3108960" y="5614416"/>
            <a:ext cx="8229600" cy="411480"/>
          </a:xfrm>
          <a:prstGeom prst="rect">
            <a:avLst/>
          </a:prstGeom>
          <a:noFill/>
          <a:ln/>
        </p:spPr>
        <p:txBody>
          <a:bodyPr wrap="square" lIns="0" tIns="0" rIns="0" bIns="0" rtlCol="0" anchor="t"/>
          <a:lstStyle/>
          <a:p>
            <a:pPr indent="0" marL="0">
              <a:buNone/>
            </a:pPr>
            <a:r>
              <a:rPr lang="en-US" sz="1400" dirty="0">
                <a:solidFill>
                  <a:srgbClr val="56636E"/>
                </a:solidFill>
                <a:latin typeface="Calibri" pitchFamily="34" charset="0"/>
                <a:ea typeface="Calibri" pitchFamily="34" charset="-122"/>
                <a:cs typeface="Calibri" pitchFamily="34" charset="-120"/>
              </a:rPr>
              <a:t>30% would return if management improves, 28% if pay improves.</a:t>
            </a:r>
            <a:endParaRPr lang="en-US" sz="1400" dirty="0"/>
          </a:p>
        </p:txBody>
      </p:sp>
      <p:sp>
        <p:nvSpPr>
          <p:cNvPr id="23" name="Text 2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A959E"/>
                </a:solidFill>
                <a:latin typeface="Calibri" pitchFamily="34" charset="0"/>
                <a:ea typeface="Calibri" pitchFamily="34" charset="-122"/>
                <a:cs typeface="Calibri" pitchFamily="34" charset="-120"/>
              </a:rPr>
              <a:t>Driver Partner Survey  ·  Baseline Wave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18222B"/>
                </a:solidFill>
                <a:latin typeface="Cambria" pitchFamily="34" charset="0"/>
                <a:ea typeface="Cambria" pitchFamily="34" charset="-122"/>
                <a:cs typeface="Cambria" pitchFamily="34" charset="-120"/>
              </a:rPr>
              <a:t>Three in four drivers are Detractors</a:t>
            </a:r>
            <a:endParaRPr lang="en-US" sz="32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56636E"/>
                </a:solidFill>
                <a:latin typeface="Calibri" pitchFamily="34" charset="0"/>
                <a:ea typeface="Calibri" pitchFamily="34" charset="-122"/>
                <a:cs typeface="Calibri" pitchFamily="34" charset="-120"/>
              </a:rPr>
              <a:t>Detractors 75%  ·  Passives 6%  ·  Promoters 19%</a:t>
            </a:r>
            <a:endParaRPr lang="en-US" sz="1600" dirty="0"/>
          </a:p>
        </p:txBody>
      </p:sp>
      <p:sp>
        <p:nvSpPr>
          <p:cNvPr id="4" name="Text 2"/>
          <p:cNvSpPr txBox="1"/>
          <p:nvPr/>
        </p:nvSpPr>
        <p:spPr>
          <a:xfrm>
            <a:off x="548640" y="1828800"/>
            <a:ext cx="5303520" cy="365760"/>
          </a:xfrm>
          <a:prstGeom prst="rect">
            <a:avLst/>
          </a:prstGeom>
          <a:noFill/>
          <a:ln/>
        </p:spPr>
        <p:txBody>
          <a:bodyPr wrap="square" lIns="0" tIns="0" rIns="0" bIns="0" rtlCol="0" anchor="t"/>
          <a:lstStyle/>
          <a:p>
            <a:pPr indent="0" marL="0">
              <a:buNone/>
            </a:pPr>
            <a:r>
              <a:rPr lang="en-US" sz="1600" b="1" dirty="0">
                <a:solidFill>
                  <a:srgbClr val="18222B"/>
                </a:solidFill>
                <a:latin typeface="Calibri" pitchFamily="34" charset="0"/>
                <a:ea typeface="Calibri" pitchFamily="34" charset="-122"/>
                <a:cs typeface="Calibri" pitchFamily="34" charset="-120"/>
              </a:rPr>
              <a:t>Net Promoter Score</a:t>
            </a:r>
            <a:endParaRPr lang="en-US" sz="1600" dirty="0"/>
          </a:p>
        </p:txBody>
      </p:sp>
      <p:graphicFrame>
        <p:nvGraphicFramePr>
          <p:cNvPr id="5" name="Chart 0" descr=""/>
          <p:cNvGraphicFramePr/>
          <p:nvPr/>
        </p:nvGraphicFramePr>
        <p:xfrm>
          <a:off x="548640" y="2240280"/>
          <a:ext cx="530352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400800" y="1828800"/>
            <a:ext cx="5212080" cy="365760"/>
          </a:xfrm>
          <a:prstGeom prst="rect">
            <a:avLst/>
          </a:prstGeom>
          <a:noFill/>
          <a:ln/>
        </p:spPr>
        <p:txBody>
          <a:bodyPr wrap="square" lIns="0" tIns="0" rIns="0" bIns="0" rtlCol="0" anchor="t"/>
          <a:lstStyle/>
          <a:p>
            <a:pPr indent="0" marL="0">
              <a:buNone/>
            </a:pPr>
            <a:r>
              <a:rPr lang="en-US" sz="1600" b="1" dirty="0">
                <a:solidFill>
                  <a:srgbClr val="18222B"/>
                </a:solidFill>
                <a:latin typeface="Calibri" pitchFamily="34" charset="0"/>
                <a:ea typeface="Calibri" pitchFamily="34" charset="-122"/>
                <a:cs typeface="Calibri" pitchFamily="34" charset="-120"/>
              </a:rPr>
              <a:t>Satisfied vs Dissatisfied</a:t>
            </a:r>
            <a:endParaRPr lang="en-US" sz="1600" dirty="0"/>
          </a:p>
        </p:txBody>
      </p:sp>
      <p:graphicFrame>
        <p:nvGraphicFramePr>
          <p:cNvPr id="7" name="Chart 1" descr=""/>
          <p:cNvGraphicFramePr/>
          <p:nvPr/>
        </p:nvGraphicFramePr>
        <p:xfrm>
          <a:off x="6400800" y="2240280"/>
          <a:ext cx="5212080" cy="3931920"/>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A959E"/>
                </a:solidFill>
                <a:latin typeface="Calibri" pitchFamily="34" charset="0"/>
                <a:ea typeface="Calibri" pitchFamily="34" charset="-122"/>
                <a:cs typeface="Calibri" pitchFamily="34" charset="-120"/>
              </a:rPr>
              <a:t>Driver Partner Survey  ·  Baseline Wave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18222B"/>
                </a:solidFill>
                <a:latin typeface="Cambria" pitchFamily="34" charset="0"/>
                <a:ea typeface="Cambria" pitchFamily="34" charset="-122"/>
                <a:cs typeface="Cambria" pitchFamily="34" charset="-120"/>
              </a:rPr>
              <a:t>The top complaint is not what costs us loyalty</a:t>
            </a:r>
            <a:endParaRPr lang="en-US" sz="32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56636E"/>
                </a:solidFill>
                <a:latin typeface="Calibri" pitchFamily="34" charset="0"/>
                <a:ea typeface="Calibri" pitchFamily="34" charset="-122"/>
                <a:cs typeface="Calibri" pitchFamily="34" charset="-120"/>
              </a:rPr>
              <a:t>How strongly each rating tracks with Recommend score (r, Active drivers)</a:t>
            </a:r>
            <a:endParaRPr lang="en-US" sz="1600" dirty="0"/>
          </a:p>
        </p:txBody>
      </p:sp>
      <p:graphicFrame>
        <p:nvGraphicFramePr>
          <p:cNvPr id="4" name="Chart 0" descr=""/>
          <p:cNvGraphicFramePr/>
          <p:nvPr/>
        </p:nvGraphicFramePr>
        <p:xfrm>
          <a:off x="548640" y="1691640"/>
          <a:ext cx="667512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783080"/>
            <a:ext cx="4050792" cy="2057400"/>
          </a:xfrm>
          <a:prstGeom prst="roundRect">
            <a:avLst>
              <a:gd name="adj" fmla="val 3556"/>
            </a:avLst>
          </a:prstGeom>
          <a:solidFill>
            <a:srgbClr val="F6D9D3"/>
          </a:solidFill>
          <a:ln w="12700">
            <a:solidFill>
              <a:srgbClr val="F6D9D3"/>
            </a:solidFill>
            <a:prstDash val="solid"/>
          </a:ln>
        </p:spPr>
      </p:sp>
      <p:sp>
        <p:nvSpPr>
          <p:cNvPr id="6" name="Text 3"/>
          <p:cNvSpPr txBox="1"/>
          <p:nvPr/>
        </p:nvSpPr>
        <p:spPr>
          <a:xfrm>
            <a:off x="7863840" y="1938528"/>
            <a:ext cx="3502152" cy="365760"/>
          </a:xfrm>
          <a:prstGeom prst="rect">
            <a:avLst/>
          </a:prstGeom>
          <a:noFill/>
          <a:ln/>
        </p:spPr>
        <p:txBody>
          <a:bodyPr wrap="square" lIns="0" tIns="0" rIns="0" bIns="0" rtlCol="0" anchor="t"/>
          <a:lstStyle/>
          <a:p>
            <a:pPr indent="0" marL="0">
              <a:buNone/>
            </a:pPr>
            <a:r>
              <a:rPr lang="en-US" sz="1600" b="1" dirty="0">
                <a:solidFill>
                  <a:srgbClr val="D9432B"/>
                </a:solidFill>
                <a:latin typeface="Calibri" pitchFamily="34" charset="0"/>
                <a:ea typeface="Calibri" pitchFamily="34" charset="-122"/>
                <a:cs typeface="Calibri" pitchFamily="34" charset="-120"/>
              </a:rPr>
              <a:t>Reality vs Expectations</a:t>
            </a:r>
            <a:endParaRPr lang="en-US" sz="1600" dirty="0"/>
          </a:p>
        </p:txBody>
      </p:sp>
      <p:sp>
        <p:nvSpPr>
          <p:cNvPr id="7" name="Text 4"/>
          <p:cNvSpPr txBox="1"/>
          <p:nvPr/>
        </p:nvSpPr>
        <p:spPr>
          <a:xfrm>
            <a:off x="7863840" y="2331720"/>
            <a:ext cx="1463040" cy="685800"/>
          </a:xfrm>
          <a:prstGeom prst="rect">
            <a:avLst/>
          </a:prstGeom>
          <a:noFill/>
          <a:ln/>
        </p:spPr>
        <p:txBody>
          <a:bodyPr wrap="square" lIns="0" tIns="0" rIns="0" bIns="0" rtlCol="0" anchor="t"/>
          <a:lstStyle/>
          <a:p>
            <a:pPr indent="0" marL="0">
              <a:buNone/>
            </a:pPr>
            <a:r>
              <a:rPr lang="en-US" sz="3600" b="1" dirty="0">
                <a:solidFill>
                  <a:srgbClr val="18222B"/>
                </a:solidFill>
                <a:latin typeface="Cambria" pitchFamily="34" charset="0"/>
                <a:ea typeface="Cambria" pitchFamily="34" charset="-122"/>
                <a:cs typeface="Cambria" pitchFamily="34" charset="-120"/>
              </a:rPr>
              <a:t>46%</a:t>
            </a:r>
            <a:endParaRPr lang="en-US" sz="3600" dirty="0"/>
          </a:p>
        </p:txBody>
      </p:sp>
      <p:sp>
        <p:nvSpPr>
          <p:cNvPr id="8" name="Text 5"/>
          <p:cNvSpPr txBox="1"/>
          <p:nvPr/>
        </p:nvSpPr>
        <p:spPr>
          <a:xfrm>
            <a:off x="9372600" y="2423160"/>
            <a:ext cx="2039112" cy="548640"/>
          </a:xfrm>
          <a:prstGeom prst="rect">
            <a:avLst/>
          </a:prstGeom>
          <a:noFill/>
          <a:ln/>
        </p:spPr>
        <p:txBody>
          <a:bodyPr wrap="square" lIns="0" tIns="0" rIns="0" bIns="0" rtlCol="0" anchor="t"/>
          <a:lstStyle/>
          <a:p>
            <a:pPr indent="0" marL="0">
              <a:buNone/>
            </a:pPr>
            <a:r>
              <a:rPr lang="en-US" sz="1300" dirty="0">
                <a:solidFill>
                  <a:srgbClr val="56636E"/>
                </a:solidFill>
                <a:latin typeface="Calibri" pitchFamily="34" charset="0"/>
                <a:ea typeface="Calibri" pitchFamily="34" charset="-122"/>
                <a:cs typeface="Calibri" pitchFamily="34" charset="-120"/>
              </a:rPr>
              <a:t>of Active drivers rate it 1 out of 5</a:t>
            </a:r>
            <a:endParaRPr lang="en-US" sz="1300" dirty="0"/>
          </a:p>
        </p:txBody>
      </p:sp>
      <p:sp>
        <p:nvSpPr>
          <p:cNvPr id="9" name="Text 6"/>
          <p:cNvSpPr txBox="1"/>
          <p:nvPr/>
        </p:nvSpPr>
        <p:spPr>
          <a:xfrm>
            <a:off x="7863840" y="3154680"/>
            <a:ext cx="3502152" cy="457200"/>
          </a:xfrm>
          <a:prstGeom prst="rect">
            <a:avLst/>
          </a:prstGeom>
          <a:noFill/>
          <a:ln/>
        </p:spPr>
        <p:txBody>
          <a:bodyPr wrap="square" lIns="0" tIns="0" rIns="0" bIns="0" rtlCol="0" anchor="t"/>
          <a:lstStyle/>
          <a:p>
            <a:pPr indent="0" marL="0">
              <a:buNone/>
            </a:pPr>
            <a:r>
              <a:rPr lang="en-US" sz="1300" dirty="0">
                <a:solidFill>
                  <a:srgbClr val="18222B"/>
                </a:solidFill>
                <a:latin typeface="Calibri" pitchFamily="34" charset="0"/>
                <a:ea typeface="Calibri" pitchFamily="34" charset="-122"/>
                <a:cs typeface="Calibri" pitchFamily="34" charset="-120"/>
              </a:rPr>
              <a:t>Trust &amp; Honesty: 41% rate it 1 out of 5</a:t>
            </a:r>
            <a:endParaRPr lang="en-US" sz="1300" dirty="0"/>
          </a:p>
        </p:txBody>
      </p:sp>
      <p:sp>
        <p:nvSpPr>
          <p:cNvPr id="10" name="Shape 7"/>
          <p:cNvSpPr/>
          <p:nvPr/>
        </p:nvSpPr>
        <p:spPr>
          <a:xfrm>
            <a:off x="7589520" y="4069080"/>
            <a:ext cx="4050792" cy="2103120"/>
          </a:xfrm>
          <a:prstGeom prst="roundRect">
            <a:avLst>
              <a:gd name="adj" fmla="val 3478"/>
            </a:avLst>
          </a:prstGeom>
          <a:solidFill>
            <a:srgbClr val="F7EEDC"/>
          </a:solidFill>
          <a:ln w="12700">
            <a:solidFill>
              <a:srgbClr val="F7EEDC"/>
            </a:solidFill>
            <a:prstDash val="solid"/>
          </a:ln>
        </p:spPr>
      </p:sp>
      <p:sp>
        <p:nvSpPr>
          <p:cNvPr id="11" name="Text 8"/>
          <p:cNvSpPr txBox="1"/>
          <p:nvPr/>
        </p:nvSpPr>
        <p:spPr>
          <a:xfrm>
            <a:off x="7863840" y="4224528"/>
            <a:ext cx="3502152" cy="365760"/>
          </a:xfrm>
          <a:prstGeom prst="rect">
            <a:avLst/>
          </a:prstGeom>
          <a:noFill/>
          <a:ln/>
        </p:spPr>
        <p:txBody>
          <a:bodyPr wrap="square" lIns="0" tIns="0" rIns="0" bIns="0" rtlCol="0" anchor="t"/>
          <a:lstStyle/>
          <a:p>
            <a:pPr indent="0" marL="0">
              <a:buNone/>
            </a:pPr>
            <a:r>
              <a:rPr lang="en-US" sz="1600" b="1" dirty="0">
                <a:solidFill>
                  <a:srgbClr val="8A5D0E"/>
                </a:solidFill>
                <a:latin typeface="Calibri" pitchFamily="34" charset="0"/>
                <a:ea typeface="Calibri" pitchFamily="34" charset="-122"/>
                <a:cs typeface="Calibri" pitchFamily="34" charset="-120"/>
              </a:rPr>
              <a:t>Garage &amp; Repair</a:t>
            </a:r>
            <a:endParaRPr lang="en-US" sz="1600" dirty="0"/>
          </a:p>
        </p:txBody>
      </p:sp>
      <p:sp>
        <p:nvSpPr>
          <p:cNvPr id="12" name="Text 9"/>
          <p:cNvSpPr txBox="1"/>
          <p:nvPr/>
        </p:nvSpPr>
        <p:spPr>
          <a:xfrm>
            <a:off x="7863840" y="4617720"/>
            <a:ext cx="1463040" cy="685800"/>
          </a:xfrm>
          <a:prstGeom prst="rect">
            <a:avLst/>
          </a:prstGeom>
          <a:noFill/>
          <a:ln/>
        </p:spPr>
        <p:txBody>
          <a:bodyPr wrap="square" lIns="0" tIns="0" rIns="0" bIns="0" rtlCol="0" anchor="t"/>
          <a:lstStyle/>
          <a:p>
            <a:pPr indent="0" marL="0">
              <a:buNone/>
            </a:pPr>
            <a:r>
              <a:rPr lang="en-US" sz="3600" b="1" dirty="0">
                <a:solidFill>
                  <a:srgbClr val="18222B"/>
                </a:solidFill>
                <a:latin typeface="Cambria" pitchFamily="34" charset="0"/>
                <a:ea typeface="Cambria" pitchFamily="34" charset="-122"/>
                <a:cs typeface="Cambria" pitchFamily="34" charset="-120"/>
              </a:rPr>
              <a:t>51%</a:t>
            </a:r>
            <a:endParaRPr lang="en-US" sz="3600" dirty="0"/>
          </a:p>
        </p:txBody>
      </p:sp>
      <p:sp>
        <p:nvSpPr>
          <p:cNvPr id="13" name="Text 10"/>
          <p:cNvSpPr txBox="1"/>
          <p:nvPr/>
        </p:nvSpPr>
        <p:spPr>
          <a:xfrm>
            <a:off x="9372600" y="4681728"/>
            <a:ext cx="2039112" cy="594360"/>
          </a:xfrm>
          <a:prstGeom prst="rect">
            <a:avLst/>
          </a:prstGeom>
          <a:noFill/>
          <a:ln/>
        </p:spPr>
        <p:txBody>
          <a:bodyPr wrap="square" lIns="0" tIns="0" rIns="0" bIns="0" rtlCol="0" anchor="t"/>
          <a:lstStyle/>
          <a:p>
            <a:pPr indent="0" marL="0">
              <a:buNone/>
            </a:pPr>
            <a:r>
              <a:rPr lang="en-US" sz="1300" dirty="0">
                <a:solidFill>
                  <a:srgbClr val="56636E"/>
                </a:solidFill>
                <a:latin typeface="Calibri" pitchFamily="34" charset="0"/>
                <a:ea typeface="Calibri" pitchFamily="34" charset="-122"/>
                <a:cs typeface="Calibri" pitchFamily="34" charset="-120"/>
              </a:rPr>
              <a:t>name vehicle or garage delays as a biggest problem</a:t>
            </a:r>
            <a:endParaRPr lang="en-US" sz="1300" dirty="0"/>
          </a:p>
        </p:txBody>
      </p:sp>
      <p:sp>
        <p:nvSpPr>
          <p:cNvPr id="14" name="Text 11"/>
          <p:cNvSpPr txBox="1"/>
          <p:nvPr/>
        </p:nvSpPr>
        <p:spPr>
          <a:xfrm>
            <a:off x="7863840" y="5440680"/>
            <a:ext cx="3502152" cy="594360"/>
          </a:xfrm>
          <a:prstGeom prst="rect">
            <a:avLst/>
          </a:prstGeom>
          <a:noFill/>
          <a:ln/>
        </p:spPr>
        <p:txBody>
          <a:bodyPr wrap="square" lIns="0" tIns="0" rIns="0" bIns="0" rtlCol="0" anchor="t"/>
          <a:lstStyle/>
          <a:p>
            <a:pPr indent="0" marL="0">
              <a:buNone/>
            </a:pPr>
            <a:r>
              <a:rPr lang="en-US" sz="1300" dirty="0">
                <a:solidFill>
                  <a:srgbClr val="18222B"/>
                </a:solidFill>
                <a:latin typeface="Calibri" pitchFamily="34" charset="0"/>
                <a:ea typeface="Calibri" pitchFamily="34" charset="-122"/>
                <a:cs typeface="Calibri" pitchFamily="34" charset="-120"/>
              </a:rPr>
              <a:t>Lowest-rated attribute (2.1 / 5), yet second-weakest link to Recommend</a:t>
            </a:r>
            <a:endParaRPr lang="en-US" sz="1300" dirty="0"/>
          </a:p>
        </p:txBody>
      </p:sp>
      <p:sp>
        <p:nvSpPr>
          <p:cNvPr id="15" name="Text 12"/>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A959E"/>
                </a:solidFill>
                <a:latin typeface="Calibri" pitchFamily="34" charset="0"/>
                <a:ea typeface="Calibri" pitchFamily="34" charset="-122"/>
                <a:cs typeface="Calibri" pitchFamily="34" charset="-120"/>
              </a:rPr>
              <a:t>Driver Partner Survey  ·  Baseline Wave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18222B"/>
                </a:solidFill>
                <a:latin typeface="Cambria" pitchFamily="34" charset="0"/>
                <a:ea typeface="Cambria" pitchFamily="34" charset="-122"/>
                <a:cs typeface="Cambria" pitchFamily="34" charset="-120"/>
              </a:rPr>
              <a:t>Ranked by cost, the most common complaint drops to last</a:t>
            </a:r>
            <a:endParaRPr lang="en-US" sz="32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56636E"/>
                </a:solidFill>
                <a:latin typeface="Calibri" pitchFamily="34" charset="0"/>
                <a:ea typeface="Calibri" pitchFamily="34" charset="-122"/>
                <a:cs typeface="Calibri" pitchFamily="34" charset="-120"/>
              </a:rPr>
              <a:t>Active drivers citing each issue as a biggest problem</a:t>
            </a:r>
            <a:endParaRPr lang="en-US" sz="1600" dirty="0"/>
          </a:p>
        </p:txBody>
      </p:sp>
      <p:sp>
        <p:nvSpPr>
          <p:cNvPr id="4" name="Text 2"/>
          <p:cNvSpPr txBox="1"/>
          <p:nvPr/>
        </p:nvSpPr>
        <p:spPr>
          <a:xfrm>
            <a:off x="548640" y="1783080"/>
            <a:ext cx="5852160" cy="365760"/>
          </a:xfrm>
          <a:prstGeom prst="rect">
            <a:avLst/>
          </a:prstGeom>
          <a:noFill/>
          <a:ln/>
        </p:spPr>
        <p:txBody>
          <a:bodyPr wrap="square" lIns="0" tIns="0" rIns="0" bIns="0" rtlCol="0" anchor="t"/>
          <a:lstStyle/>
          <a:p>
            <a:pPr indent="0" marL="0">
              <a:buNone/>
            </a:pPr>
            <a:r>
              <a:rPr lang="en-US" sz="1600" b="1" dirty="0">
                <a:solidFill>
                  <a:srgbClr val="18222B"/>
                </a:solidFill>
                <a:latin typeface="Calibri" pitchFamily="34" charset="0"/>
                <a:ea typeface="Calibri" pitchFamily="34" charset="-122"/>
                <a:cs typeface="Calibri" pitchFamily="34" charset="-120"/>
              </a:rPr>
              <a:t>Loyalty cost</a:t>
            </a:r>
            <a:endParaRPr lang="en-US" sz="1600" dirty="0"/>
          </a:p>
        </p:txBody>
      </p:sp>
      <p:sp>
        <p:nvSpPr>
          <p:cNvPr id="5" name="Text 3"/>
          <p:cNvSpPr txBox="1"/>
          <p:nvPr/>
        </p:nvSpPr>
        <p:spPr>
          <a:xfrm>
            <a:off x="548640" y="2103120"/>
            <a:ext cx="5852160" cy="320040"/>
          </a:xfrm>
          <a:prstGeom prst="rect">
            <a:avLst/>
          </a:prstGeom>
          <a:noFill/>
          <a:ln/>
        </p:spPr>
        <p:txBody>
          <a:bodyPr wrap="square" lIns="0" tIns="0" rIns="0" bIns="0" rtlCol="0" anchor="t"/>
          <a:lstStyle/>
          <a:p>
            <a:pPr indent="0" marL="0">
              <a:buNone/>
            </a:pPr>
            <a:r>
              <a:rPr lang="en-US" sz="1200" dirty="0">
                <a:solidFill>
                  <a:srgbClr val="56636E"/>
                </a:solidFill>
                <a:latin typeface="Calibri" pitchFamily="34" charset="0"/>
                <a:ea typeface="Calibri" pitchFamily="34" charset="-122"/>
                <a:cs typeface="Calibri" pitchFamily="34" charset="-120"/>
              </a:rPr>
              <a:t>Points lower on Recommend (0-10) vs drivers who don't cite it</a:t>
            </a:r>
            <a:endParaRPr lang="en-US" sz="1200" dirty="0"/>
          </a:p>
        </p:txBody>
      </p:sp>
      <p:graphicFrame>
        <p:nvGraphicFramePr>
          <p:cNvPr id="6" name="Chart 0" descr=""/>
          <p:cNvGraphicFramePr/>
          <p:nvPr/>
        </p:nvGraphicFramePr>
        <p:xfrm>
          <a:off x="548640" y="2514600"/>
          <a:ext cx="6035040" cy="35661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086600" y="1783080"/>
            <a:ext cx="4572000" cy="365760"/>
          </a:xfrm>
          <a:prstGeom prst="rect">
            <a:avLst/>
          </a:prstGeom>
          <a:noFill/>
          <a:ln/>
        </p:spPr>
        <p:txBody>
          <a:bodyPr wrap="square" lIns="0" tIns="0" rIns="0" bIns="0" rtlCol="0" anchor="t"/>
          <a:lstStyle/>
          <a:p>
            <a:pPr indent="0" marL="0">
              <a:buNone/>
            </a:pPr>
            <a:r>
              <a:rPr lang="en-US" sz="1600" b="1" dirty="0">
                <a:solidFill>
                  <a:srgbClr val="18222B"/>
                </a:solidFill>
                <a:latin typeface="Calibri" pitchFamily="34" charset="0"/>
                <a:ea typeface="Calibri" pitchFamily="34" charset="-122"/>
                <a:cs typeface="Calibri" pitchFamily="34" charset="-120"/>
              </a:rPr>
              <a:t>Volume</a:t>
            </a:r>
            <a:endParaRPr lang="en-US" sz="1600" dirty="0"/>
          </a:p>
        </p:txBody>
      </p:sp>
      <p:sp>
        <p:nvSpPr>
          <p:cNvPr id="8" name="Text 5"/>
          <p:cNvSpPr txBox="1"/>
          <p:nvPr/>
        </p:nvSpPr>
        <p:spPr>
          <a:xfrm>
            <a:off x="7086600" y="2103120"/>
            <a:ext cx="4572000" cy="320040"/>
          </a:xfrm>
          <a:prstGeom prst="rect">
            <a:avLst/>
          </a:prstGeom>
          <a:noFill/>
          <a:ln/>
        </p:spPr>
        <p:txBody>
          <a:bodyPr wrap="square" lIns="0" tIns="0" rIns="0" bIns="0" rtlCol="0" anchor="t"/>
          <a:lstStyle/>
          <a:p>
            <a:pPr indent="0" marL="0">
              <a:buNone/>
            </a:pPr>
            <a:r>
              <a:rPr lang="en-US" sz="1200" dirty="0">
                <a:solidFill>
                  <a:srgbClr val="56636E"/>
                </a:solidFill>
                <a:latin typeface="Calibri" pitchFamily="34" charset="0"/>
                <a:ea typeface="Calibri" pitchFamily="34" charset="-122"/>
                <a:cs typeface="Calibri" pitchFamily="34" charset="-120"/>
              </a:rPr>
              <a:t>Share of Active drivers citing it</a:t>
            </a:r>
            <a:endParaRPr lang="en-US" sz="1200" dirty="0"/>
          </a:p>
        </p:txBody>
      </p:sp>
      <p:graphicFrame>
        <p:nvGraphicFramePr>
          <p:cNvPr id="9" name="Chart 1" descr=""/>
          <p:cNvGraphicFramePr/>
          <p:nvPr/>
        </p:nvGraphicFramePr>
        <p:xfrm>
          <a:off x="7086600" y="2514600"/>
          <a:ext cx="4572000" cy="356616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A959E"/>
                </a:solidFill>
                <a:latin typeface="Calibri" pitchFamily="34" charset="0"/>
                <a:ea typeface="Calibri" pitchFamily="34" charset="-122"/>
                <a:cs typeface="Calibri" pitchFamily="34" charset="-120"/>
              </a:rPr>
              <a:t>Driver Partner Survey  ·  Baseline Wave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18222B"/>
                </a:solidFill>
                <a:latin typeface="Cambria" pitchFamily="34" charset="0"/>
                <a:ea typeface="Cambria" pitchFamily="34" charset="-122"/>
                <a:cs typeface="Cambria" pitchFamily="34" charset="-120"/>
              </a:rPr>
              <a:t>Seven cities, three loyalty stories</a:t>
            </a:r>
            <a:endParaRPr lang="en-US" sz="32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56636E"/>
                </a:solidFill>
                <a:latin typeface="Calibri" pitchFamily="34" charset="0"/>
                <a:ea typeface="Calibri" pitchFamily="34" charset="-122"/>
                <a:cs typeface="Calibri" pitchFamily="34" charset="-120"/>
              </a:rPr>
              <a:t>Active NPS by city, grouped by what most predicts Recommend there</a:t>
            </a:r>
            <a:endParaRPr lang="en-US" sz="1600" dirty="0"/>
          </a:p>
        </p:txBody>
      </p:sp>
      <p:sp>
        <p:nvSpPr>
          <p:cNvPr id="4" name="Shape 2"/>
          <p:cNvSpPr/>
          <p:nvPr/>
        </p:nvSpPr>
        <p:spPr>
          <a:xfrm>
            <a:off x="548640" y="1783080"/>
            <a:ext cx="3520440" cy="4434840"/>
          </a:xfrm>
          <a:prstGeom prst="roundRect">
            <a:avLst>
              <a:gd name="adj" fmla="val 2078"/>
            </a:avLst>
          </a:prstGeom>
          <a:solidFill>
            <a:srgbClr val="F1F3F5"/>
          </a:solidFill>
          <a:ln w="12700">
            <a:solidFill>
              <a:srgbClr val="F1F3F5"/>
            </a:solidFill>
            <a:prstDash val="solid"/>
          </a:ln>
        </p:spPr>
      </p:sp>
      <p:sp>
        <p:nvSpPr>
          <p:cNvPr id="5" name="Text 3"/>
          <p:cNvSpPr txBox="1"/>
          <p:nvPr/>
        </p:nvSpPr>
        <p:spPr>
          <a:xfrm>
            <a:off x="822960" y="2011680"/>
            <a:ext cx="2971800" cy="457200"/>
          </a:xfrm>
          <a:prstGeom prst="rect">
            <a:avLst/>
          </a:prstGeom>
          <a:noFill/>
          <a:ln/>
        </p:spPr>
        <p:txBody>
          <a:bodyPr wrap="square" lIns="0" tIns="0" rIns="0" bIns="0" rtlCol="0" anchor="t"/>
          <a:lstStyle/>
          <a:p>
            <a:pPr indent="0" marL="0">
              <a:buNone/>
            </a:pPr>
            <a:r>
              <a:rPr lang="en-US" sz="2200" b="1" dirty="0">
                <a:solidFill>
                  <a:srgbClr val="18222B"/>
                </a:solidFill>
                <a:latin typeface="Cambria" pitchFamily="34" charset="0"/>
                <a:ea typeface="Cambria" pitchFamily="34" charset="-122"/>
                <a:cs typeface="Cambria" pitchFamily="34" charset="-120"/>
              </a:rPr>
              <a:t>Trust-driven</a:t>
            </a:r>
            <a:endParaRPr lang="en-US" sz="2200" dirty="0"/>
          </a:p>
        </p:txBody>
      </p:sp>
      <p:sp>
        <p:nvSpPr>
          <p:cNvPr id="6" name="Text 4"/>
          <p:cNvSpPr txBox="1"/>
          <p:nvPr/>
        </p:nvSpPr>
        <p:spPr>
          <a:xfrm>
            <a:off x="822960" y="2496312"/>
            <a:ext cx="2971800" cy="548640"/>
          </a:xfrm>
          <a:prstGeom prst="rect">
            <a:avLst/>
          </a:prstGeom>
          <a:noFill/>
          <a:ln/>
        </p:spPr>
        <p:txBody>
          <a:bodyPr wrap="square" lIns="0" tIns="0" rIns="0" bIns="0" rtlCol="0" anchor="t"/>
          <a:lstStyle/>
          <a:p>
            <a:pPr indent="0" marL="0">
              <a:buNone/>
            </a:pPr>
            <a:r>
              <a:rPr lang="en-US" sz="1300" dirty="0">
                <a:solidFill>
                  <a:srgbClr val="56636E"/>
                </a:solidFill>
                <a:latin typeface="Calibri" pitchFamily="34" charset="0"/>
                <a:ea typeface="Calibri" pitchFamily="34" charset="-122"/>
                <a:cs typeface="Calibri" pitchFamily="34" charset="-120"/>
              </a:rPr>
              <a:t>Trust &amp; Honesty is the top predictor</a:t>
            </a:r>
            <a:endParaRPr lang="en-US" sz="1300" dirty="0"/>
          </a:p>
        </p:txBody>
      </p:sp>
      <p:sp>
        <p:nvSpPr>
          <p:cNvPr id="7" name="Shape 5"/>
          <p:cNvSpPr/>
          <p:nvPr/>
        </p:nvSpPr>
        <p:spPr>
          <a:xfrm>
            <a:off x="777240" y="3246120"/>
            <a:ext cx="3063240" cy="777240"/>
          </a:xfrm>
          <a:prstGeom prst="roundRect">
            <a:avLst>
              <a:gd name="adj" fmla="val 7059"/>
            </a:avLst>
          </a:prstGeom>
          <a:solidFill>
            <a:srgbClr val="FFFFFF"/>
          </a:solidFill>
          <a:ln w="9525">
            <a:solidFill>
              <a:srgbClr val="D9DEE2"/>
            </a:solidFill>
            <a:prstDash val="solid"/>
          </a:ln>
        </p:spPr>
      </p:sp>
      <p:sp>
        <p:nvSpPr>
          <p:cNvPr id="8" name="Text 6"/>
          <p:cNvSpPr txBox="1"/>
          <p:nvPr/>
        </p:nvSpPr>
        <p:spPr>
          <a:xfrm>
            <a:off x="960120" y="3337560"/>
            <a:ext cx="1463040" cy="320040"/>
          </a:xfrm>
          <a:prstGeom prst="rect">
            <a:avLst/>
          </a:prstGeom>
          <a:noFill/>
          <a:ln/>
        </p:spPr>
        <p:txBody>
          <a:bodyPr wrap="square" lIns="0" tIns="0" rIns="0" bIns="0" rtlCol="0" anchor="ctr"/>
          <a:lstStyle/>
          <a:p>
            <a:pPr indent="0" marL="0">
              <a:buNone/>
            </a:pPr>
            <a:r>
              <a:rPr lang="en-US" sz="1600" b="1" dirty="0">
                <a:solidFill>
                  <a:srgbClr val="18222B"/>
                </a:solidFill>
                <a:latin typeface="Calibri" pitchFamily="34" charset="0"/>
                <a:ea typeface="Calibri" pitchFamily="34" charset="-122"/>
                <a:cs typeface="Calibri" pitchFamily="34" charset="-120"/>
              </a:rPr>
              <a:t>Delhi</a:t>
            </a:r>
            <a:endParaRPr lang="en-US" sz="1600" dirty="0"/>
          </a:p>
        </p:txBody>
      </p:sp>
      <p:sp>
        <p:nvSpPr>
          <p:cNvPr id="9" name="Text 7"/>
          <p:cNvSpPr txBox="1"/>
          <p:nvPr/>
        </p:nvSpPr>
        <p:spPr>
          <a:xfrm>
            <a:off x="960120" y="3657600"/>
            <a:ext cx="1828800" cy="274320"/>
          </a:xfrm>
          <a:prstGeom prst="rect">
            <a:avLst/>
          </a:prstGeom>
          <a:noFill/>
          <a:ln/>
        </p:spPr>
        <p:txBody>
          <a:bodyPr wrap="square" lIns="0" tIns="0" rIns="0" bIns="0" rtlCol="0" anchor="ctr"/>
          <a:lstStyle/>
          <a:p>
            <a:pPr indent="0" marL="0">
              <a:buNone/>
            </a:pPr>
            <a:r>
              <a:rPr lang="en-US" sz="1100" dirty="0">
                <a:solidFill>
                  <a:srgbClr val="56636E"/>
                </a:solidFill>
                <a:latin typeface="Calibri" pitchFamily="34" charset="0"/>
                <a:ea typeface="Calibri" pitchFamily="34" charset="-122"/>
                <a:cs typeface="Calibri" pitchFamily="34" charset="-120"/>
              </a:rPr>
              <a:t>Trust r 0.68</a:t>
            </a:r>
            <a:endParaRPr lang="en-US" sz="1100" dirty="0"/>
          </a:p>
        </p:txBody>
      </p:sp>
      <p:sp>
        <p:nvSpPr>
          <p:cNvPr id="10" name="Text 8"/>
          <p:cNvSpPr txBox="1"/>
          <p:nvPr/>
        </p:nvSpPr>
        <p:spPr>
          <a:xfrm>
            <a:off x="2468880" y="3319272"/>
            <a:ext cx="1234440" cy="640080"/>
          </a:xfrm>
          <a:prstGeom prst="rect">
            <a:avLst/>
          </a:prstGeom>
          <a:noFill/>
          <a:ln/>
        </p:spPr>
        <p:txBody>
          <a:bodyPr wrap="square" lIns="0" tIns="0" rIns="0" bIns="0" rtlCol="0" anchor="ctr"/>
          <a:lstStyle/>
          <a:p>
            <a:pPr algn="r" indent="0" marL="0">
              <a:buNone/>
            </a:pPr>
            <a:r>
              <a:rPr lang="en-US" sz="3000" b="1" dirty="0">
                <a:solidFill>
                  <a:srgbClr val="D9432B"/>
                </a:solidFill>
                <a:latin typeface="Cambria" pitchFamily="34" charset="0"/>
                <a:ea typeface="Cambria" pitchFamily="34" charset="-122"/>
                <a:cs typeface="Cambria" pitchFamily="34" charset="-120"/>
              </a:rPr>
              <a:t>-72</a:t>
            </a:r>
            <a:endParaRPr lang="en-US" sz="3000" dirty="0"/>
          </a:p>
        </p:txBody>
      </p:sp>
      <p:sp>
        <p:nvSpPr>
          <p:cNvPr id="11" name="Shape 9"/>
          <p:cNvSpPr/>
          <p:nvPr/>
        </p:nvSpPr>
        <p:spPr>
          <a:xfrm>
            <a:off x="777240" y="4206240"/>
            <a:ext cx="3063240" cy="777240"/>
          </a:xfrm>
          <a:prstGeom prst="roundRect">
            <a:avLst>
              <a:gd name="adj" fmla="val 7059"/>
            </a:avLst>
          </a:prstGeom>
          <a:solidFill>
            <a:srgbClr val="FFFFFF"/>
          </a:solidFill>
          <a:ln w="9525">
            <a:solidFill>
              <a:srgbClr val="D9DEE2"/>
            </a:solidFill>
            <a:prstDash val="solid"/>
          </a:ln>
        </p:spPr>
      </p:sp>
      <p:sp>
        <p:nvSpPr>
          <p:cNvPr id="12" name="Text 10"/>
          <p:cNvSpPr txBox="1"/>
          <p:nvPr/>
        </p:nvSpPr>
        <p:spPr>
          <a:xfrm>
            <a:off x="960120" y="4297680"/>
            <a:ext cx="1463040" cy="320040"/>
          </a:xfrm>
          <a:prstGeom prst="rect">
            <a:avLst/>
          </a:prstGeom>
          <a:noFill/>
          <a:ln/>
        </p:spPr>
        <p:txBody>
          <a:bodyPr wrap="square" lIns="0" tIns="0" rIns="0" bIns="0" rtlCol="0" anchor="ctr"/>
          <a:lstStyle/>
          <a:p>
            <a:pPr indent="0" marL="0">
              <a:buNone/>
            </a:pPr>
            <a:r>
              <a:rPr lang="en-US" sz="1600" b="1" dirty="0">
                <a:solidFill>
                  <a:srgbClr val="18222B"/>
                </a:solidFill>
                <a:latin typeface="Calibri" pitchFamily="34" charset="0"/>
                <a:ea typeface="Calibri" pitchFamily="34" charset="-122"/>
                <a:cs typeface="Calibri" pitchFamily="34" charset="-120"/>
              </a:rPr>
              <a:t>Chennai</a:t>
            </a:r>
            <a:endParaRPr lang="en-US" sz="1600" dirty="0"/>
          </a:p>
        </p:txBody>
      </p:sp>
      <p:sp>
        <p:nvSpPr>
          <p:cNvPr id="13" name="Text 11"/>
          <p:cNvSpPr txBox="1"/>
          <p:nvPr/>
        </p:nvSpPr>
        <p:spPr>
          <a:xfrm>
            <a:off x="960120" y="4617720"/>
            <a:ext cx="1828800" cy="274320"/>
          </a:xfrm>
          <a:prstGeom prst="rect">
            <a:avLst/>
          </a:prstGeom>
          <a:noFill/>
          <a:ln/>
        </p:spPr>
        <p:txBody>
          <a:bodyPr wrap="square" lIns="0" tIns="0" rIns="0" bIns="0" rtlCol="0" anchor="ctr"/>
          <a:lstStyle/>
          <a:p>
            <a:pPr indent="0" marL="0">
              <a:buNone/>
            </a:pPr>
            <a:r>
              <a:rPr lang="en-US" sz="1100" dirty="0">
                <a:solidFill>
                  <a:srgbClr val="56636E"/>
                </a:solidFill>
                <a:latin typeface="Calibri" pitchFamily="34" charset="0"/>
                <a:ea typeface="Calibri" pitchFamily="34" charset="-122"/>
                <a:cs typeface="Calibri" pitchFamily="34" charset="-120"/>
              </a:rPr>
              <a:t>Trust r 0.66</a:t>
            </a:r>
            <a:endParaRPr lang="en-US" sz="1100" dirty="0"/>
          </a:p>
        </p:txBody>
      </p:sp>
      <p:sp>
        <p:nvSpPr>
          <p:cNvPr id="14" name="Text 12"/>
          <p:cNvSpPr txBox="1"/>
          <p:nvPr/>
        </p:nvSpPr>
        <p:spPr>
          <a:xfrm>
            <a:off x="2468880" y="4279392"/>
            <a:ext cx="1234440" cy="640080"/>
          </a:xfrm>
          <a:prstGeom prst="rect">
            <a:avLst/>
          </a:prstGeom>
          <a:noFill/>
          <a:ln/>
        </p:spPr>
        <p:txBody>
          <a:bodyPr wrap="square" lIns="0" tIns="0" rIns="0" bIns="0" rtlCol="0" anchor="ctr"/>
          <a:lstStyle/>
          <a:p>
            <a:pPr algn="r" indent="0" marL="0">
              <a:buNone/>
            </a:pPr>
            <a:r>
              <a:rPr lang="en-US" sz="3000" b="1" dirty="0">
                <a:solidFill>
                  <a:srgbClr val="18222B"/>
                </a:solidFill>
                <a:latin typeface="Cambria" pitchFamily="34" charset="0"/>
                <a:ea typeface="Cambria" pitchFamily="34" charset="-122"/>
                <a:cs typeface="Cambria" pitchFamily="34" charset="-120"/>
              </a:rPr>
              <a:t>-53</a:t>
            </a:r>
            <a:endParaRPr lang="en-US" sz="3000" dirty="0"/>
          </a:p>
        </p:txBody>
      </p:sp>
      <p:sp>
        <p:nvSpPr>
          <p:cNvPr id="15" name="Shape 13"/>
          <p:cNvSpPr/>
          <p:nvPr/>
        </p:nvSpPr>
        <p:spPr>
          <a:xfrm>
            <a:off x="777240" y="5166360"/>
            <a:ext cx="3063240" cy="777240"/>
          </a:xfrm>
          <a:prstGeom prst="roundRect">
            <a:avLst>
              <a:gd name="adj" fmla="val 7059"/>
            </a:avLst>
          </a:prstGeom>
          <a:solidFill>
            <a:srgbClr val="FFFFFF"/>
          </a:solidFill>
          <a:ln w="9525">
            <a:solidFill>
              <a:srgbClr val="D9DEE2"/>
            </a:solidFill>
            <a:prstDash val="solid"/>
          </a:ln>
        </p:spPr>
      </p:sp>
      <p:sp>
        <p:nvSpPr>
          <p:cNvPr id="16" name="Text 14"/>
          <p:cNvSpPr txBox="1"/>
          <p:nvPr/>
        </p:nvSpPr>
        <p:spPr>
          <a:xfrm>
            <a:off x="960120" y="5257800"/>
            <a:ext cx="1463040" cy="320040"/>
          </a:xfrm>
          <a:prstGeom prst="rect">
            <a:avLst/>
          </a:prstGeom>
          <a:noFill/>
          <a:ln/>
        </p:spPr>
        <p:txBody>
          <a:bodyPr wrap="square" lIns="0" tIns="0" rIns="0" bIns="0" rtlCol="0" anchor="ctr"/>
          <a:lstStyle/>
          <a:p>
            <a:pPr indent="0" marL="0">
              <a:buNone/>
            </a:pPr>
            <a:r>
              <a:rPr lang="en-US" sz="1600" b="1" dirty="0">
                <a:solidFill>
                  <a:srgbClr val="18222B"/>
                </a:solidFill>
                <a:latin typeface="Calibri" pitchFamily="34" charset="0"/>
                <a:ea typeface="Calibri" pitchFamily="34" charset="-122"/>
                <a:cs typeface="Calibri" pitchFamily="34" charset="-120"/>
              </a:rPr>
              <a:t>Bangalore</a:t>
            </a:r>
            <a:endParaRPr lang="en-US" sz="1600" dirty="0"/>
          </a:p>
        </p:txBody>
      </p:sp>
      <p:sp>
        <p:nvSpPr>
          <p:cNvPr id="17" name="Text 15"/>
          <p:cNvSpPr txBox="1"/>
          <p:nvPr/>
        </p:nvSpPr>
        <p:spPr>
          <a:xfrm>
            <a:off x="960120" y="5577840"/>
            <a:ext cx="1828800" cy="274320"/>
          </a:xfrm>
          <a:prstGeom prst="rect">
            <a:avLst/>
          </a:prstGeom>
          <a:noFill/>
          <a:ln/>
        </p:spPr>
        <p:txBody>
          <a:bodyPr wrap="square" lIns="0" tIns="0" rIns="0" bIns="0" rtlCol="0" anchor="ctr"/>
          <a:lstStyle/>
          <a:p>
            <a:pPr indent="0" marL="0">
              <a:buNone/>
            </a:pPr>
            <a:r>
              <a:rPr lang="en-US" sz="1100" dirty="0">
                <a:solidFill>
                  <a:srgbClr val="56636E"/>
                </a:solidFill>
                <a:latin typeface="Calibri" pitchFamily="34" charset="0"/>
                <a:ea typeface="Calibri" pitchFamily="34" charset="-122"/>
                <a:cs typeface="Calibri" pitchFamily="34" charset="-120"/>
              </a:rPr>
              <a:t>Trust r 0.66</a:t>
            </a:r>
            <a:endParaRPr lang="en-US" sz="1100" dirty="0"/>
          </a:p>
        </p:txBody>
      </p:sp>
      <p:sp>
        <p:nvSpPr>
          <p:cNvPr id="18" name="Text 16"/>
          <p:cNvSpPr txBox="1"/>
          <p:nvPr/>
        </p:nvSpPr>
        <p:spPr>
          <a:xfrm>
            <a:off x="2468880" y="5239512"/>
            <a:ext cx="1234440" cy="640080"/>
          </a:xfrm>
          <a:prstGeom prst="rect">
            <a:avLst/>
          </a:prstGeom>
          <a:noFill/>
          <a:ln/>
        </p:spPr>
        <p:txBody>
          <a:bodyPr wrap="square" lIns="0" tIns="0" rIns="0" bIns="0" rtlCol="0" anchor="ctr"/>
          <a:lstStyle/>
          <a:p>
            <a:pPr algn="r" indent="0" marL="0">
              <a:buNone/>
            </a:pPr>
            <a:r>
              <a:rPr lang="en-US" sz="3000" b="1" dirty="0">
                <a:solidFill>
                  <a:srgbClr val="18222B"/>
                </a:solidFill>
                <a:latin typeface="Cambria" pitchFamily="34" charset="0"/>
                <a:ea typeface="Cambria" pitchFamily="34" charset="-122"/>
                <a:cs typeface="Cambria" pitchFamily="34" charset="-120"/>
              </a:rPr>
              <a:t>-26</a:t>
            </a:r>
            <a:endParaRPr lang="en-US" sz="3000" dirty="0"/>
          </a:p>
        </p:txBody>
      </p:sp>
      <p:sp>
        <p:nvSpPr>
          <p:cNvPr id="19" name="Shape 17"/>
          <p:cNvSpPr/>
          <p:nvPr/>
        </p:nvSpPr>
        <p:spPr>
          <a:xfrm>
            <a:off x="4343400" y="1783080"/>
            <a:ext cx="3520440" cy="4434840"/>
          </a:xfrm>
          <a:prstGeom prst="roundRect">
            <a:avLst>
              <a:gd name="adj" fmla="val 2078"/>
            </a:avLst>
          </a:prstGeom>
          <a:solidFill>
            <a:srgbClr val="F1F3F5"/>
          </a:solidFill>
          <a:ln w="12700">
            <a:solidFill>
              <a:srgbClr val="F1F3F5"/>
            </a:solidFill>
            <a:prstDash val="solid"/>
          </a:ln>
        </p:spPr>
      </p:sp>
      <p:sp>
        <p:nvSpPr>
          <p:cNvPr id="20" name="Text 18"/>
          <p:cNvSpPr txBox="1"/>
          <p:nvPr/>
        </p:nvSpPr>
        <p:spPr>
          <a:xfrm>
            <a:off x="4617720" y="2011680"/>
            <a:ext cx="2971800" cy="457200"/>
          </a:xfrm>
          <a:prstGeom prst="rect">
            <a:avLst/>
          </a:prstGeom>
          <a:noFill/>
          <a:ln/>
        </p:spPr>
        <p:txBody>
          <a:bodyPr wrap="square" lIns="0" tIns="0" rIns="0" bIns="0" rtlCol="0" anchor="t"/>
          <a:lstStyle/>
          <a:p>
            <a:pPr indent="0" marL="0">
              <a:buNone/>
            </a:pPr>
            <a:r>
              <a:rPr lang="en-US" sz="2200" b="1" dirty="0">
                <a:solidFill>
                  <a:srgbClr val="18222B"/>
                </a:solidFill>
                <a:latin typeface="Cambria" pitchFamily="34" charset="0"/>
                <a:ea typeface="Cambria" pitchFamily="34" charset="-122"/>
                <a:cs typeface="Cambria" pitchFamily="34" charset="-120"/>
              </a:rPr>
              <a:t>Staff-driven</a:t>
            </a:r>
            <a:endParaRPr lang="en-US" sz="2200" dirty="0"/>
          </a:p>
        </p:txBody>
      </p:sp>
      <p:sp>
        <p:nvSpPr>
          <p:cNvPr id="21" name="Text 19"/>
          <p:cNvSpPr txBox="1"/>
          <p:nvPr/>
        </p:nvSpPr>
        <p:spPr>
          <a:xfrm>
            <a:off x="4617720" y="2496312"/>
            <a:ext cx="2971800" cy="548640"/>
          </a:xfrm>
          <a:prstGeom prst="rect">
            <a:avLst/>
          </a:prstGeom>
          <a:noFill/>
          <a:ln/>
        </p:spPr>
        <p:txBody>
          <a:bodyPr wrap="square" lIns="0" tIns="0" rIns="0" bIns="0" rtlCol="0" anchor="t"/>
          <a:lstStyle/>
          <a:p>
            <a:pPr indent="0" marL="0">
              <a:buNone/>
            </a:pPr>
            <a:r>
              <a:rPr lang="en-US" sz="1300" dirty="0">
                <a:solidFill>
                  <a:srgbClr val="56636E"/>
                </a:solidFill>
                <a:latin typeface="Calibri" pitchFamily="34" charset="0"/>
                <a:ea typeface="Calibri" pitchFamily="34" charset="-122"/>
                <a:cs typeface="Calibri" pitchFamily="34" charset="-120"/>
              </a:rPr>
              <a:t>Staff behaviour leads or has the widest Detractor gap</a:t>
            </a:r>
            <a:endParaRPr lang="en-US" sz="1300" dirty="0"/>
          </a:p>
        </p:txBody>
      </p:sp>
      <p:sp>
        <p:nvSpPr>
          <p:cNvPr id="22" name="Shape 20"/>
          <p:cNvSpPr/>
          <p:nvPr/>
        </p:nvSpPr>
        <p:spPr>
          <a:xfrm>
            <a:off x="4572000" y="3246120"/>
            <a:ext cx="3063240" cy="777240"/>
          </a:xfrm>
          <a:prstGeom prst="roundRect">
            <a:avLst>
              <a:gd name="adj" fmla="val 7059"/>
            </a:avLst>
          </a:prstGeom>
          <a:solidFill>
            <a:srgbClr val="FFFFFF"/>
          </a:solidFill>
          <a:ln w="9525">
            <a:solidFill>
              <a:srgbClr val="D9DEE2"/>
            </a:solidFill>
            <a:prstDash val="solid"/>
          </a:ln>
        </p:spPr>
      </p:sp>
      <p:sp>
        <p:nvSpPr>
          <p:cNvPr id="23" name="Text 21"/>
          <p:cNvSpPr txBox="1"/>
          <p:nvPr/>
        </p:nvSpPr>
        <p:spPr>
          <a:xfrm>
            <a:off x="4754880" y="3337560"/>
            <a:ext cx="1463040" cy="320040"/>
          </a:xfrm>
          <a:prstGeom prst="rect">
            <a:avLst/>
          </a:prstGeom>
          <a:noFill/>
          <a:ln/>
        </p:spPr>
        <p:txBody>
          <a:bodyPr wrap="square" lIns="0" tIns="0" rIns="0" bIns="0" rtlCol="0" anchor="ctr"/>
          <a:lstStyle/>
          <a:p>
            <a:pPr indent="0" marL="0">
              <a:buNone/>
            </a:pPr>
            <a:r>
              <a:rPr lang="en-US" sz="1600" b="1" dirty="0">
                <a:solidFill>
                  <a:srgbClr val="18222B"/>
                </a:solidFill>
                <a:latin typeface="Calibri" pitchFamily="34" charset="0"/>
                <a:ea typeface="Calibri" pitchFamily="34" charset="-122"/>
                <a:cs typeface="Calibri" pitchFamily="34" charset="-120"/>
              </a:rPr>
              <a:t>Mumbai</a:t>
            </a:r>
            <a:endParaRPr lang="en-US" sz="1600" dirty="0"/>
          </a:p>
        </p:txBody>
      </p:sp>
      <p:sp>
        <p:nvSpPr>
          <p:cNvPr id="24" name="Text 22"/>
          <p:cNvSpPr txBox="1"/>
          <p:nvPr/>
        </p:nvSpPr>
        <p:spPr>
          <a:xfrm>
            <a:off x="4754880" y="3657600"/>
            <a:ext cx="1828800" cy="274320"/>
          </a:xfrm>
          <a:prstGeom prst="rect">
            <a:avLst/>
          </a:prstGeom>
          <a:noFill/>
          <a:ln/>
        </p:spPr>
        <p:txBody>
          <a:bodyPr wrap="square" lIns="0" tIns="0" rIns="0" bIns="0" rtlCol="0" anchor="ctr"/>
          <a:lstStyle/>
          <a:p>
            <a:pPr indent="0" marL="0">
              <a:buNone/>
            </a:pPr>
            <a:r>
              <a:rPr lang="en-US" sz="1100" dirty="0">
                <a:solidFill>
                  <a:srgbClr val="56636E"/>
                </a:solidFill>
                <a:latin typeface="Calibri" pitchFamily="34" charset="0"/>
                <a:ea typeface="Calibri" pitchFamily="34" charset="-122"/>
                <a:cs typeface="Calibri" pitchFamily="34" charset="-120"/>
              </a:rPr>
              <a:t>Staff gap +20 pts</a:t>
            </a:r>
            <a:endParaRPr lang="en-US" sz="1100" dirty="0"/>
          </a:p>
        </p:txBody>
      </p:sp>
      <p:sp>
        <p:nvSpPr>
          <p:cNvPr id="25" name="Text 23"/>
          <p:cNvSpPr txBox="1"/>
          <p:nvPr/>
        </p:nvSpPr>
        <p:spPr>
          <a:xfrm>
            <a:off x="6263640" y="3319272"/>
            <a:ext cx="1234440" cy="640080"/>
          </a:xfrm>
          <a:prstGeom prst="rect">
            <a:avLst/>
          </a:prstGeom>
          <a:noFill/>
          <a:ln/>
        </p:spPr>
        <p:txBody>
          <a:bodyPr wrap="square" lIns="0" tIns="0" rIns="0" bIns="0" rtlCol="0" anchor="ctr"/>
          <a:lstStyle/>
          <a:p>
            <a:pPr algn="r" indent="0" marL="0">
              <a:buNone/>
            </a:pPr>
            <a:r>
              <a:rPr lang="en-US" sz="3000" b="1" dirty="0">
                <a:solidFill>
                  <a:srgbClr val="18222B"/>
                </a:solidFill>
                <a:latin typeface="Cambria" pitchFamily="34" charset="0"/>
                <a:ea typeface="Cambria" pitchFamily="34" charset="-122"/>
                <a:cs typeface="Cambria" pitchFamily="34" charset="-120"/>
              </a:rPr>
              <a:t>-53</a:t>
            </a:r>
            <a:endParaRPr lang="en-US" sz="3000" dirty="0"/>
          </a:p>
        </p:txBody>
      </p:sp>
      <p:sp>
        <p:nvSpPr>
          <p:cNvPr id="26" name="Shape 24"/>
          <p:cNvSpPr/>
          <p:nvPr/>
        </p:nvSpPr>
        <p:spPr>
          <a:xfrm>
            <a:off x="4572000" y="4206240"/>
            <a:ext cx="3063240" cy="777240"/>
          </a:xfrm>
          <a:prstGeom prst="roundRect">
            <a:avLst>
              <a:gd name="adj" fmla="val 7059"/>
            </a:avLst>
          </a:prstGeom>
          <a:solidFill>
            <a:srgbClr val="FFFFFF"/>
          </a:solidFill>
          <a:ln w="9525">
            <a:solidFill>
              <a:srgbClr val="D9DEE2"/>
            </a:solidFill>
            <a:prstDash val="solid"/>
          </a:ln>
        </p:spPr>
      </p:sp>
      <p:sp>
        <p:nvSpPr>
          <p:cNvPr id="27" name="Text 25"/>
          <p:cNvSpPr txBox="1"/>
          <p:nvPr/>
        </p:nvSpPr>
        <p:spPr>
          <a:xfrm>
            <a:off x="4754880" y="4297680"/>
            <a:ext cx="1463040" cy="320040"/>
          </a:xfrm>
          <a:prstGeom prst="rect">
            <a:avLst/>
          </a:prstGeom>
          <a:noFill/>
          <a:ln/>
        </p:spPr>
        <p:txBody>
          <a:bodyPr wrap="square" lIns="0" tIns="0" rIns="0" bIns="0" rtlCol="0" anchor="ctr"/>
          <a:lstStyle/>
          <a:p>
            <a:pPr indent="0" marL="0">
              <a:buNone/>
            </a:pPr>
            <a:r>
              <a:rPr lang="en-US" sz="1600" b="1" dirty="0">
                <a:solidFill>
                  <a:srgbClr val="18222B"/>
                </a:solidFill>
                <a:latin typeface="Calibri" pitchFamily="34" charset="0"/>
                <a:ea typeface="Calibri" pitchFamily="34" charset="-122"/>
                <a:cs typeface="Calibri" pitchFamily="34" charset="-120"/>
              </a:rPr>
              <a:t>Hyderabad</a:t>
            </a:r>
            <a:endParaRPr lang="en-US" sz="1600" dirty="0"/>
          </a:p>
        </p:txBody>
      </p:sp>
      <p:sp>
        <p:nvSpPr>
          <p:cNvPr id="28" name="Text 26"/>
          <p:cNvSpPr txBox="1"/>
          <p:nvPr/>
        </p:nvSpPr>
        <p:spPr>
          <a:xfrm>
            <a:off x="4754880" y="4617720"/>
            <a:ext cx="1828800" cy="274320"/>
          </a:xfrm>
          <a:prstGeom prst="rect">
            <a:avLst/>
          </a:prstGeom>
          <a:noFill/>
          <a:ln/>
        </p:spPr>
        <p:txBody>
          <a:bodyPr wrap="square" lIns="0" tIns="0" rIns="0" bIns="0" rtlCol="0" anchor="ctr"/>
          <a:lstStyle/>
          <a:p>
            <a:pPr indent="0" marL="0">
              <a:buNone/>
            </a:pPr>
            <a:r>
              <a:rPr lang="en-US" sz="1100" dirty="0">
                <a:solidFill>
                  <a:srgbClr val="56636E"/>
                </a:solidFill>
                <a:latin typeface="Calibri" pitchFamily="34" charset="0"/>
                <a:ea typeface="Calibri" pitchFamily="34" charset="-122"/>
                <a:cs typeface="Calibri" pitchFamily="34" charset="-120"/>
              </a:rPr>
              <a:t>Staff r 0.66</a:t>
            </a:r>
            <a:endParaRPr lang="en-US" sz="1100" dirty="0"/>
          </a:p>
        </p:txBody>
      </p:sp>
      <p:sp>
        <p:nvSpPr>
          <p:cNvPr id="29" name="Text 27"/>
          <p:cNvSpPr txBox="1"/>
          <p:nvPr/>
        </p:nvSpPr>
        <p:spPr>
          <a:xfrm>
            <a:off x="6263640" y="4279392"/>
            <a:ext cx="1234440" cy="640080"/>
          </a:xfrm>
          <a:prstGeom prst="rect">
            <a:avLst/>
          </a:prstGeom>
          <a:noFill/>
          <a:ln/>
        </p:spPr>
        <p:txBody>
          <a:bodyPr wrap="square" lIns="0" tIns="0" rIns="0" bIns="0" rtlCol="0" anchor="ctr"/>
          <a:lstStyle/>
          <a:p>
            <a:pPr algn="r" indent="0" marL="0">
              <a:buNone/>
            </a:pPr>
            <a:r>
              <a:rPr lang="en-US" sz="3000" b="1" dirty="0">
                <a:solidFill>
                  <a:srgbClr val="18222B"/>
                </a:solidFill>
                <a:latin typeface="Cambria" pitchFamily="34" charset="0"/>
                <a:ea typeface="Cambria" pitchFamily="34" charset="-122"/>
                <a:cs typeface="Cambria" pitchFamily="34" charset="-120"/>
              </a:rPr>
              <a:t>-44</a:t>
            </a:r>
            <a:endParaRPr lang="en-US" sz="3000" dirty="0"/>
          </a:p>
        </p:txBody>
      </p:sp>
      <p:sp>
        <p:nvSpPr>
          <p:cNvPr id="30" name="Shape 28"/>
          <p:cNvSpPr/>
          <p:nvPr/>
        </p:nvSpPr>
        <p:spPr>
          <a:xfrm>
            <a:off x="8138160" y="1783080"/>
            <a:ext cx="3520440" cy="4434840"/>
          </a:xfrm>
          <a:prstGeom prst="roundRect">
            <a:avLst>
              <a:gd name="adj" fmla="val 2078"/>
            </a:avLst>
          </a:prstGeom>
          <a:solidFill>
            <a:srgbClr val="F1F3F5"/>
          </a:solidFill>
          <a:ln w="12700">
            <a:solidFill>
              <a:srgbClr val="F1F3F5"/>
            </a:solidFill>
            <a:prstDash val="solid"/>
          </a:ln>
        </p:spPr>
      </p:sp>
      <p:sp>
        <p:nvSpPr>
          <p:cNvPr id="31" name="Text 29"/>
          <p:cNvSpPr txBox="1"/>
          <p:nvPr/>
        </p:nvSpPr>
        <p:spPr>
          <a:xfrm>
            <a:off x="8412480" y="2011680"/>
            <a:ext cx="2971800" cy="457200"/>
          </a:xfrm>
          <a:prstGeom prst="rect">
            <a:avLst/>
          </a:prstGeom>
          <a:noFill/>
          <a:ln/>
        </p:spPr>
        <p:txBody>
          <a:bodyPr wrap="square" lIns="0" tIns="0" rIns="0" bIns="0" rtlCol="0" anchor="t"/>
          <a:lstStyle/>
          <a:p>
            <a:pPr indent="0" marL="0">
              <a:buNone/>
            </a:pPr>
            <a:r>
              <a:rPr lang="en-US" sz="2200" b="1" dirty="0">
                <a:solidFill>
                  <a:srgbClr val="18222B"/>
                </a:solidFill>
                <a:latin typeface="Cambria" pitchFamily="34" charset="0"/>
                <a:ea typeface="Cambria" pitchFamily="34" charset="-122"/>
                <a:cs typeface="Cambria" pitchFamily="34" charset="-120"/>
              </a:rPr>
              <a:t>Money-driven</a:t>
            </a:r>
            <a:endParaRPr lang="en-US" sz="2200" dirty="0"/>
          </a:p>
        </p:txBody>
      </p:sp>
      <p:sp>
        <p:nvSpPr>
          <p:cNvPr id="32" name="Text 30"/>
          <p:cNvSpPr txBox="1"/>
          <p:nvPr/>
        </p:nvSpPr>
        <p:spPr>
          <a:xfrm>
            <a:off x="8412480" y="2496312"/>
            <a:ext cx="2971800" cy="548640"/>
          </a:xfrm>
          <a:prstGeom prst="rect">
            <a:avLst/>
          </a:prstGeom>
          <a:noFill/>
          <a:ln/>
        </p:spPr>
        <p:txBody>
          <a:bodyPr wrap="square" lIns="0" tIns="0" rIns="0" bIns="0" rtlCol="0" anchor="t"/>
          <a:lstStyle/>
          <a:p>
            <a:pPr indent="0" marL="0">
              <a:buNone/>
            </a:pPr>
            <a:r>
              <a:rPr lang="en-US" sz="1300" dirty="0">
                <a:solidFill>
                  <a:srgbClr val="56636E"/>
                </a:solidFill>
                <a:latin typeface="Calibri" pitchFamily="34" charset="0"/>
                <a:ea typeface="Calibri" pitchFamily="34" charset="-122"/>
                <a:cs typeface="Calibri" pitchFamily="34" charset="-120"/>
              </a:rPr>
              <a:t>Earnings &amp; Payments is the top predictor</a:t>
            </a:r>
            <a:endParaRPr lang="en-US" sz="1300" dirty="0"/>
          </a:p>
        </p:txBody>
      </p:sp>
      <p:sp>
        <p:nvSpPr>
          <p:cNvPr id="33" name="Shape 31"/>
          <p:cNvSpPr/>
          <p:nvPr/>
        </p:nvSpPr>
        <p:spPr>
          <a:xfrm>
            <a:off x="8366760" y="3246120"/>
            <a:ext cx="3063240" cy="777240"/>
          </a:xfrm>
          <a:prstGeom prst="roundRect">
            <a:avLst>
              <a:gd name="adj" fmla="val 7059"/>
            </a:avLst>
          </a:prstGeom>
          <a:solidFill>
            <a:srgbClr val="FFFFFF"/>
          </a:solidFill>
          <a:ln w="9525">
            <a:solidFill>
              <a:srgbClr val="D9DEE2"/>
            </a:solidFill>
            <a:prstDash val="solid"/>
          </a:ln>
        </p:spPr>
      </p:sp>
      <p:sp>
        <p:nvSpPr>
          <p:cNvPr id="34" name="Text 32"/>
          <p:cNvSpPr txBox="1"/>
          <p:nvPr/>
        </p:nvSpPr>
        <p:spPr>
          <a:xfrm>
            <a:off x="8549640" y="3337560"/>
            <a:ext cx="1463040" cy="320040"/>
          </a:xfrm>
          <a:prstGeom prst="rect">
            <a:avLst/>
          </a:prstGeom>
          <a:noFill/>
          <a:ln/>
        </p:spPr>
        <p:txBody>
          <a:bodyPr wrap="square" lIns="0" tIns="0" rIns="0" bIns="0" rtlCol="0" anchor="ctr"/>
          <a:lstStyle/>
          <a:p>
            <a:pPr indent="0" marL="0">
              <a:buNone/>
            </a:pPr>
            <a:r>
              <a:rPr lang="en-US" sz="1600" b="1" dirty="0">
                <a:solidFill>
                  <a:srgbClr val="18222B"/>
                </a:solidFill>
                <a:latin typeface="Calibri" pitchFamily="34" charset="0"/>
                <a:ea typeface="Calibri" pitchFamily="34" charset="-122"/>
                <a:cs typeface="Calibri" pitchFamily="34" charset="-120"/>
              </a:rPr>
              <a:t>Kolkata</a:t>
            </a:r>
            <a:endParaRPr lang="en-US" sz="1600" dirty="0"/>
          </a:p>
        </p:txBody>
      </p:sp>
      <p:sp>
        <p:nvSpPr>
          <p:cNvPr id="35" name="Text 33"/>
          <p:cNvSpPr txBox="1"/>
          <p:nvPr/>
        </p:nvSpPr>
        <p:spPr>
          <a:xfrm>
            <a:off x="8549640" y="3657600"/>
            <a:ext cx="1828800" cy="274320"/>
          </a:xfrm>
          <a:prstGeom prst="rect">
            <a:avLst/>
          </a:prstGeom>
          <a:noFill/>
          <a:ln/>
        </p:spPr>
        <p:txBody>
          <a:bodyPr wrap="square" lIns="0" tIns="0" rIns="0" bIns="0" rtlCol="0" anchor="ctr"/>
          <a:lstStyle/>
          <a:p>
            <a:pPr indent="0" marL="0">
              <a:buNone/>
            </a:pPr>
            <a:r>
              <a:rPr lang="en-US" sz="1100" dirty="0">
                <a:solidFill>
                  <a:srgbClr val="56636E"/>
                </a:solidFill>
                <a:latin typeface="Calibri" pitchFamily="34" charset="0"/>
                <a:ea typeface="Calibri" pitchFamily="34" charset="-122"/>
                <a:cs typeface="Calibri" pitchFamily="34" charset="-120"/>
              </a:rPr>
              <a:t>Earnings r 0.79</a:t>
            </a:r>
            <a:endParaRPr lang="en-US" sz="1100" dirty="0"/>
          </a:p>
        </p:txBody>
      </p:sp>
      <p:sp>
        <p:nvSpPr>
          <p:cNvPr id="36" name="Text 34"/>
          <p:cNvSpPr txBox="1"/>
          <p:nvPr/>
        </p:nvSpPr>
        <p:spPr>
          <a:xfrm>
            <a:off x="10058400" y="3319272"/>
            <a:ext cx="1234440" cy="640080"/>
          </a:xfrm>
          <a:prstGeom prst="rect">
            <a:avLst/>
          </a:prstGeom>
          <a:noFill/>
          <a:ln/>
        </p:spPr>
        <p:txBody>
          <a:bodyPr wrap="square" lIns="0" tIns="0" rIns="0" bIns="0" rtlCol="0" anchor="ctr"/>
          <a:lstStyle/>
          <a:p>
            <a:pPr algn="r" indent="0" marL="0">
              <a:buNone/>
            </a:pPr>
            <a:r>
              <a:rPr lang="en-US" sz="3000" b="1" dirty="0">
                <a:solidFill>
                  <a:srgbClr val="D9432B"/>
                </a:solidFill>
                <a:latin typeface="Cambria" pitchFamily="34" charset="0"/>
                <a:ea typeface="Cambria" pitchFamily="34" charset="-122"/>
                <a:cs typeface="Cambria" pitchFamily="34" charset="-120"/>
              </a:rPr>
              <a:t>-67</a:t>
            </a:r>
            <a:endParaRPr lang="en-US" sz="3000" dirty="0"/>
          </a:p>
        </p:txBody>
      </p:sp>
      <p:sp>
        <p:nvSpPr>
          <p:cNvPr id="37" name="Shape 35"/>
          <p:cNvSpPr/>
          <p:nvPr/>
        </p:nvSpPr>
        <p:spPr>
          <a:xfrm>
            <a:off x="8366760" y="4206240"/>
            <a:ext cx="3063240" cy="777240"/>
          </a:xfrm>
          <a:prstGeom prst="roundRect">
            <a:avLst>
              <a:gd name="adj" fmla="val 7059"/>
            </a:avLst>
          </a:prstGeom>
          <a:solidFill>
            <a:srgbClr val="FFFFFF"/>
          </a:solidFill>
          <a:ln w="9525">
            <a:solidFill>
              <a:srgbClr val="D9DEE2"/>
            </a:solidFill>
            <a:prstDash val="solid"/>
          </a:ln>
        </p:spPr>
      </p:sp>
      <p:sp>
        <p:nvSpPr>
          <p:cNvPr id="38" name="Text 36"/>
          <p:cNvSpPr txBox="1"/>
          <p:nvPr/>
        </p:nvSpPr>
        <p:spPr>
          <a:xfrm>
            <a:off x="8549640" y="4297680"/>
            <a:ext cx="1463040" cy="320040"/>
          </a:xfrm>
          <a:prstGeom prst="rect">
            <a:avLst/>
          </a:prstGeom>
          <a:noFill/>
          <a:ln/>
        </p:spPr>
        <p:txBody>
          <a:bodyPr wrap="square" lIns="0" tIns="0" rIns="0" bIns="0" rtlCol="0" anchor="ctr"/>
          <a:lstStyle/>
          <a:p>
            <a:pPr indent="0" marL="0">
              <a:buNone/>
            </a:pPr>
            <a:r>
              <a:rPr lang="en-US" sz="1600" b="1" dirty="0">
                <a:solidFill>
                  <a:srgbClr val="18222B"/>
                </a:solidFill>
                <a:latin typeface="Calibri" pitchFamily="34" charset="0"/>
                <a:ea typeface="Calibri" pitchFamily="34" charset="-122"/>
                <a:cs typeface="Calibri" pitchFamily="34" charset="-120"/>
              </a:rPr>
              <a:t>Pune</a:t>
            </a:r>
            <a:endParaRPr lang="en-US" sz="1600" dirty="0"/>
          </a:p>
        </p:txBody>
      </p:sp>
      <p:sp>
        <p:nvSpPr>
          <p:cNvPr id="39" name="Text 37"/>
          <p:cNvSpPr txBox="1"/>
          <p:nvPr/>
        </p:nvSpPr>
        <p:spPr>
          <a:xfrm>
            <a:off x="8549640" y="4617720"/>
            <a:ext cx="1828800" cy="274320"/>
          </a:xfrm>
          <a:prstGeom prst="rect">
            <a:avLst/>
          </a:prstGeom>
          <a:noFill/>
          <a:ln/>
        </p:spPr>
        <p:txBody>
          <a:bodyPr wrap="square" lIns="0" tIns="0" rIns="0" bIns="0" rtlCol="0" anchor="ctr"/>
          <a:lstStyle/>
          <a:p>
            <a:pPr indent="0" marL="0">
              <a:buNone/>
            </a:pPr>
            <a:r>
              <a:rPr lang="en-US" sz="1100" dirty="0">
                <a:solidFill>
                  <a:srgbClr val="56636E"/>
                </a:solidFill>
                <a:latin typeface="Calibri" pitchFamily="34" charset="0"/>
                <a:ea typeface="Calibri" pitchFamily="34" charset="-122"/>
                <a:cs typeface="Calibri" pitchFamily="34" charset="-120"/>
              </a:rPr>
              <a:t>Earnings r 0.61</a:t>
            </a:r>
            <a:endParaRPr lang="en-US" sz="1100" dirty="0"/>
          </a:p>
        </p:txBody>
      </p:sp>
      <p:sp>
        <p:nvSpPr>
          <p:cNvPr id="40" name="Text 38"/>
          <p:cNvSpPr txBox="1"/>
          <p:nvPr/>
        </p:nvSpPr>
        <p:spPr>
          <a:xfrm>
            <a:off x="10058400" y="4279392"/>
            <a:ext cx="1234440" cy="640080"/>
          </a:xfrm>
          <a:prstGeom prst="rect">
            <a:avLst/>
          </a:prstGeom>
          <a:noFill/>
          <a:ln/>
        </p:spPr>
        <p:txBody>
          <a:bodyPr wrap="square" lIns="0" tIns="0" rIns="0" bIns="0" rtlCol="0" anchor="ctr"/>
          <a:lstStyle/>
          <a:p>
            <a:pPr algn="r" indent="0" marL="0">
              <a:buNone/>
            </a:pPr>
            <a:r>
              <a:rPr lang="en-US" sz="3000" b="1" dirty="0">
                <a:solidFill>
                  <a:srgbClr val="18222B"/>
                </a:solidFill>
                <a:latin typeface="Cambria" pitchFamily="34" charset="0"/>
                <a:ea typeface="Cambria" pitchFamily="34" charset="-122"/>
                <a:cs typeface="Cambria" pitchFamily="34" charset="-120"/>
              </a:rPr>
              <a:t>-54</a:t>
            </a:r>
            <a:endParaRPr lang="en-US" sz="3000" dirty="0"/>
          </a:p>
        </p:txBody>
      </p:sp>
      <p:sp>
        <p:nvSpPr>
          <p:cNvPr id="41" name="Text 39"/>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A959E"/>
                </a:solidFill>
                <a:latin typeface="Calibri" pitchFamily="34" charset="0"/>
                <a:ea typeface="Calibri" pitchFamily="34" charset="-122"/>
                <a:cs typeface="Calibri" pitchFamily="34" charset="-120"/>
              </a:rPr>
              <a:t>Driver Partner Survey  ·  Baseline Wave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18222B"/>
                </a:solidFill>
                <a:latin typeface="Cambria" pitchFamily="34" charset="0"/>
                <a:ea typeface="Cambria" pitchFamily="34" charset="-122"/>
                <a:cs typeface="Cambria" pitchFamily="34" charset="-120"/>
              </a:rPr>
              <a:t>OwnNow scores best and feels the most let down</a:t>
            </a:r>
            <a:endParaRPr lang="en-US" sz="32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56636E"/>
                </a:solidFill>
                <a:latin typeface="Calibri" pitchFamily="34" charset="0"/>
                <a:ea typeface="Calibri" pitchFamily="34" charset="-122"/>
                <a:cs typeface="Calibri" pitchFamily="34" charset="-120"/>
              </a:rPr>
              <a:t>Active drivers by current product</a:t>
            </a:r>
            <a:endParaRPr lang="en-US" sz="1600" dirty="0"/>
          </a:p>
        </p:txBody>
      </p:sp>
      <p:sp>
        <p:nvSpPr>
          <p:cNvPr id="4" name="Text 2"/>
          <p:cNvSpPr txBox="1"/>
          <p:nvPr/>
        </p:nvSpPr>
        <p:spPr>
          <a:xfrm>
            <a:off x="548640" y="2331720"/>
            <a:ext cx="1737360" cy="868680"/>
          </a:xfrm>
          <a:prstGeom prst="rect">
            <a:avLst/>
          </a:prstGeom>
          <a:noFill/>
          <a:ln/>
        </p:spPr>
        <p:txBody>
          <a:bodyPr wrap="square" lIns="0" tIns="0" rIns="0" bIns="0" rtlCol="0" anchor="ctr"/>
          <a:lstStyle/>
          <a:p>
            <a:pPr indent="0" marL="0">
              <a:buNone/>
            </a:pPr>
            <a:r>
              <a:rPr lang="en-US" sz="1500" b="1" dirty="0">
                <a:solidFill>
                  <a:srgbClr val="56636E"/>
                </a:solidFill>
                <a:latin typeface="Calibri" pitchFamily="34" charset="0"/>
                <a:ea typeface="Calibri" pitchFamily="34" charset="-122"/>
                <a:cs typeface="Calibri" pitchFamily="34" charset="-120"/>
              </a:rPr>
              <a:t>NPS</a:t>
            </a:r>
            <a:endParaRPr lang="en-US" sz="1500" dirty="0"/>
          </a:p>
        </p:txBody>
      </p:sp>
      <p:sp>
        <p:nvSpPr>
          <p:cNvPr id="5" name="Text 3"/>
          <p:cNvSpPr txBox="1"/>
          <p:nvPr/>
        </p:nvSpPr>
        <p:spPr>
          <a:xfrm>
            <a:off x="548640" y="3291840"/>
            <a:ext cx="1737360" cy="868680"/>
          </a:xfrm>
          <a:prstGeom prst="rect">
            <a:avLst/>
          </a:prstGeom>
          <a:noFill/>
          <a:ln/>
        </p:spPr>
        <p:txBody>
          <a:bodyPr wrap="square" lIns="0" tIns="0" rIns="0" bIns="0" rtlCol="0" anchor="ctr"/>
          <a:lstStyle/>
          <a:p>
            <a:pPr indent="0" marL="0">
              <a:buNone/>
            </a:pPr>
            <a:r>
              <a:rPr lang="en-US" sz="1500" b="1" dirty="0">
                <a:solidFill>
                  <a:srgbClr val="56636E"/>
                </a:solidFill>
                <a:latin typeface="Calibri" pitchFamily="34" charset="0"/>
                <a:ea typeface="Calibri" pitchFamily="34" charset="-122"/>
                <a:cs typeface="Calibri" pitchFamily="34" charset="-120"/>
              </a:rPr>
              <a:t>Top value driver</a:t>
            </a:r>
            <a:endParaRPr lang="en-US" sz="1500" dirty="0"/>
          </a:p>
        </p:txBody>
      </p:sp>
      <p:sp>
        <p:nvSpPr>
          <p:cNvPr id="6" name="Text 4"/>
          <p:cNvSpPr txBox="1"/>
          <p:nvPr/>
        </p:nvSpPr>
        <p:spPr>
          <a:xfrm>
            <a:off x="548640" y="4251960"/>
            <a:ext cx="1737360" cy="868680"/>
          </a:xfrm>
          <a:prstGeom prst="rect">
            <a:avLst/>
          </a:prstGeom>
          <a:noFill/>
          <a:ln/>
        </p:spPr>
        <p:txBody>
          <a:bodyPr wrap="square" lIns="0" tIns="0" rIns="0" bIns="0" rtlCol="0" anchor="ctr"/>
          <a:lstStyle/>
          <a:p>
            <a:pPr indent="0" marL="0">
              <a:buNone/>
            </a:pPr>
            <a:r>
              <a:rPr lang="en-US" sz="1500" b="1" dirty="0">
                <a:solidFill>
                  <a:srgbClr val="56636E"/>
                </a:solidFill>
                <a:latin typeface="Calibri" pitchFamily="34" charset="0"/>
                <a:ea typeface="Calibri" pitchFamily="34" charset="-122"/>
                <a:cs typeface="Calibri" pitchFamily="34" charset="-120"/>
              </a:rPr>
              <a:t>Top complaint</a:t>
            </a:r>
            <a:endParaRPr lang="en-US" sz="1500" dirty="0"/>
          </a:p>
        </p:txBody>
      </p:sp>
      <p:sp>
        <p:nvSpPr>
          <p:cNvPr id="7" name="Shape 5"/>
          <p:cNvSpPr/>
          <p:nvPr/>
        </p:nvSpPr>
        <p:spPr>
          <a:xfrm>
            <a:off x="2286000" y="1691640"/>
            <a:ext cx="2971800" cy="4434840"/>
          </a:xfrm>
          <a:prstGeom prst="roundRect">
            <a:avLst>
              <a:gd name="adj" fmla="val 2462"/>
            </a:avLst>
          </a:prstGeom>
          <a:solidFill>
            <a:srgbClr val="F1F3F5"/>
          </a:solidFill>
          <a:ln w="12700">
            <a:solidFill>
              <a:srgbClr val="F1F3F5"/>
            </a:solidFill>
            <a:prstDash val="solid"/>
          </a:ln>
        </p:spPr>
      </p:sp>
      <p:sp>
        <p:nvSpPr>
          <p:cNvPr id="8" name="Text 6"/>
          <p:cNvSpPr txBox="1"/>
          <p:nvPr/>
        </p:nvSpPr>
        <p:spPr>
          <a:xfrm>
            <a:off x="2560320" y="1828800"/>
            <a:ext cx="2423160" cy="457200"/>
          </a:xfrm>
          <a:prstGeom prst="rect">
            <a:avLst/>
          </a:prstGeom>
          <a:noFill/>
          <a:ln/>
        </p:spPr>
        <p:txBody>
          <a:bodyPr wrap="square" lIns="0" tIns="0" rIns="0" bIns="0" rtlCol="0" anchor="t"/>
          <a:lstStyle/>
          <a:p>
            <a:pPr indent="0" marL="0">
              <a:buNone/>
            </a:pPr>
            <a:r>
              <a:rPr lang="en-US" sz="2200" b="1" dirty="0">
                <a:solidFill>
                  <a:srgbClr val="18222B"/>
                </a:solidFill>
                <a:latin typeface="Cambria" pitchFamily="34" charset="0"/>
                <a:ea typeface="Cambria" pitchFamily="34" charset="-122"/>
                <a:cs typeface="Cambria" pitchFamily="34" charset="-120"/>
              </a:rPr>
              <a:t>DTO</a:t>
            </a:r>
            <a:endParaRPr lang="en-US" sz="2200" dirty="0"/>
          </a:p>
        </p:txBody>
      </p:sp>
      <p:sp>
        <p:nvSpPr>
          <p:cNvPr id="9" name="Text 7"/>
          <p:cNvSpPr txBox="1"/>
          <p:nvPr/>
        </p:nvSpPr>
        <p:spPr>
          <a:xfrm>
            <a:off x="2560320" y="2331720"/>
            <a:ext cx="2423160" cy="868680"/>
          </a:xfrm>
          <a:prstGeom prst="rect">
            <a:avLst/>
          </a:prstGeom>
          <a:noFill/>
          <a:ln/>
        </p:spPr>
        <p:txBody>
          <a:bodyPr wrap="square" lIns="0" tIns="0" rIns="0" bIns="0" rtlCol="0" anchor="ctr"/>
          <a:lstStyle/>
          <a:p>
            <a:pPr indent="0" marL="0">
              <a:buNone/>
            </a:pPr>
            <a:r>
              <a:rPr lang="en-US" sz="4000" b="1" dirty="0">
                <a:solidFill>
                  <a:srgbClr val="D9432B"/>
                </a:solidFill>
                <a:latin typeface="Cambria" pitchFamily="34" charset="0"/>
                <a:ea typeface="Cambria" pitchFamily="34" charset="-122"/>
                <a:cs typeface="Cambria" pitchFamily="34" charset="-120"/>
              </a:rPr>
              <a:t>-61</a:t>
            </a:r>
            <a:endParaRPr lang="en-US" sz="4000" dirty="0"/>
          </a:p>
        </p:txBody>
      </p:sp>
      <p:sp>
        <p:nvSpPr>
          <p:cNvPr id="10" name="Text 8"/>
          <p:cNvSpPr txBox="1"/>
          <p:nvPr/>
        </p:nvSpPr>
        <p:spPr>
          <a:xfrm>
            <a:off x="2560320" y="3291840"/>
            <a:ext cx="2514600" cy="868680"/>
          </a:xfrm>
          <a:prstGeom prst="rect">
            <a:avLst/>
          </a:prstGeom>
          <a:noFill/>
          <a:ln/>
        </p:spPr>
        <p:txBody>
          <a:bodyPr wrap="square" lIns="0" tIns="0" rIns="0" bIns="0" rtlCol="0" anchor="ctr"/>
          <a:lstStyle/>
          <a:p>
            <a:pPr indent="0" marL="0">
              <a:buNone/>
            </a:pPr>
            <a:r>
              <a:rPr lang="en-US" sz="2600" b="1" dirty="0">
                <a:solidFill>
                  <a:srgbClr val="18222B"/>
                </a:solidFill>
                <a:latin typeface="Cambria" pitchFamily="34" charset="0"/>
                <a:ea typeface="Cambria" pitchFamily="34" charset="-122"/>
                <a:cs typeface="Cambria" pitchFamily="34" charset="-120"/>
              </a:rPr>
              <a:t>42%</a:t>
            </a:r>
            <a:endParaRPr lang="en-US" sz="2600" dirty="0"/>
          </a:p>
          <a:p>
            <a:pPr indent="0" marL="0">
              <a:buNone/>
            </a:pPr>
            <a:r>
              <a:rPr lang="en-US" sz="1400" dirty="0">
                <a:solidFill>
                  <a:srgbClr val="18222B"/>
                </a:solidFill>
                <a:latin typeface="Calibri" pitchFamily="34" charset="0"/>
                <a:ea typeface="Calibri" pitchFamily="34" charset="-122"/>
                <a:cs typeface="Calibri" pitchFamily="34" charset="-120"/>
              </a:rPr>
              <a:t>Ownership opportunity</a:t>
            </a:r>
            <a:endParaRPr lang="en-US" sz="2600" dirty="0"/>
          </a:p>
        </p:txBody>
      </p:sp>
      <p:sp>
        <p:nvSpPr>
          <p:cNvPr id="11" name="Text 9"/>
          <p:cNvSpPr txBox="1"/>
          <p:nvPr/>
        </p:nvSpPr>
        <p:spPr>
          <a:xfrm>
            <a:off x="2560320" y="4251960"/>
            <a:ext cx="2514600" cy="868680"/>
          </a:xfrm>
          <a:prstGeom prst="rect">
            <a:avLst/>
          </a:prstGeom>
          <a:noFill/>
          <a:ln/>
        </p:spPr>
        <p:txBody>
          <a:bodyPr wrap="square" lIns="0" tIns="0" rIns="0" bIns="0" rtlCol="0" anchor="ctr"/>
          <a:lstStyle/>
          <a:p>
            <a:pPr indent="0" marL="0">
              <a:buNone/>
            </a:pPr>
            <a:r>
              <a:rPr lang="en-US" sz="2600" b="1" dirty="0">
                <a:solidFill>
                  <a:srgbClr val="18222B"/>
                </a:solidFill>
                <a:latin typeface="Cambria" pitchFamily="34" charset="0"/>
                <a:ea typeface="Cambria" pitchFamily="34" charset="-122"/>
                <a:cs typeface="Cambria" pitchFamily="34" charset="-120"/>
              </a:rPr>
              <a:t>49%</a:t>
            </a:r>
            <a:endParaRPr lang="en-US" sz="2600" dirty="0"/>
          </a:p>
          <a:p>
            <a:pPr indent="0" marL="0">
              <a:buNone/>
            </a:pPr>
            <a:r>
              <a:rPr lang="en-US" sz="1400" dirty="0">
                <a:solidFill>
                  <a:srgbClr val="18222B"/>
                </a:solidFill>
                <a:latin typeface="Calibri" pitchFamily="34" charset="0"/>
                <a:ea typeface="Calibri" pitchFamily="34" charset="-122"/>
                <a:cs typeface="Calibri" pitchFamily="34" charset="-120"/>
              </a:rPr>
              <a:t>Vehicle or garage delays</a:t>
            </a:r>
            <a:endParaRPr lang="en-US" sz="2600" dirty="0"/>
          </a:p>
        </p:txBody>
      </p:sp>
      <p:sp>
        <p:nvSpPr>
          <p:cNvPr id="12" name="Shape 10"/>
          <p:cNvSpPr/>
          <p:nvPr/>
        </p:nvSpPr>
        <p:spPr>
          <a:xfrm>
            <a:off x="5440680" y="1691640"/>
            <a:ext cx="2971800" cy="4434840"/>
          </a:xfrm>
          <a:prstGeom prst="roundRect">
            <a:avLst>
              <a:gd name="adj" fmla="val 2462"/>
            </a:avLst>
          </a:prstGeom>
          <a:solidFill>
            <a:srgbClr val="F1F3F5"/>
          </a:solidFill>
          <a:ln w="12700">
            <a:solidFill>
              <a:srgbClr val="F1F3F5"/>
            </a:solidFill>
            <a:prstDash val="solid"/>
          </a:ln>
        </p:spPr>
      </p:sp>
      <p:sp>
        <p:nvSpPr>
          <p:cNvPr id="13" name="Text 11"/>
          <p:cNvSpPr txBox="1"/>
          <p:nvPr/>
        </p:nvSpPr>
        <p:spPr>
          <a:xfrm>
            <a:off x="5715000" y="1828800"/>
            <a:ext cx="2423160" cy="457200"/>
          </a:xfrm>
          <a:prstGeom prst="rect">
            <a:avLst/>
          </a:prstGeom>
          <a:noFill/>
          <a:ln/>
        </p:spPr>
        <p:txBody>
          <a:bodyPr wrap="square" lIns="0" tIns="0" rIns="0" bIns="0" rtlCol="0" anchor="t"/>
          <a:lstStyle/>
          <a:p>
            <a:pPr indent="0" marL="0">
              <a:buNone/>
            </a:pPr>
            <a:r>
              <a:rPr lang="en-US" sz="2200" b="1" dirty="0">
                <a:solidFill>
                  <a:srgbClr val="18222B"/>
                </a:solidFill>
                <a:latin typeface="Cambria" pitchFamily="34" charset="0"/>
                <a:ea typeface="Cambria" pitchFamily="34" charset="-122"/>
                <a:cs typeface="Cambria" pitchFamily="34" charset="-120"/>
              </a:rPr>
              <a:t>Leasing</a:t>
            </a:r>
            <a:endParaRPr lang="en-US" sz="2200" dirty="0"/>
          </a:p>
        </p:txBody>
      </p:sp>
      <p:sp>
        <p:nvSpPr>
          <p:cNvPr id="14" name="Text 12"/>
          <p:cNvSpPr txBox="1"/>
          <p:nvPr/>
        </p:nvSpPr>
        <p:spPr>
          <a:xfrm>
            <a:off x="5715000" y="2331720"/>
            <a:ext cx="2423160" cy="868680"/>
          </a:xfrm>
          <a:prstGeom prst="rect">
            <a:avLst/>
          </a:prstGeom>
          <a:noFill/>
          <a:ln/>
        </p:spPr>
        <p:txBody>
          <a:bodyPr wrap="square" lIns="0" tIns="0" rIns="0" bIns="0" rtlCol="0" anchor="ctr"/>
          <a:lstStyle/>
          <a:p>
            <a:pPr indent="0" marL="0">
              <a:buNone/>
            </a:pPr>
            <a:r>
              <a:rPr lang="en-US" sz="4000" b="1" dirty="0">
                <a:solidFill>
                  <a:srgbClr val="18222B"/>
                </a:solidFill>
                <a:latin typeface="Cambria" pitchFamily="34" charset="0"/>
                <a:ea typeface="Cambria" pitchFamily="34" charset="-122"/>
                <a:cs typeface="Cambria" pitchFamily="34" charset="-120"/>
              </a:rPr>
              <a:t>-57</a:t>
            </a:r>
            <a:endParaRPr lang="en-US" sz="4000" dirty="0"/>
          </a:p>
        </p:txBody>
      </p:sp>
      <p:sp>
        <p:nvSpPr>
          <p:cNvPr id="15" name="Text 13"/>
          <p:cNvSpPr txBox="1"/>
          <p:nvPr/>
        </p:nvSpPr>
        <p:spPr>
          <a:xfrm>
            <a:off x="5715000" y="3291840"/>
            <a:ext cx="2514600" cy="868680"/>
          </a:xfrm>
          <a:prstGeom prst="rect">
            <a:avLst/>
          </a:prstGeom>
          <a:noFill/>
          <a:ln/>
        </p:spPr>
        <p:txBody>
          <a:bodyPr wrap="square" lIns="0" tIns="0" rIns="0" bIns="0" rtlCol="0" anchor="ctr"/>
          <a:lstStyle/>
          <a:p>
            <a:pPr indent="0" marL="0">
              <a:buNone/>
            </a:pPr>
            <a:r>
              <a:rPr lang="en-US" sz="2600" b="1" dirty="0">
                <a:solidFill>
                  <a:srgbClr val="18222B"/>
                </a:solidFill>
                <a:latin typeface="Cambria" pitchFamily="34" charset="0"/>
                <a:ea typeface="Cambria" pitchFamily="34" charset="-122"/>
                <a:cs typeface="Cambria" pitchFamily="34" charset="-120"/>
              </a:rPr>
              <a:t>40%</a:t>
            </a:r>
            <a:endParaRPr lang="en-US" sz="2600" dirty="0"/>
          </a:p>
          <a:p>
            <a:pPr indent="0" marL="0">
              <a:buNone/>
            </a:pPr>
            <a:r>
              <a:rPr lang="en-US" sz="1400" dirty="0">
                <a:solidFill>
                  <a:srgbClr val="18222B"/>
                </a:solidFill>
                <a:latin typeface="Calibri" pitchFamily="34" charset="0"/>
                <a:ea typeface="Calibri" pitchFamily="34" charset="-122"/>
                <a:cs typeface="Calibri" pitchFamily="34" charset="-120"/>
              </a:rPr>
              <a:t>On-time payments</a:t>
            </a:r>
            <a:endParaRPr lang="en-US" sz="2600" dirty="0"/>
          </a:p>
        </p:txBody>
      </p:sp>
      <p:sp>
        <p:nvSpPr>
          <p:cNvPr id="16" name="Text 14"/>
          <p:cNvSpPr txBox="1"/>
          <p:nvPr/>
        </p:nvSpPr>
        <p:spPr>
          <a:xfrm>
            <a:off x="5715000" y="4251960"/>
            <a:ext cx="2514600" cy="868680"/>
          </a:xfrm>
          <a:prstGeom prst="rect">
            <a:avLst/>
          </a:prstGeom>
          <a:noFill/>
          <a:ln/>
        </p:spPr>
        <p:txBody>
          <a:bodyPr wrap="square" lIns="0" tIns="0" rIns="0" bIns="0" rtlCol="0" anchor="ctr"/>
          <a:lstStyle/>
          <a:p>
            <a:pPr indent="0" marL="0">
              <a:buNone/>
            </a:pPr>
            <a:r>
              <a:rPr lang="en-US" sz="2600" b="1" dirty="0">
                <a:solidFill>
                  <a:srgbClr val="18222B"/>
                </a:solidFill>
                <a:latin typeface="Cambria" pitchFamily="34" charset="0"/>
                <a:ea typeface="Cambria" pitchFamily="34" charset="-122"/>
                <a:cs typeface="Cambria" pitchFamily="34" charset="-120"/>
              </a:rPr>
              <a:t>67%</a:t>
            </a:r>
            <a:endParaRPr lang="en-US" sz="2600" dirty="0"/>
          </a:p>
          <a:p>
            <a:pPr indent="0" marL="0">
              <a:buNone/>
            </a:pPr>
            <a:r>
              <a:rPr lang="en-US" sz="1400" dirty="0">
                <a:solidFill>
                  <a:srgbClr val="18222B"/>
                </a:solidFill>
                <a:latin typeface="Calibri" pitchFamily="34" charset="0"/>
                <a:ea typeface="Calibri" pitchFamily="34" charset="-122"/>
                <a:cs typeface="Calibri" pitchFamily="34" charset="-120"/>
              </a:rPr>
              <a:t>Vehicle or garage delays</a:t>
            </a:r>
            <a:endParaRPr lang="en-US" sz="2600" dirty="0"/>
          </a:p>
        </p:txBody>
      </p:sp>
      <p:sp>
        <p:nvSpPr>
          <p:cNvPr id="17" name="Shape 15"/>
          <p:cNvSpPr/>
          <p:nvPr/>
        </p:nvSpPr>
        <p:spPr>
          <a:xfrm>
            <a:off x="8595360" y="1691640"/>
            <a:ext cx="2971800" cy="4434840"/>
          </a:xfrm>
          <a:prstGeom prst="roundRect">
            <a:avLst>
              <a:gd name="adj" fmla="val 2462"/>
            </a:avLst>
          </a:prstGeom>
          <a:solidFill>
            <a:srgbClr val="F6D9D3"/>
          </a:solidFill>
          <a:ln w="12700">
            <a:solidFill>
              <a:srgbClr val="F6D9D3"/>
            </a:solidFill>
            <a:prstDash val="solid"/>
          </a:ln>
        </p:spPr>
      </p:sp>
      <p:sp>
        <p:nvSpPr>
          <p:cNvPr id="18" name="Text 16"/>
          <p:cNvSpPr txBox="1"/>
          <p:nvPr/>
        </p:nvSpPr>
        <p:spPr>
          <a:xfrm>
            <a:off x="8869680" y="1828800"/>
            <a:ext cx="2423160" cy="457200"/>
          </a:xfrm>
          <a:prstGeom prst="rect">
            <a:avLst/>
          </a:prstGeom>
          <a:noFill/>
          <a:ln/>
        </p:spPr>
        <p:txBody>
          <a:bodyPr wrap="square" lIns="0" tIns="0" rIns="0" bIns="0" rtlCol="0" anchor="t"/>
          <a:lstStyle/>
          <a:p>
            <a:pPr indent="0" marL="0">
              <a:buNone/>
            </a:pPr>
            <a:r>
              <a:rPr lang="en-US" sz="2200" b="1" dirty="0">
                <a:solidFill>
                  <a:srgbClr val="18222B"/>
                </a:solidFill>
                <a:latin typeface="Cambria" pitchFamily="34" charset="0"/>
                <a:ea typeface="Cambria" pitchFamily="34" charset="-122"/>
                <a:cs typeface="Cambria" pitchFamily="34" charset="-120"/>
              </a:rPr>
              <a:t>OwnNow</a:t>
            </a:r>
            <a:endParaRPr lang="en-US" sz="2200" dirty="0"/>
          </a:p>
        </p:txBody>
      </p:sp>
      <p:sp>
        <p:nvSpPr>
          <p:cNvPr id="19" name="Text 17"/>
          <p:cNvSpPr txBox="1"/>
          <p:nvPr/>
        </p:nvSpPr>
        <p:spPr>
          <a:xfrm>
            <a:off x="8869680" y="2331720"/>
            <a:ext cx="2423160" cy="868680"/>
          </a:xfrm>
          <a:prstGeom prst="rect">
            <a:avLst/>
          </a:prstGeom>
          <a:noFill/>
          <a:ln/>
        </p:spPr>
        <p:txBody>
          <a:bodyPr wrap="square" lIns="0" tIns="0" rIns="0" bIns="0" rtlCol="0" anchor="ctr"/>
          <a:lstStyle/>
          <a:p>
            <a:pPr indent="0" marL="0">
              <a:buNone/>
            </a:pPr>
            <a:r>
              <a:rPr lang="en-US" sz="4000" b="1" dirty="0">
                <a:solidFill>
                  <a:srgbClr val="18222B"/>
                </a:solidFill>
                <a:latin typeface="Cambria" pitchFamily="34" charset="0"/>
                <a:ea typeface="Cambria" pitchFamily="34" charset="-122"/>
                <a:cs typeface="Cambria" pitchFamily="34" charset="-120"/>
              </a:rPr>
              <a:t>-45</a:t>
            </a:r>
            <a:endParaRPr lang="en-US" sz="4000" dirty="0"/>
          </a:p>
        </p:txBody>
      </p:sp>
      <p:sp>
        <p:nvSpPr>
          <p:cNvPr id="20" name="Text 18"/>
          <p:cNvSpPr txBox="1"/>
          <p:nvPr/>
        </p:nvSpPr>
        <p:spPr>
          <a:xfrm>
            <a:off x="8869680" y="3291840"/>
            <a:ext cx="2514600" cy="868680"/>
          </a:xfrm>
          <a:prstGeom prst="rect">
            <a:avLst/>
          </a:prstGeom>
          <a:noFill/>
          <a:ln/>
        </p:spPr>
        <p:txBody>
          <a:bodyPr wrap="square" lIns="0" tIns="0" rIns="0" bIns="0" rtlCol="0" anchor="ctr"/>
          <a:lstStyle/>
          <a:p>
            <a:pPr indent="0" marL="0">
              <a:buNone/>
            </a:pPr>
            <a:r>
              <a:rPr lang="en-US" sz="2600" b="1" dirty="0">
                <a:solidFill>
                  <a:srgbClr val="18222B"/>
                </a:solidFill>
                <a:latin typeface="Cambria" pitchFamily="34" charset="0"/>
                <a:ea typeface="Cambria" pitchFamily="34" charset="-122"/>
                <a:cs typeface="Cambria" pitchFamily="34" charset="-120"/>
              </a:rPr>
              <a:t>56%</a:t>
            </a:r>
            <a:endParaRPr lang="en-US" sz="2600" dirty="0"/>
          </a:p>
          <a:p>
            <a:pPr indent="0" marL="0">
              <a:buNone/>
            </a:pPr>
            <a:r>
              <a:rPr lang="en-US" sz="1400" dirty="0">
                <a:solidFill>
                  <a:srgbClr val="18222B"/>
                </a:solidFill>
                <a:latin typeface="Calibri" pitchFamily="34" charset="0"/>
                <a:ea typeface="Calibri" pitchFamily="34" charset="-122"/>
                <a:cs typeface="Calibri" pitchFamily="34" charset="-120"/>
              </a:rPr>
              <a:t>Ownership opportunity</a:t>
            </a:r>
            <a:endParaRPr lang="en-US" sz="2600" dirty="0"/>
          </a:p>
        </p:txBody>
      </p:sp>
      <p:sp>
        <p:nvSpPr>
          <p:cNvPr id="21" name="Text 19"/>
          <p:cNvSpPr txBox="1"/>
          <p:nvPr/>
        </p:nvSpPr>
        <p:spPr>
          <a:xfrm>
            <a:off x="8869680" y="4251960"/>
            <a:ext cx="2514600" cy="868680"/>
          </a:xfrm>
          <a:prstGeom prst="rect">
            <a:avLst/>
          </a:prstGeom>
          <a:noFill/>
          <a:ln/>
        </p:spPr>
        <p:txBody>
          <a:bodyPr wrap="square" lIns="0" tIns="0" rIns="0" bIns="0" rtlCol="0" anchor="ctr"/>
          <a:lstStyle/>
          <a:p>
            <a:pPr indent="0" marL="0">
              <a:buNone/>
            </a:pPr>
            <a:r>
              <a:rPr lang="en-US" sz="2600" b="1" dirty="0">
                <a:solidFill>
                  <a:srgbClr val="D9432B"/>
                </a:solidFill>
                <a:latin typeface="Cambria" pitchFamily="34" charset="0"/>
                <a:ea typeface="Cambria" pitchFamily="34" charset="-122"/>
                <a:cs typeface="Cambria" pitchFamily="34" charset="-120"/>
              </a:rPr>
              <a:t>46%</a:t>
            </a:r>
            <a:endParaRPr lang="en-US" sz="2600" dirty="0"/>
          </a:p>
          <a:p>
            <a:pPr indent="0" marL="0">
              <a:buNone/>
            </a:pPr>
            <a:r>
              <a:rPr lang="en-US" sz="1400" dirty="0">
                <a:solidFill>
                  <a:srgbClr val="18222B"/>
                </a:solidFill>
                <a:latin typeface="Calibri" pitchFamily="34" charset="0"/>
                <a:ea typeface="Calibri" pitchFamily="34" charset="-122"/>
                <a:cs typeface="Calibri" pitchFamily="34" charset="-120"/>
              </a:rPr>
              <a:t>Promises not matched</a:t>
            </a:r>
            <a:endParaRPr lang="en-US" sz="2600" dirty="0"/>
          </a:p>
        </p:txBody>
      </p:sp>
      <p:sp>
        <p:nvSpPr>
          <p:cNvPr id="22" name="Text 20"/>
          <p:cNvSpPr txBox="1"/>
          <p:nvPr/>
        </p:nvSpPr>
        <p:spPr>
          <a:xfrm>
            <a:off x="8869680" y="5257800"/>
            <a:ext cx="2423160" cy="731520"/>
          </a:xfrm>
          <a:prstGeom prst="rect">
            <a:avLst/>
          </a:prstGeom>
          <a:noFill/>
          <a:ln/>
        </p:spPr>
        <p:txBody>
          <a:bodyPr wrap="square" lIns="0" tIns="0" rIns="0" bIns="0" rtlCol="0" anchor="t"/>
          <a:lstStyle/>
          <a:p>
            <a:pPr indent="0" marL="0">
              <a:buNone/>
            </a:pPr>
            <a:r>
              <a:rPr lang="en-US" sz="1200" i="1" dirty="0">
                <a:solidFill>
                  <a:srgbClr val="7A2A1C"/>
                </a:solidFill>
                <a:latin typeface="Calibri" pitchFamily="34" charset="0"/>
                <a:ea typeface="Calibri" pitchFamily="34" charset="-122"/>
                <a:cs typeface="Calibri" pitchFamily="34" charset="-120"/>
              </a:rPr>
              <a:t>OwnNow is the only product where “Talks nice, doesn’t deliver” is the top pick for Everest’s personality.</a:t>
            </a:r>
            <a:endParaRPr lang="en-US" sz="1200" dirty="0"/>
          </a:p>
        </p:txBody>
      </p:sp>
      <p:sp>
        <p:nvSpPr>
          <p:cNvPr id="23" name="Text 21"/>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A959E"/>
                </a:solidFill>
                <a:latin typeface="Calibri" pitchFamily="34" charset="0"/>
                <a:ea typeface="Calibri" pitchFamily="34" charset="-122"/>
                <a:cs typeface="Calibri" pitchFamily="34" charset="-120"/>
              </a:rPr>
              <a:t>Driver Partner Survey  ·  Baseline Wave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200" b="1" dirty="0">
                <a:solidFill>
                  <a:srgbClr val="18222B"/>
                </a:solidFill>
                <a:latin typeface="Cambria" pitchFamily="34" charset="0"/>
                <a:ea typeface="Cambria" pitchFamily="34" charset="-122"/>
                <a:cs typeface="Cambria" pitchFamily="34" charset="-120"/>
              </a:rPr>
              <a:t>More leavers are idle than at a rival, and 58% would return</a:t>
            </a:r>
            <a:endParaRPr lang="en-US" sz="3200" dirty="0"/>
          </a:p>
        </p:txBody>
      </p:sp>
      <p:sp>
        <p:nvSpPr>
          <p:cNvPr id="3" name="Text 1"/>
          <p:cNvSpPr txBox="1"/>
          <p:nvPr/>
        </p:nvSpPr>
        <p:spPr>
          <a:xfrm>
            <a:off x="548640" y="1115568"/>
            <a:ext cx="11094415" cy="411480"/>
          </a:xfrm>
          <a:prstGeom prst="rect">
            <a:avLst/>
          </a:prstGeom>
          <a:noFill/>
          <a:ln/>
        </p:spPr>
        <p:txBody>
          <a:bodyPr wrap="square" lIns="0" tIns="0" rIns="0" bIns="0" rtlCol="0" anchor="ctr"/>
          <a:lstStyle/>
          <a:p>
            <a:pPr indent="0" marL="0">
              <a:buNone/>
            </a:pPr>
            <a:r>
              <a:rPr lang="en-US" sz="1600" dirty="0">
                <a:solidFill>
                  <a:srgbClr val="56636E"/>
                </a:solidFill>
                <a:latin typeface="Calibri" pitchFamily="34" charset="0"/>
                <a:ea typeface="Calibri" pitchFamily="34" charset="-122"/>
                <a:cs typeface="Calibri" pitchFamily="34" charset="-120"/>
              </a:rPr>
              <a:t>Inactive drivers (278)</a:t>
            </a:r>
            <a:endParaRPr lang="en-US" sz="1600" dirty="0"/>
          </a:p>
        </p:txBody>
      </p:sp>
      <p:sp>
        <p:nvSpPr>
          <p:cNvPr id="4" name="Text 2"/>
          <p:cNvSpPr txBox="1"/>
          <p:nvPr/>
        </p:nvSpPr>
        <p:spPr>
          <a:xfrm>
            <a:off x="548640" y="1783080"/>
            <a:ext cx="5669280" cy="365760"/>
          </a:xfrm>
          <a:prstGeom prst="rect">
            <a:avLst/>
          </a:prstGeom>
          <a:noFill/>
          <a:ln/>
        </p:spPr>
        <p:txBody>
          <a:bodyPr wrap="square" lIns="0" tIns="0" rIns="0" bIns="0" rtlCol="0" anchor="t"/>
          <a:lstStyle/>
          <a:p>
            <a:pPr indent="0" marL="0">
              <a:buNone/>
            </a:pPr>
            <a:r>
              <a:rPr lang="en-US" sz="1600" b="1" dirty="0">
                <a:solidFill>
                  <a:srgbClr val="18222B"/>
                </a:solidFill>
                <a:latin typeface="Calibri" pitchFamily="34" charset="0"/>
                <a:ea typeface="Calibri" pitchFamily="34" charset="-122"/>
                <a:cs typeface="Calibri" pitchFamily="34" charset="-120"/>
              </a:rPr>
              <a:t>Would you return to Everest?</a:t>
            </a:r>
            <a:endParaRPr lang="en-US" sz="1600" dirty="0"/>
          </a:p>
        </p:txBody>
      </p:sp>
      <p:graphicFrame>
        <p:nvGraphicFramePr>
          <p:cNvPr id="5" name="Chart 0" descr=""/>
          <p:cNvGraphicFramePr/>
          <p:nvPr/>
        </p:nvGraphicFramePr>
        <p:xfrm>
          <a:off x="548640" y="2194560"/>
          <a:ext cx="5669280" cy="27432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48640" y="5120640"/>
            <a:ext cx="5669280" cy="1097280"/>
          </a:xfrm>
          <a:prstGeom prst="roundRect">
            <a:avLst>
              <a:gd name="adj" fmla="val 6667"/>
            </a:avLst>
          </a:prstGeom>
          <a:solidFill>
            <a:srgbClr val="DDEFEC"/>
          </a:solidFill>
          <a:ln w="12700">
            <a:solidFill>
              <a:srgbClr val="DDEFEC"/>
            </a:solidFill>
            <a:prstDash val="solid"/>
          </a:ln>
        </p:spPr>
      </p:sp>
      <p:sp>
        <p:nvSpPr>
          <p:cNvPr id="7" name="Text 4"/>
          <p:cNvSpPr txBox="1"/>
          <p:nvPr/>
        </p:nvSpPr>
        <p:spPr>
          <a:xfrm>
            <a:off x="822960" y="5212080"/>
            <a:ext cx="1737360" cy="914400"/>
          </a:xfrm>
          <a:prstGeom prst="rect">
            <a:avLst/>
          </a:prstGeom>
          <a:noFill/>
          <a:ln/>
        </p:spPr>
        <p:txBody>
          <a:bodyPr wrap="square" lIns="0" tIns="0" rIns="0" bIns="0" rtlCol="0" anchor="ctr"/>
          <a:lstStyle/>
          <a:p>
            <a:pPr indent="0" marL="0">
              <a:buNone/>
            </a:pPr>
            <a:r>
              <a:rPr lang="en-US" sz="4000" b="1" dirty="0">
                <a:solidFill>
                  <a:srgbClr val="1F7A70"/>
                </a:solidFill>
                <a:latin typeface="Cambria" pitchFamily="34" charset="0"/>
                <a:ea typeface="Cambria" pitchFamily="34" charset="-122"/>
                <a:cs typeface="Cambria" pitchFamily="34" charset="-120"/>
              </a:rPr>
              <a:t>58%</a:t>
            </a:r>
            <a:endParaRPr lang="en-US" sz="4000" dirty="0"/>
          </a:p>
        </p:txBody>
      </p:sp>
      <p:sp>
        <p:nvSpPr>
          <p:cNvPr id="8" name="Text 5"/>
          <p:cNvSpPr txBox="1"/>
          <p:nvPr/>
        </p:nvSpPr>
        <p:spPr>
          <a:xfrm>
            <a:off x="2560320" y="5212080"/>
            <a:ext cx="3474720" cy="914400"/>
          </a:xfrm>
          <a:prstGeom prst="rect">
            <a:avLst/>
          </a:prstGeom>
          <a:noFill/>
          <a:ln/>
        </p:spPr>
        <p:txBody>
          <a:bodyPr wrap="square" lIns="0" tIns="0" rIns="0" bIns="0" rtlCol="0" anchor="ctr"/>
          <a:lstStyle/>
          <a:p>
            <a:pPr indent="0" marL="0">
              <a:buNone/>
            </a:pPr>
            <a:r>
              <a:rPr lang="en-US" sz="1500" dirty="0">
                <a:solidFill>
                  <a:srgbClr val="18222B"/>
                </a:solidFill>
                <a:latin typeface="Calibri" pitchFamily="34" charset="0"/>
                <a:ea typeface="Calibri" pitchFamily="34" charset="-122"/>
                <a:cs typeface="Calibri" pitchFamily="34" charset="-120"/>
              </a:rPr>
              <a:t>would return on a specific condition: management or pay</a:t>
            </a:r>
            <a:endParaRPr lang="en-US" sz="1500" dirty="0"/>
          </a:p>
        </p:txBody>
      </p:sp>
      <p:sp>
        <p:nvSpPr>
          <p:cNvPr id="9" name="Text 6"/>
          <p:cNvSpPr txBox="1"/>
          <p:nvPr/>
        </p:nvSpPr>
        <p:spPr>
          <a:xfrm>
            <a:off x="6675120" y="1783080"/>
            <a:ext cx="4965192" cy="365760"/>
          </a:xfrm>
          <a:prstGeom prst="rect">
            <a:avLst/>
          </a:prstGeom>
          <a:noFill/>
          <a:ln/>
        </p:spPr>
        <p:txBody>
          <a:bodyPr wrap="square" lIns="0" tIns="0" rIns="0" bIns="0" rtlCol="0" anchor="t"/>
          <a:lstStyle/>
          <a:p>
            <a:pPr indent="0" marL="0">
              <a:buNone/>
            </a:pPr>
            <a:r>
              <a:rPr lang="en-US" sz="1600" b="1" dirty="0">
                <a:solidFill>
                  <a:srgbClr val="18222B"/>
                </a:solidFill>
                <a:latin typeface="Calibri" pitchFamily="34" charset="0"/>
                <a:ea typeface="Calibri" pitchFamily="34" charset="-122"/>
                <a:cs typeface="Calibri" pitchFamily="34" charset="-120"/>
              </a:rPr>
              <a:t>What are they doing now?</a:t>
            </a:r>
            <a:endParaRPr lang="en-US" sz="1600" dirty="0"/>
          </a:p>
        </p:txBody>
      </p:sp>
      <p:sp>
        <p:nvSpPr>
          <p:cNvPr id="10" name="Text 7"/>
          <p:cNvSpPr txBox="1"/>
          <p:nvPr/>
        </p:nvSpPr>
        <p:spPr>
          <a:xfrm>
            <a:off x="6675120" y="2240280"/>
            <a:ext cx="1280160" cy="548640"/>
          </a:xfrm>
          <a:prstGeom prst="rect">
            <a:avLst/>
          </a:prstGeom>
          <a:noFill/>
          <a:ln/>
        </p:spPr>
        <p:txBody>
          <a:bodyPr wrap="square" lIns="0" tIns="0" rIns="0" bIns="0" rtlCol="0" anchor="ctr"/>
          <a:lstStyle/>
          <a:p>
            <a:pPr indent="0" marL="0">
              <a:buNone/>
            </a:pPr>
            <a:r>
              <a:rPr lang="en-US" sz="2800" b="1" dirty="0">
                <a:solidFill>
                  <a:srgbClr val="18222B"/>
                </a:solidFill>
                <a:latin typeface="Cambria" pitchFamily="34" charset="0"/>
                <a:ea typeface="Cambria" pitchFamily="34" charset="-122"/>
                <a:cs typeface="Cambria" pitchFamily="34" charset="-120"/>
              </a:rPr>
              <a:t>42%</a:t>
            </a:r>
            <a:endParaRPr lang="en-US" sz="2800" dirty="0"/>
          </a:p>
        </p:txBody>
      </p:sp>
      <p:sp>
        <p:nvSpPr>
          <p:cNvPr id="11" name="Text 8"/>
          <p:cNvSpPr txBox="1"/>
          <p:nvPr/>
        </p:nvSpPr>
        <p:spPr>
          <a:xfrm>
            <a:off x="8046720" y="2240280"/>
            <a:ext cx="3593592" cy="548640"/>
          </a:xfrm>
          <a:prstGeom prst="rect">
            <a:avLst/>
          </a:prstGeom>
          <a:noFill/>
          <a:ln/>
        </p:spPr>
        <p:txBody>
          <a:bodyPr wrap="square" lIns="0" tIns="0" rIns="0" bIns="0" rtlCol="0" anchor="ctr"/>
          <a:lstStyle/>
          <a:p>
            <a:pPr indent="0" marL="0">
              <a:buNone/>
            </a:pPr>
            <a:r>
              <a:rPr lang="en-US" sz="1500" b="1" dirty="0">
                <a:solidFill>
                  <a:srgbClr val="18222B"/>
                </a:solidFill>
                <a:latin typeface="Calibri" pitchFamily="34" charset="0"/>
                <a:ea typeface="Calibri" pitchFamily="34" charset="-122"/>
                <a:cs typeface="Calibri" pitchFamily="34" charset="-120"/>
              </a:rPr>
              <a:t>Not working</a:t>
            </a:r>
            <a:endParaRPr lang="en-US" sz="1500" dirty="0"/>
          </a:p>
        </p:txBody>
      </p:sp>
      <p:sp>
        <p:nvSpPr>
          <p:cNvPr id="12" name="Text 9"/>
          <p:cNvSpPr txBox="1"/>
          <p:nvPr/>
        </p:nvSpPr>
        <p:spPr>
          <a:xfrm>
            <a:off x="6675120" y="2898648"/>
            <a:ext cx="1280160" cy="548640"/>
          </a:xfrm>
          <a:prstGeom prst="rect">
            <a:avLst/>
          </a:prstGeom>
          <a:noFill/>
          <a:ln/>
        </p:spPr>
        <p:txBody>
          <a:bodyPr wrap="square" lIns="0" tIns="0" rIns="0" bIns="0" rtlCol="0" anchor="ctr"/>
          <a:lstStyle/>
          <a:p>
            <a:pPr indent="0" marL="0">
              <a:buNone/>
            </a:pPr>
            <a:r>
              <a:rPr lang="en-US" sz="2800" b="1" dirty="0">
                <a:solidFill>
                  <a:srgbClr val="56636E"/>
                </a:solidFill>
                <a:latin typeface="Cambria" pitchFamily="34" charset="0"/>
                <a:ea typeface="Cambria" pitchFamily="34" charset="-122"/>
                <a:cs typeface="Cambria" pitchFamily="34" charset="-120"/>
              </a:rPr>
              <a:t>28%</a:t>
            </a:r>
            <a:endParaRPr lang="en-US" sz="2800" dirty="0"/>
          </a:p>
        </p:txBody>
      </p:sp>
      <p:sp>
        <p:nvSpPr>
          <p:cNvPr id="13" name="Text 10"/>
          <p:cNvSpPr txBox="1"/>
          <p:nvPr/>
        </p:nvSpPr>
        <p:spPr>
          <a:xfrm>
            <a:off x="8046720" y="2898648"/>
            <a:ext cx="3593592" cy="548640"/>
          </a:xfrm>
          <a:prstGeom prst="rect">
            <a:avLst/>
          </a:prstGeom>
          <a:noFill/>
          <a:ln/>
        </p:spPr>
        <p:txBody>
          <a:bodyPr wrap="square" lIns="0" tIns="0" rIns="0" bIns="0" rtlCol="0" anchor="ctr"/>
          <a:lstStyle/>
          <a:p>
            <a:pPr indent="0" marL="0">
              <a:buNone/>
            </a:pPr>
            <a:r>
              <a:rPr lang="en-US" sz="1500" dirty="0">
                <a:solidFill>
                  <a:srgbClr val="18222B"/>
                </a:solidFill>
                <a:latin typeface="Calibri" pitchFamily="34" charset="0"/>
                <a:ea typeface="Calibri" pitchFamily="34" charset="-122"/>
                <a:cs typeface="Calibri" pitchFamily="34" charset="-120"/>
              </a:rPr>
              <a:t>Driving with another fleet</a:t>
            </a:r>
            <a:endParaRPr lang="en-US" sz="1500" dirty="0"/>
          </a:p>
        </p:txBody>
      </p:sp>
      <p:sp>
        <p:nvSpPr>
          <p:cNvPr id="14" name="Text 11"/>
          <p:cNvSpPr txBox="1"/>
          <p:nvPr/>
        </p:nvSpPr>
        <p:spPr>
          <a:xfrm>
            <a:off x="6675120" y="3557016"/>
            <a:ext cx="1280160" cy="548640"/>
          </a:xfrm>
          <a:prstGeom prst="rect">
            <a:avLst/>
          </a:prstGeom>
          <a:noFill/>
          <a:ln/>
        </p:spPr>
        <p:txBody>
          <a:bodyPr wrap="square" lIns="0" tIns="0" rIns="0" bIns="0" rtlCol="0" anchor="ctr"/>
          <a:lstStyle/>
          <a:p>
            <a:pPr indent="0" marL="0">
              <a:buNone/>
            </a:pPr>
            <a:r>
              <a:rPr lang="en-US" sz="2800" b="1" dirty="0">
                <a:solidFill>
                  <a:srgbClr val="56636E"/>
                </a:solidFill>
                <a:latin typeface="Cambria" pitchFamily="34" charset="0"/>
                <a:ea typeface="Cambria" pitchFamily="34" charset="-122"/>
                <a:cs typeface="Cambria" pitchFamily="34" charset="-120"/>
              </a:rPr>
              <a:t>16%</a:t>
            </a:r>
            <a:endParaRPr lang="en-US" sz="2800" dirty="0"/>
          </a:p>
        </p:txBody>
      </p:sp>
      <p:sp>
        <p:nvSpPr>
          <p:cNvPr id="15" name="Text 12"/>
          <p:cNvSpPr txBox="1"/>
          <p:nvPr/>
        </p:nvSpPr>
        <p:spPr>
          <a:xfrm>
            <a:off x="8046720" y="3557016"/>
            <a:ext cx="3593592" cy="548640"/>
          </a:xfrm>
          <a:prstGeom prst="rect">
            <a:avLst/>
          </a:prstGeom>
          <a:noFill/>
          <a:ln/>
        </p:spPr>
        <p:txBody>
          <a:bodyPr wrap="square" lIns="0" tIns="0" rIns="0" bIns="0" rtlCol="0" anchor="ctr"/>
          <a:lstStyle/>
          <a:p>
            <a:pPr indent="0" marL="0">
              <a:buNone/>
            </a:pPr>
            <a:r>
              <a:rPr lang="en-US" sz="1500" dirty="0">
                <a:solidFill>
                  <a:srgbClr val="18222B"/>
                </a:solidFill>
                <a:latin typeface="Calibri" pitchFamily="34" charset="0"/>
                <a:ea typeface="Calibri" pitchFamily="34" charset="-122"/>
                <a:cs typeface="Calibri" pitchFamily="34" charset="-120"/>
              </a:rPr>
              <a:t>Driving own vehicle</a:t>
            </a:r>
            <a:endParaRPr lang="en-US" sz="1500" dirty="0"/>
          </a:p>
        </p:txBody>
      </p:sp>
      <p:sp>
        <p:nvSpPr>
          <p:cNvPr id="16" name="Text 13"/>
          <p:cNvSpPr txBox="1"/>
          <p:nvPr/>
        </p:nvSpPr>
        <p:spPr>
          <a:xfrm>
            <a:off x="6675120" y="4215384"/>
            <a:ext cx="1280160" cy="548640"/>
          </a:xfrm>
          <a:prstGeom prst="rect">
            <a:avLst/>
          </a:prstGeom>
          <a:noFill/>
          <a:ln/>
        </p:spPr>
        <p:txBody>
          <a:bodyPr wrap="square" lIns="0" tIns="0" rIns="0" bIns="0" rtlCol="0" anchor="ctr"/>
          <a:lstStyle/>
          <a:p>
            <a:pPr indent="0" marL="0">
              <a:buNone/>
            </a:pPr>
            <a:r>
              <a:rPr lang="en-US" sz="2800" b="1" dirty="0">
                <a:solidFill>
                  <a:srgbClr val="56636E"/>
                </a:solidFill>
                <a:latin typeface="Cambria" pitchFamily="34" charset="0"/>
                <a:ea typeface="Cambria" pitchFamily="34" charset="-122"/>
                <a:cs typeface="Cambria" pitchFamily="34" charset="-120"/>
              </a:rPr>
              <a:t>14%</a:t>
            </a:r>
            <a:endParaRPr lang="en-US" sz="2800" dirty="0"/>
          </a:p>
        </p:txBody>
      </p:sp>
      <p:sp>
        <p:nvSpPr>
          <p:cNvPr id="17" name="Text 14"/>
          <p:cNvSpPr txBox="1"/>
          <p:nvPr/>
        </p:nvSpPr>
        <p:spPr>
          <a:xfrm>
            <a:off x="8046720" y="4215384"/>
            <a:ext cx="3593592" cy="548640"/>
          </a:xfrm>
          <a:prstGeom prst="rect">
            <a:avLst/>
          </a:prstGeom>
          <a:noFill/>
          <a:ln/>
        </p:spPr>
        <p:txBody>
          <a:bodyPr wrap="square" lIns="0" tIns="0" rIns="0" bIns="0" rtlCol="0" anchor="ctr"/>
          <a:lstStyle/>
          <a:p>
            <a:pPr indent="0" marL="0">
              <a:buNone/>
            </a:pPr>
            <a:r>
              <a:rPr lang="en-US" sz="1500" dirty="0">
                <a:solidFill>
                  <a:srgbClr val="18222B"/>
                </a:solidFill>
                <a:latin typeface="Calibri" pitchFamily="34" charset="0"/>
                <a:ea typeface="Calibri" pitchFamily="34" charset="-122"/>
                <a:cs typeface="Calibri" pitchFamily="34" charset="-120"/>
              </a:rPr>
              <a:t>Left driving</a:t>
            </a:r>
            <a:endParaRPr lang="en-US" sz="1500" dirty="0"/>
          </a:p>
        </p:txBody>
      </p:sp>
      <p:sp>
        <p:nvSpPr>
          <p:cNvPr id="18" name="Shape 15"/>
          <p:cNvSpPr/>
          <p:nvPr/>
        </p:nvSpPr>
        <p:spPr>
          <a:xfrm>
            <a:off x="6675120" y="5120640"/>
            <a:ext cx="4965192" cy="1097280"/>
          </a:xfrm>
          <a:prstGeom prst="roundRect">
            <a:avLst>
              <a:gd name="adj" fmla="val 6667"/>
            </a:avLst>
          </a:prstGeom>
          <a:solidFill>
            <a:srgbClr val="F1F3F5"/>
          </a:solidFill>
          <a:ln w="12700">
            <a:solidFill>
              <a:srgbClr val="F1F3F5"/>
            </a:solidFill>
            <a:prstDash val="solid"/>
          </a:ln>
        </p:spPr>
      </p:sp>
      <p:sp>
        <p:nvSpPr>
          <p:cNvPr id="19" name="Text 16"/>
          <p:cNvSpPr txBox="1"/>
          <p:nvPr/>
        </p:nvSpPr>
        <p:spPr>
          <a:xfrm>
            <a:off x="6949440" y="5212080"/>
            <a:ext cx="4416552" cy="914400"/>
          </a:xfrm>
          <a:prstGeom prst="rect">
            <a:avLst/>
          </a:prstGeom>
          <a:noFill/>
          <a:ln/>
        </p:spPr>
        <p:txBody>
          <a:bodyPr wrap="square" lIns="0" tIns="0" rIns="0" bIns="0" rtlCol="0" anchor="ctr"/>
          <a:lstStyle/>
          <a:p>
            <a:pPr indent="0" marL="0">
              <a:buNone/>
            </a:pPr>
            <a:r>
              <a:rPr lang="en-US" sz="1400" dirty="0">
                <a:solidFill>
                  <a:srgbClr val="56636E"/>
                </a:solidFill>
                <a:latin typeface="Calibri" pitchFamily="34" charset="0"/>
                <a:ea typeface="Calibri" pitchFamily="34" charset="-122"/>
                <a:cs typeface="Calibri" pitchFamily="34" charset="-120"/>
              </a:rPr>
              <a:t>Named competitors: </a:t>
            </a:r>
            <a:pPr indent="0" marL="0">
              <a:buNone/>
            </a:pPr>
            <a:r>
              <a:rPr lang="en-US" sz="1800" b="1" dirty="0">
                <a:solidFill>
                  <a:srgbClr val="18222B"/>
                </a:solidFill>
                <a:latin typeface="Calibri" pitchFamily="34" charset="0"/>
                <a:ea typeface="Calibri" pitchFamily="34" charset="-122"/>
                <a:cs typeface="Calibri" pitchFamily="34" charset="-120"/>
              </a:rPr>
              <a:t>Carrum and Move</a:t>
            </a:r>
            <a:endParaRPr lang="en-US" sz="1400" dirty="0"/>
          </a:p>
          <a:p>
            <a:pPr indent="0" marL="0">
              <a:buNone/>
            </a:pPr>
            <a:r>
              <a:rPr lang="en-US" sz="1300" dirty="0">
                <a:solidFill>
                  <a:srgbClr val="56636E"/>
                </a:solidFill>
                <a:latin typeface="Calibri" pitchFamily="34" charset="0"/>
                <a:ea typeface="Calibri" pitchFamily="34" charset="-122"/>
                <a:cs typeface="Calibri" pitchFamily="34" charset="-120"/>
              </a:rPr>
              <a:t>34% say their current or recent fleet is better than Everest</a:t>
            </a:r>
            <a:endParaRPr lang="en-US" sz="1400" dirty="0"/>
          </a:p>
        </p:txBody>
      </p:sp>
      <p:sp>
        <p:nvSpPr>
          <p:cNvPr id="20" name="Text 17"/>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A959E"/>
                </a:solidFill>
                <a:latin typeface="Calibri" pitchFamily="34" charset="0"/>
                <a:ea typeface="Calibri" pitchFamily="34" charset="-122"/>
                <a:cs typeface="Calibri" pitchFamily="34" charset="-120"/>
              </a:rPr>
              <a:t>Driver Partner Survey  ·  Baseline Wave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8222B"/>
        </a:solidFill>
      </p:bgPr>
    </p:bg>
    <p:spTree>
      <p:nvGrpSpPr>
        <p:cNvPr id="1" name=""/>
        <p:cNvGrpSpPr/>
        <p:nvPr/>
      </p:nvGrpSpPr>
      <p:grpSpPr>
        <a:xfrm>
          <a:off x="0" y="0"/>
          <a:ext cx="0" cy="0"/>
          <a:chOff x="0" y="0"/>
          <a:chExt cx="0" cy="0"/>
        </a:xfrm>
      </p:grpSpPr>
      <p:sp>
        <p:nvSpPr>
          <p:cNvPr id="2" name="Text 0"/>
          <p:cNvSpPr txBox="1"/>
          <p:nvPr/>
        </p:nvSpPr>
        <p:spPr>
          <a:xfrm>
            <a:off x="548640" y="54864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This is the baseline</a:t>
            </a:r>
            <a:endParaRPr lang="en-US" sz="4000" dirty="0"/>
          </a:p>
        </p:txBody>
      </p:sp>
      <p:sp>
        <p:nvSpPr>
          <p:cNvPr id="3" name="Text 1"/>
          <p:cNvSpPr txBox="1"/>
          <p:nvPr/>
        </p:nvSpPr>
        <p:spPr>
          <a:xfrm>
            <a:off x="548640" y="1417320"/>
            <a:ext cx="10515600" cy="457200"/>
          </a:xfrm>
          <a:prstGeom prst="rect">
            <a:avLst/>
          </a:prstGeom>
          <a:noFill/>
          <a:ln/>
        </p:spPr>
        <p:txBody>
          <a:bodyPr wrap="square" lIns="0" tIns="0" rIns="0" bIns="0" rtlCol="0" anchor="t"/>
          <a:lstStyle/>
          <a:p>
            <a:pPr indent="0" marL="0">
              <a:buNone/>
            </a:pPr>
            <a:r>
              <a:rPr lang="en-US" sz="1700" dirty="0">
                <a:solidFill>
                  <a:srgbClr val="C3CDD4"/>
                </a:solidFill>
                <a:latin typeface="Calibri" pitchFamily="34" charset="0"/>
                <a:ea typeface="Calibri" pitchFamily="34" charset="-122"/>
                <a:cs typeface="Calibri" pitchFamily="34" charset="-120"/>
              </a:rPr>
              <a:t>The same survey runs again as an endline once the brand strategy is live. The difference is the lift.</a:t>
            </a:r>
            <a:endParaRPr lang="en-US" sz="1700" dirty="0"/>
          </a:p>
        </p:txBody>
      </p:sp>
      <p:sp>
        <p:nvSpPr>
          <p:cNvPr id="4" name="Shape 2"/>
          <p:cNvSpPr/>
          <p:nvPr/>
        </p:nvSpPr>
        <p:spPr>
          <a:xfrm>
            <a:off x="548640" y="2331720"/>
            <a:ext cx="2606040" cy="1463040"/>
          </a:xfrm>
          <a:prstGeom prst="roundRect">
            <a:avLst>
              <a:gd name="adj" fmla="val 5000"/>
            </a:avLst>
          </a:prstGeom>
          <a:solidFill>
            <a:srgbClr val="D9432B"/>
          </a:solidFill>
          <a:ln w="12700">
            <a:solidFill>
              <a:srgbClr val="D9432B"/>
            </a:solidFill>
            <a:prstDash val="solid"/>
          </a:ln>
        </p:spPr>
      </p:sp>
      <p:sp>
        <p:nvSpPr>
          <p:cNvPr id="5" name="Text 3"/>
          <p:cNvSpPr txBox="1"/>
          <p:nvPr/>
        </p:nvSpPr>
        <p:spPr>
          <a:xfrm>
            <a:off x="777240" y="2514600"/>
            <a:ext cx="2148840" cy="274320"/>
          </a:xfrm>
          <a:prstGeom prst="rect">
            <a:avLst/>
          </a:prstGeom>
          <a:noFill/>
          <a:ln/>
        </p:spPr>
        <p:txBody>
          <a:bodyPr wrap="square" lIns="0" tIns="0" rIns="0" bIns="0" rtlCol="0" anchor="t"/>
          <a:lstStyle/>
          <a:p>
            <a:pPr indent="0" marL="0">
              <a:buNone/>
            </a:pPr>
            <a:r>
              <a:rPr lang="en-US" sz="1100" b="1" spc="200" kern="0" dirty="0">
                <a:solidFill>
                  <a:srgbClr val="FFE3DD"/>
                </a:solidFill>
                <a:latin typeface="Calibri" pitchFamily="34" charset="0"/>
                <a:ea typeface="Calibri" pitchFamily="34" charset="-122"/>
                <a:cs typeface="Calibri" pitchFamily="34" charset="-120"/>
              </a:rPr>
              <a:t>NOW</a:t>
            </a:r>
            <a:endParaRPr lang="en-US" sz="1100" dirty="0"/>
          </a:p>
        </p:txBody>
      </p:sp>
      <p:sp>
        <p:nvSpPr>
          <p:cNvPr id="6" name="Text 4"/>
          <p:cNvSpPr txBox="1"/>
          <p:nvPr/>
        </p:nvSpPr>
        <p:spPr>
          <a:xfrm>
            <a:off x="777240" y="2807208"/>
            <a:ext cx="2148840" cy="4114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Baseline wave</a:t>
            </a:r>
            <a:endParaRPr lang="en-US" sz="1800" dirty="0"/>
          </a:p>
        </p:txBody>
      </p:sp>
      <p:sp>
        <p:nvSpPr>
          <p:cNvPr id="7" name="Text 5"/>
          <p:cNvSpPr txBox="1"/>
          <p:nvPr/>
        </p:nvSpPr>
        <p:spPr>
          <a:xfrm>
            <a:off x="777240" y="3246120"/>
            <a:ext cx="2148840" cy="411480"/>
          </a:xfrm>
          <a:prstGeom prst="rect">
            <a:avLst/>
          </a:prstGeom>
          <a:noFill/>
          <a:ln/>
        </p:spPr>
        <p:txBody>
          <a:bodyPr wrap="square" lIns="0" tIns="0" rIns="0" bIns="0" rtlCol="0" anchor="t"/>
          <a:lstStyle/>
          <a:p>
            <a:pPr indent="0" marL="0">
              <a:buNone/>
            </a:pPr>
            <a:r>
              <a:rPr lang="en-US" sz="1300" dirty="0">
                <a:solidFill>
                  <a:srgbClr val="FFE3DD"/>
                </a:solidFill>
                <a:latin typeface="Calibri" pitchFamily="34" charset="0"/>
                <a:ea typeface="Calibri" pitchFamily="34" charset="-122"/>
                <a:cs typeface="Calibri" pitchFamily="34" charset="-120"/>
              </a:rPr>
              <a:t>873 drivers, 7 cities</a:t>
            </a:r>
            <a:endParaRPr lang="en-US" sz="1300" dirty="0"/>
          </a:p>
        </p:txBody>
      </p:sp>
      <p:sp>
        <p:nvSpPr>
          <p:cNvPr id="8" name="Shape 6"/>
          <p:cNvSpPr/>
          <p:nvPr/>
        </p:nvSpPr>
        <p:spPr>
          <a:xfrm>
            <a:off x="3319272" y="2331720"/>
            <a:ext cx="2606040" cy="1463040"/>
          </a:xfrm>
          <a:prstGeom prst="roundRect">
            <a:avLst>
              <a:gd name="adj" fmla="val 5000"/>
            </a:avLst>
          </a:prstGeom>
          <a:solidFill>
            <a:srgbClr val="26323D"/>
          </a:solidFill>
          <a:ln w="12700">
            <a:solidFill>
              <a:srgbClr val="26323D"/>
            </a:solidFill>
            <a:prstDash val="solid"/>
          </a:ln>
        </p:spPr>
      </p:sp>
      <p:sp>
        <p:nvSpPr>
          <p:cNvPr id="9" name="Text 7"/>
          <p:cNvSpPr txBox="1"/>
          <p:nvPr/>
        </p:nvSpPr>
        <p:spPr>
          <a:xfrm>
            <a:off x="3547872" y="2514600"/>
            <a:ext cx="2148840" cy="274320"/>
          </a:xfrm>
          <a:prstGeom prst="rect">
            <a:avLst/>
          </a:prstGeom>
          <a:noFill/>
          <a:ln/>
        </p:spPr>
        <p:txBody>
          <a:bodyPr wrap="square" lIns="0" tIns="0" rIns="0" bIns="0" rtlCol="0" anchor="t"/>
          <a:lstStyle/>
          <a:p>
            <a:pPr indent="0" marL="0">
              <a:buNone/>
            </a:pPr>
            <a:r>
              <a:rPr lang="en-US" sz="1100" b="1" spc="200" kern="0" dirty="0">
                <a:solidFill>
                  <a:srgbClr val="9AA7B1"/>
                </a:solidFill>
                <a:latin typeface="Calibri" pitchFamily="34" charset="0"/>
                <a:ea typeface="Calibri" pitchFamily="34" charset="-122"/>
                <a:cs typeface="Calibri" pitchFamily="34" charset="-120"/>
              </a:rPr>
              <a:t>NEXT</a:t>
            </a:r>
            <a:endParaRPr lang="en-US" sz="1100" dirty="0"/>
          </a:p>
        </p:txBody>
      </p:sp>
      <p:sp>
        <p:nvSpPr>
          <p:cNvPr id="10" name="Text 8"/>
          <p:cNvSpPr txBox="1"/>
          <p:nvPr/>
        </p:nvSpPr>
        <p:spPr>
          <a:xfrm>
            <a:off x="3547872" y="2807208"/>
            <a:ext cx="2148840" cy="4114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Brand strategy goes live</a:t>
            </a:r>
            <a:endParaRPr lang="en-US" sz="1800" dirty="0"/>
          </a:p>
        </p:txBody>
      </p:sp>
      <p:sp>
        <p:nvSpPr>
          <p:cNvPr id="11" name="Shape 9"/>
          <p:cNvSpPr/>
          <p:nvPr/>
        </p:nvSpPr>
        <p:spPr>
          <a:xfrm>
            <a:off x="6089904" y="2331720"/>
            <a:ext cx="2606040" cy="1463040"/>
          </a:xfrm>
          <a:prstGeom prst="roundRect">
            <a:avLst>
              <a:gd name="adj" fmla="val 5000"/>
            </a:avLst>
          </a:prstGeom>
          <a:solidFill>
            <a:srgbClr val="26323D"/>
          </a:solidFill>
          <a:ln w="12700">
            <a:solidFill>
              <a:srgbClr val="26323D"/>
            </a:solidFill>
            <a:prstDash val="solid"/>
          </a:ln>
        </p:spPr>
      </p:sp>
      <p:sp>
        <p:nvSpPr>
          <p:cNvPr id="12" name="Text 10"/>
          <p:cNvSpPr txBox="1"/>
          <p:nvPr/>
        </p:nvSpPr>
        <p:spPr>
          <a:xfrm>
            <a:off x="6318504" y="2514600"/>
            <a:ext cx="2148840" cy="274320"/>
          </a:xfrm>
          <a:prstGeom prst="rect">
            <a:avLst/>
          </a:prstGeom>
          <a:noFill/>
          <a:ln/>
        </p:spPr>
        <p:txBody>
          <a:bodyPr wrap="square" lIns="0" tIns="0" rIns="0" bIns="0" rtlCol="0" anchor="t"/>
          <a:lstStyle/>
          <a:p>
            <a:pPr indent="0" marL="0">
              <a:buNone/>
            </a:pPr>
            <a:r>
              <a:rPr lang="en-US" sz="1100" b="1" spc="200" kern="0" dirty="0">
                <a:solidFill>
                  <a:srgbClr val="9AA7B1"/>
                </a:solidFill>
                <a:latin typeface="Calibri" pitchFamily="34" charset="0"/>
                <a:ea typeface="Calibri" pitchFamily="34" charset="-122"/>
                <a:cs typeface="Calibri" pitchFamily="34" charset="-120"/>
              </a:rPr>
              <a:t>AFTER ROLLOUT</a:t>
            </a:r>
            <a:endParaRPr lang="en-US" sz="1100" dirty="0"/>
          </a:p>
        </p:txBody>
      </p:sp>
      <p:sp>
        <p:nvSpPr>
          <p:cNvPr id="13" name="Text 11"/>
          <p:cNvSpPr txBox="1"/>
          <p:nvPr/>
        </p:nvSpPr>
        <p:spPr>
          <a:xfrm>
            <a:off x="6318504" y="2807208"/>
            <a:ext cx="2148840" cy="4114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Endline wave</a:t>
            </a:r>
            <a:endParaRPr lang="en-US" sz="1800" dirty="0"/>
          </a:p>
        </p:txBody>
      </p:sp>
      <p:sp>
        <p:nvSpPr>
          <p:cNvPr id="14" name="Text 12"/>
          <p:cNvSpPr txBox="1"/>
          <p:nvPr/>
        </p:nvSpPr>
        <p:spPr>
          <a:xfrm>
            <a:off x="6318504" y="3246120"/>
            <a:ext cx="2148840" cy="411480"/>
          </a:xfrm>
          <a:prstGeom prst="rect">
            <a:avLst/>
          </a:prstGeom>
          <a:noFill/>
          <a:ln/>
        </p:spPr>
        <p:txBody>
          <a:bodyPr wrap="square" lIns="0" tIns="0" rIns="0" bIns="0" rtlCol="0" anchor="t"/>
          <a:lstStyle/>
          <a:p>
            <a:pPr indent="0" marL="0">
              <a:buNone/>
            </a:pPr>
            <a:r>
              <a:rPr lang="en-US" sz="1300" dirty="0">
                <a:solidFill>
                  <a:srgbClr val="C3CDD4"/>
                </a:solidFill>
                <a:latin typeface="Calibri" pitchFamily="34" charset="0"/>
                <a:ea typeface="Calibri" pitchFamily="34" charset="-122"/>
                <a:cs typeface="Calibri" pitchFamily="34" charset="-120"/>
              </a:rPr>
              <a:t>Same instrument</a:t>
            </a:r>
            <a:endParaRPr lang="en-US" sz="1300" dirty="0"/>
          </a:p>
        </p:txBody>
      </p:sp>
      <p:sp>
        <p:nvSpPr>
          <p:cNvPr id="15" name="Shape 13"/>
          <p:cNvSpPr/>
          <p:nvPr/>
        </p:nvSpPr>
        <p:spPr>
          <a:xfrm>
            <a:off x="8860536" y="2331720"/>
            <a:ext cx="2606040" cy="1463040"/>
          </a:xfrm>
          <a:prstGeom prst="roundRect">
            <a:avLst>
              <a:gd name="adj" fmla="val 5000"/>
            </a:avLst>
          </a:prstGeom>
          <a:solidFill>
            <a:srgbClr val="26323D"/>
          </a:solidFill>
          <a:ln w="12700">
            <a:solidFill>
              <a:srgbClr val="26323D"/>
            </a:solidFill>
            <a:prstDash val="solid"/>
          </a:ln>
        </p:spPr>
      </p:sp>
      <p:sp>
        <p:nvSpPr>
          <p:cNvPr id="16" name="Text 14"/>
          <p:cNvSpPr txBox="1"/>
          <p:nvPr/>
        </p:nvSpPr>
        <p:spPr>
          <a:xfrm>
            <a:off x="9089136" y="2514600"/>
            <a:ext cx="2148840" cy="274320"/>
          </a:xfrm>
          <a:prstGeom prst="rect">
            <a:avLst/>
          </a:prstGeom>
          <a:noFill/>
          <a:ln/>
        </p:spPr>
        <p:txBody>
          <a:bodyPr wrap="square" lIns="0" tIns="0" rIns="0" bIns="0" rtlCol="0" anchor="t"/>
          <a:lstStyle/>
          <a:p>
            <a:pPr indent="0" marL="0">
              <a:buNone/>
            </a:pPr>
            <a:r>
              <a:rPr lang="en-US" sz="1100" b="1" spc="200" kern="0" dirty="0">
                <a:solidFill>
                  <a:srgbClr val="9AA7B1"/>
                </a:solidFill>
                <a:latin typeface="Calibri" pitchFamily="34" charset="0"/>
                <a:ea typeface="Calibri" pitchFamily="34" charset="-122"/>
                <a:cs typeface="Calibri" pitchFamily="34" charset="-120"/>
              </a:rPr>
              <a:t>THEN</a:t>
            </a:r>
            <a:endParaRPr lang="en-US" sz="1100" dirty="0"/>
          </a:p>
        </p:txBody>
      </p:sp>
      <p:sp>
        <p:nvSpPr>
          <p:cNvPr id="17" name="Text 15"/>
          <p:cNvSpPr txBox="1"/>
          <p:nvPr/>
        </p:nvSpPr>
        <p:spPr>
          <a:xfrm>
            <a:off x="9089136" y="2807208"/>
            <a:ext cx="2148840" cy="41148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Compare</a:t>
            </a:r>
            <a:endParaRPr lang="en-US" sz="1800" dirty="0"/>
          </a:p>
        </p:txBody>
      </p:sp>
      <p:sp>
        <p:nvSpPr>
          <p:cNvPr id="18" name="Text 16"/>
          <p:cNvSpPr txBox="1"/>
          <p:nvPr/>
        </p:nvSpPr>
        <p:spPr>
          <a:xfrm>
            <a:off x="9089136" y="3246120"/>
            <a:ext cx="2148840" cy="411480"/>
          </a:xfrm>
          <a:prstGeom prst="rect">
            <a:avLst/>
          </a:prstGeom>
          <a:noFill/>
          <a:ln/>
        </p:spPr>
        <p:txBody>
          <a:bodyPr wrap="square" lIns="0" tIns="0" rIns="0" bIns="0" rtlCol="0" anchor="t"/>
          <a:lstStyle/>
          <a:p>
            <a:pPr indent="0" marL="0">
              <a:buNone/>
            </a:pPr>
            <a:r>
              <a:rPr lang="en-US" sz="1300" dirty="0">
                <a:solidFill>
                  <a:srgbClr val="C3CDD4"/>
                </a:solidFill>
                <a:latin typeface="Calibri" pitchFamily="34" charset="0"/>
                <a:ea typeface="Calibri" pitchFamily="34" charset="-122"/>
                <a:cs typeface="Calibri" pitchFamily="34" charset="-120"/>
              </a:rPr>
              <a:t>Lift in sentiment and brand metrics</a:t>
            </a:r>
            <a:endParaRPr lang="en-US" sz="1300" dirty="0"/>
          </a:p>
        </p:txBody>
      </p:sp>
      <p:sp>
        <p:nvSpPr>
          <p:cNvPr id="19" name="Text 17"/>
          <p:cNvSpPr txBox="1"/>
          <p:nvPr/>
        </p:nvSpPr>
        <p:spPr>
          <a:xfrm>
            <a:off x="548640" y="4206240"/>
            <a:ext cx="5486400" cy="274320"/>
          </a:xfrm>
          <a:prstGeom prst="rect">
            <a:avLst/>
          </a:prstGeom>
          <a:noFill/>
          <a:ln/>
        </p:spPr>
        <p:txBody>
          <a:bodyPr wrap="square" lIns="0" tIns="0" rIns="0" bIns="0" rtlCol="0" anchor="t"/>
          <a:lstStyle/>
          <a:p>
            <a:pPr indent="0" marL="0">
              <a:buNone/>
            </a:pPr>
            <a:r>
              <a:rPr lang="en-US" sz="1100" b="1" spc="200" kern="0" dirty="0">
                <a:solidFill>
                  <a:srgbClr val="9AA7B1"/>
                </a:solidFill>
                <a:latin typeface="Calibri" pitchFamily="34" charset="0"/>
                <a:ea typeface="Calibri" pitchFamily="34" charset="-122"/>
                <a:cs typeface="Calibri" pitchFamily="34" charset="-120"/>
              </a:rPr>
              <a:t>BASELINE READINGS</a:t>
            </a:r>
            <a:endParaRPr lang="en-US" sz="1100" dirty="0"/>
          </a:p>
        </p:txBody>
      </p:sp>
      <p:sp>
        <p:nvSpPr>
          <p:cNvPr id="20" name="Text 18"/>
          <p:cNvSpPr txBox="1"/>
          <p:nvPr/>
        </p:nvSpPr>
        <p:spPr>
          <a:xfrm>
            <a:off x="548640" y="4526280"/>
            <a:ext cx="2606040" cy="7315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-56</a:t>
            </a:r>
            <a:endParaRPr lang="en-US" sz="3800" dirty="0"/>
          </a:p>
        </p:txBody>
      </p:sp>
      <p:sp>
        <p:nvSpPr>
          <p:cNvPr id="21" name="Text 19"/>
          <p:cNvSpPr txBox="1"/>
          <p:nvPr/>
        </p:nvSpPr>
        <p:spPr>
          <a:xfrm>
            <a:off x="548640" y="5257800"/>
            <a:ext cx="2423160" cy="640080"/>
          </a:xfrm>
          <a:prstGeom prst="rect">
            <a:avLst/>
          </a:prstGeom>
          <a:noFill/>
          <a:ln/>
        </p:spPr>
        <p:txBody>
          <a:bodyPr wrap="square" lIns="0" tIns="0" rIns="0" bIns="0" rtlCol="0" anchor="t"/>
          <a:lstStyle/>
          <a:p>
            <a:pPr indent="0" marL="0">
              <a:buNone/>
            </a:pPr>
            <a:r>
              <a:rPr lang="en-US" sz="1300" dirty="0">
                <a:solidFill>
                  <a:srgbClr val="C3CDD4"/>
                </a:solidFill>
                <a:latin typeface="Calibri" pitchFamily="34" charset="0"/>
                <a:ea typeface="Calibri" pitchFamily="34" charset="-122"/>
                <a:cs typeface="Calibri" pitchFamily="34" charset="-120"/>
              </a:rPr>
              <a:t>NPS</a:t>
            </a:r>
            <a:endParaRPr lang="en-US" sz="1300" dirty="0"/>
          </a:p>
        </p:txBody>
      </p:sp>
      <p:sp>
        <p:nvSpPr>
          <p:cNvPr id="22" name="Text 20"/>
          <p:cNvSpPr txBox="1"/>
          <p:nvPr/>
        </p:nvSpPr>
        <p:spPr>
          <a:xfrm>
            <a:off x="3319272" y="4526280"/>
            <a:ext cx="2606040" cy="7315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26%</a:t>
            </a:r>
            <a:endParaRPr lang="en-US" sz="3800" dirty="0"/>
          </a:p>
        </p:txBody>
      </p:sp>
      <p:sp>
        <p:nvSpPr>
          <p:cNvPr id="23" name="Text 21"/>
          <p:cNvSpPr txBox="1"/>
          <p:nvPr/>
        </p:nvSpPr>
        <p:spPr>
          <a:xfrm>
            <a:off x="3319272" y="5257800"/>
            <a:ext cx="2423160" cy="640080"/>
          </a:xfrm>
          <a:prstGeom prst="rect">
            <a:avLst/>
          </a:prstGeom>
          <a:noFill/>
          <a:ln/>
        </p:spPr>
        <p:txBody>
          <a:bodyPr wrap="square" lIns="0" tIns="0" rIns="0" bIns="0" rtlCol="0" anchor="t"/>
          <a:lstStyle/>
          <a:p>
            <a:pPr indent="0" marL="0">
              <a:buNone/>
            </a:pPr>
            <a:r>
              <a:rPr lang="en-US" sz="1300" dirty="0">
                <a:solidFill>
                  <a:srgbClr val="C3CDD4"/>
                </a:solidFill>
                <a:latin typeface="Calibri" pitchFamily="34" charset="0"/>
                <a:ea typeface="Calibri" pitchFamily="34" charset="-122"/>
                <a:cs typeface="Calibri" pitchFamily="34" charset="-120"/>
              </a:rPr>
              <a:t>Satisfied</a:t>
            </a:r>
            <a:endParaRPr lang="en-US" sz="1300" dirty="0"/>
          </a:p>
        </p:txBody>
      </p:sp>
      <p:sp>
        <p:nvSpPr>
          <p:cNvPr id="24" name="Text 22"/>
          <p:cNvSpPr txBox="1"/>
          <p:nvPr/>
        </p:nvSpPr>
        <p:spPr>
          <a:xfrm>
            <a:off x="6089904" y="4526280"/>
            <a:ext cx="2606040" cy="7315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50%</a:t>
            </a:r>
            <a:endParaRPr lang="en-US" sz="3800" dirty="0"/>
          </a:p>
        </p:txBody>
      </p:sp>
      <p:sp>
        <p:nvSpPr>
          <p:cNvPr id="25" name="Text 23"/>
          <p:cNvSpPr txBox="1"/>
          <p:nvPr/>
        </p:nvSpPr>
        <p:spPr>
          <a:xfrm>
            <a:off x="6089904" y="5257800"/>
            <a:ext cx="2423160" cy="640080"/>
          </a:xfrm>
          <a:prstGeom prst="rect">
            <a:avLst/>
          </a:prstGeom>
          <a:noFill/>
          <a:ln/>
        </p:spPr>
        <p:txBody>
          <a:bodyPr wrap="square" lIns="0" tIns="0" rIns="0" bIns="0" rtlCol="0" anchor="t"/>
          <a:lstStyle/>
          <a:p>
            <a:pPr indent="0" marL="0">
              <a:buNone/>
            </a:pPr>
            <a:r>
              <a:rPr lang="en-US" sz="1300" dirty="0">
                <a:solidFill>
                  <a:srgbClr val="C3CDD4"/>
                </a:solidFill>
                <a:latin typeface="Calibri" pitchFamily="34" charset="0"/>
                <a:ea typeface="Calibri" pitchFamily="34" charset="-122"/>
                <a:cs typeface="Calibri" pitchFamily="34" charset="-120"/>
              </a:rPr>
              <a:t>Active drivers who first think “looks out only for itself”</a:t>
            </a:r>
            <a:endParaRPr lang="en-US" sz="1300" dirty="0"/>
          </a:p>
        </p:txBody>
      </p:sp>
      <p:sp>
        <p:nvSpPr>
          <p:cNvPr id="26" name="Text 24"/>
          <p:cNvSpPr txBox="1"/>
          <p:nvPr/>
        </p:nvSpPr>
        <p:spPr>
          <a:xfrm>
            <a:off x="8860536" y="4526280"/>
            <a:ext cx="2606040" cy="7315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38%</a:t>
            </a:r>
            <a:endParaRPr lang="en-US" sz="3800" dirty="0"/>
          </a:p>
        </p:txBody>
      </p:sp>
      <p:sp>
        <p:nvSpPr>
          <p:cNvPr id="27" name="Text 25"/>
          <p:cNvSpPr txBox="1"/>
          <p:nvPr/>
        </p:nvSpPr>
        <p:spPr>
          <a:xfrm>
            <a:off x="8860536" y="5257800"/>
            <a:ext cx="2423160" cy="640080"/>
          </a:xfrm>
          <a:prstGeom prst="rect">
            <a:avLst/>
          </a:prstGeom>
          <a:noFill/>
          <a:ln/>
        </p:spPr>
        <p:txBody>
          <a:bodyPr wrap="square" lIns="0" tIns="0" rIns="0" bIns="0" rtlCol="0" anchor="t"/>
          <a:lstStyle/>
          <a:p>
            <a:pPr indent="0" marL="0">
              <a:buNone/>
            </a:pPr>
            <a:r>
              <a:rPr lang="en-US" sz="1300" dirty="0">
                <a:solidFill>
                  <a:srgbClr val="C3CDD4"/>
                </a:solidFill>
                <a:latin typeface="Calibri" pitchFamily="34" charset="0"/>
                <a:ea typeface="Calibri" pitchFamily="34" charset="-122"/>
                <a:cs typeface="Calibri" pitchFamily="34" charset="-120"/>
              </a:rPr>
              <a:t>Active drivers who say Everest has become worse</a:t>
            </a:r>
            <a:endParaRPr lang="en-US" sz="1300" dirty="0"/>
          </a:p>
        </p:txBody>
      </p:sp>
      <p:sp>
        <p:nvSpPr>
          <p:cNvPr id="28" name="Text 26"/>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9AA7B1"/>
                </a:solidFill>
                <a:latin typeface="Calibri" pitchFamily="34" charset="0"/>
                <a:ea typeface="Calibri" pitchFamily="34" charset="-122"/>
                <a:cs typeface="Calibri" pitchFamily="34" charset="-120"/>
              </a:rPr>
              <a:t>Driver Partner Survey  ·  Baseline Wave  ·  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Everest Fleet Driver Survey: Baseline Wave</dc:title>
  <dc:subject>PptxGenJS Presentation</dc:subject>
  <dc:creator>PptxGenJS</dc:creator>
  <cp:lastModifiedBy>PptxGenJS</cp:lastModifiedBy>
  <cp:revision>1</cp:revision>
  <dcterms:created xsi:type="dcterms:W3CDTF">2026-09-24T06:05:14Z</dcterms:created>
  <dcterms:modified xsi:type="dcterms:W3CDTF">2026-09-24T06:05:14Z</dcterms:modified>
</cp:coreProperties>
</file>