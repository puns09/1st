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or management behaviour and pay dissatisfaction are tied as the top reason for leaving at 21% each. Staff leavers are the more bitter group: 2.3 average Recommend versus 2.9 for pay leavers. Drivers who left for personal reasons (6.1) or a better opportunity (4.7) stay far more positive.
Kolkata is the one city where vehicle or garage issues are the top exit reason (33%); Pune leads on pay (40%); Chennai on staff (30%).
Exit sentiment: the real split is frustrated-and-relieved (1.8 and 1.9 on Recommend) versus regretful-and-neutral (5.8 and 5.9). The 40% still frustrated does not concentrate in any one city.
47% of Inactive Detractors say they're still frustrated about how their exit happened: the manner of leaving carries as much weight as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and pay drive exits equally. Staff exits hurt more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drivers (278)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reason for leaving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or management behaviour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209190"/>
            <a:ext cx="2194560" cy="281635"/>
          </a:xfrm>
          <a:prstGeom prst="rect">
            <a:avLst/>
          </a:prstGeom>
          <a:solidFill>
            <a:srgbClr val="D9432B"/>
          </a:solidFill>
          <a:ln w="12700">
            <a:solidFill>
              <a:srgbClr val="D94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50992" y="21488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/ earnings dissatisfaction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712110"/>
            <a:ext cx="2194560" cy="281635"/>
          </a:xfrm>
          <a:prstGeom prst="rect">
            <a:avLst/>
          </a:prstGeom>
          <a:solidFill>
            <a:srgbClr val="5E7481"/>
          </a:solidFill>
          <a:ln w="12700">
            <a:solidFill>
              <a:srgbClr val="5E74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50992" y="2651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didn't match reality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215030"/>
            <a:ext cx="1776549" cy="281635"/>
          </a:xfrm>
          <a:prstGeom prst="rect">
            <a:avLst/>
          </a:prstGeom>
          <a:solidFill>
            <a:srgbClr val="5E7481"/>
          </a:solidFill>
          <a:ln w="12700">
            <a:solidFill>
              <a:srgbClr val="5E74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2981" y="3154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reasons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3717950"/>
            <a:ext cx="1045029" cy="281635"/>
          </a:xfrm>
          <a:prstGeom prst="rect">
            <a:avLst/>
          </a:prstGeom>
          <a:solidFill>
            <a:srgbClr val="B7C0C7"/>
          </a:solidFill>
          <a:ln w="12700">
            <a:solidFill>
              <a:srgbClr val="B7C0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1461" y="36576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or garage issues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4220870"/>
            <a:ext cx="836023" cy="281635"/>
          </a:xfrm>
          <a:prstGeom prst="rect">
            <a:avLst/>
          </a:prstGeom>
          <a:solidFill>
            <a:srgbClr val="B7C0C7"/>
          </a:solidFill>
          <a:ln w="12700">
            <a:solidFill>
              <a:srgbClr val="B7C0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2455" y="41605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 earnings blocked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4723790"/>
            <a:ext cx="522514" cy="281635"/>
          </a:xfrm>
          <a:prstGeom prst="rect">
            <a:avLst/>
          </a:prstGeom>
          <a:solidFill>
            <a:srgbClr val="B7C0C7"/>
          </a:solidFill>
          <a:ln w="12700">
            <a:solidFill>
              <a:srgbClr val="B7C0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78946" y="4663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opportunity elsewhere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5226710"/>
            <a:ext cx="313509" cy="281635"/>
          </a:xfrm>
          <a:prstGeom prst="rect">
            <a:avLst/>
          </a:prstGeom>
          <a:solidFill>
            <a:srgbClr val="B7C0C7"/>
          </a:solidFill>
          <a:ln w="12700">
            <a:solidFill>
              <a:srgbClr val="B7C0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69941" y="51663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typed their own reason.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783080"/>
            <a:ext cx="4967935" cy="1737360"/>
          </a:xfrm>
          <a:prstGeom prst="roundRect">
            <a:avLst>
              <a:gd name="adj" fmla="val 4211"/>
            </a:avLst>
          </a:prstGeom>
          <a:solidFill>
            <a:srgbClr val="F6D9D3"/>
          </a:solidFill>
          <a:ln w="12700">
            <a:solidFill>
              <a:srgbClr val="F6D9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192024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Recommend score of leavers (0 to 10)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over staff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over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for personal reasons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3703320"/>
            <a:ext cx="4967935" cy="2468880"/>
          </a:xfrm>
          <a:prstGeom prst="roundRect">
            <a:avLst>
              <a:gd name="adj" fmla="val 29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84048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leavers feel now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224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4224528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frustrated about how it ended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6085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4608576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49926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4992624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Regretful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5376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7726680" y="5376672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903720" y="5760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leavers score as low on Recommend (1.9) as frustrated ones (1.8).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Partner Survey  ·  Baseline Wave  ·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Everest Fleet Driver Survey: Baseline Wave</dc:title>
  <dc:subject>PptxGenJS Presentation</dc:subject>
  <dc:creator>PptxGenJS</dc:creator>
  <cp:lastModifiedBy>PptxGenJS</cp:lastModifiedBy>
  <cp:revision>1</cp:revision>
  <dcterms:created xsi:type="dcterms:W3CDTF">2026-09-24T07:40:56Z</dcterms:created>
  <dcterms:modified xsi:type="dcterms:W3CDTF">2026-09-24T07:40:56Z</dcterms:modified>
</cp:coreProperties>
</file>